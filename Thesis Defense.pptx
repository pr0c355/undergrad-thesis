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42"/>
  </p:notesMasterIdLst>
  <p:sldIdLst>
    <p:sldId id="300" r:id="rId2"/>
    <p:sldId id="338" r:id="rId3"/>
    <p:sldId id="305" r:id="rId4"/>
    <p:sldId id="306" r:id="rId5"/>
    <p:sldId id="308" r:id="rId6"/>
    <p:sldId id="307" r:id="rId7"/>
    <p:sldId id="309" r:id="rId8"/>
    <p:sldId id="341" r:id="rId9"/>
    <p:sldId id="314" r:id="rId10"/>
    <p:sldId id="312" r:id="rId11"/>
    <p:sldId id="313" r:id="rId12"/>
    <p:sldId id="315" r:id="rId13"/>
    <p:sldId id="316" r:id="rId14"/>
    <p:sldId id="342" r:id="rId15"/>
    <p:sldId id="317" r:id="rId16"/>
    <p:sldId id="343" r:id="rId17"/>
    <p:sldId id="318" r:id="rId18"/>
    <p:sldId id="344" r:id="rId19"/>
    <p:sldId id="319" r:id="rId20"/>
    <p:sldId id="320" r:id="rId21"/>
    <p:sldId id="345" r:id="rId22"/>
    <p:sldId id="321" r:id="rId23"/>
    <p:sldId id="322" r:id="rId24"/>
    <p:sldId id="333" r:id="rId25"/>
    <p:sldId id="323" r:id="rId26"/>
    <p:sldId id="324" r:id="rId27"/>
    <p:sldId id="325" r:id="rId28"/>
    <p:sldId id="326" r:id="rId29"/>
    <p:sldId id="327" r:id="rId30"/>
    <p:sldId id="328" r:id="rId31"/>
    <p:sldId id="329" r:id="rId32"/>
    <p:sldId id="330" r:id="rId33"/>
    <p:sldId id="331" r:id="rId34"/>
    <p:sldId id="332" r:id="rId35"/>
    <p:sldId id="334" r:id="rId36"/>
    <p:sldId id="335" r:id="rId37"/>
    <p:sldId id="336" r:id="rId38"/>
    <p:sldId id="337" r:id="rId39"/>
    <p:sldId id="339" r:id="rId40"/>
    <p:sldId id="34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al Slides" id="{BD81676B-F5DF-2A41-AFE4-0E55FEE36D7D}">
          <p14:sldIdLst>
            <p14:sldId id="300"/>
            <p14:sldId id="338"/>
            <p14:sldId id="305"/>
            <p14:sldId id="306"/>
            <p14:sldId id="308"/>
            <p14:sldId id="307"/>
            <p14:sldId id="309"/>
            <p14:sldId id="341"/>
            <p14:sldId id="314"/>
            <p14:sldId id="312"/>
            <p14:sldId id="313"/>
            <p14:sldId id="315"/>
            <p14:sldId id="316"/>
            <p14:sldId id="342"/>
            <p14:sldId id="317"/>
            <p14:sldId id="343"/>
            <p14:sldId id="318"/>
            <p14:sldId id="344"/>
            <p14:sldId id="319"/>
            <p14:sldId id="320"/>
            <p14:sldId id="345"/>
            <p14:sldId id="321"/>
            <p14:sldId id="322"/>
            <p14:sldId id="333"/>
            <p14:sldId id="323"/>
            <p14:sldId id="324"/>
            <p14:sldId id="325"/>
            <p14:sldId id="326"/>
            <p14:sldId id="327"/>
            <p14:sldId id="328"/>
            <p14:sldId id="329"/>
            <p14:sldId id="330"/>
            <p14:sldId id="331"/>
            <p14:sldId id="332"/>
            <p14:sldId id="334"/>
            <p14:sldId id="335"/>
            <p14:sldId id="336"/>
            <p14:sldId id="337"/>
            <p14:sldId id="339"/>
            <p14:sldId id="34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1528"/>
    <p:restoredTop sz="61175"/>
  </p:normalViewPr>
  <p:slideViewPr>
    <p:cSldViewPr snapToGrid="0" snapToObjects="1">
      <p:cViewPr>
        <p:scale>
          <a:sx n="69" d="100"/>
          <a:sy n="69" d="100"/>
        </p:scale>
        <p:origin x="208" y="232"/>
      </p:cViewPr>
      <p:guideLst>
        <p:guide orient="horz" pos="2160"/>
        <p:guide pos="3840"/>
      </p:guideLst>
    </p:cSldViewPr>
  </p:slideViewPr>
  <p:outlineViewPr>
    <p:cViewPr>
      <p:scale>
        <a:sx n="33" d="100"/>
        <a:sy n="33" d="100"/>
      </p:scale>
      <p:origin x="0" y="-5184"/>
    </p:cViewPr>
  </p:outlineViewPr>
  <p:notesTextViewPr>
    <p:cViewPr>
      <p:scale>
        <a:sx n="1" d="1"/>
        <a:sy n="1" d="1"/>
      </p:scale>
      <p:origin x="0" y="0"/>
    </p:cViewPr>
  </p:notesTextViewPr>
  <p:gridSpacing cx="114300" cy="1143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4866A7-698B-6A44-88F1-0082A6B9A9EB}" type="datetimeFigureOut">
              <a:rPr lang="en-US" smtClean="0"/>
              <a:t>4/9/26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D255FF-E733-7A46-8A77-BA6A8CE5004F}" type="slidenum">
              <a:rPr lang="en-US" smtClean="0"/>
              <a:t>‹#›</a:t>
            </a:fld>
            <a:endParaRPr lang="en-US"/>
          </a:p>
        </p:txBody>
      </p:sp>
    </p:spTree>
    <p:extLst>
      <p:ext uri="{BB962C8B-B14F-4D97-AF65-F5344CB8AC3E}">
        <p14:creationId xmlns:p14="http://schemas.microsoft.com/office/powerpoint/2010/main" val="18342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1</a:t>
            </a:fld>
            <a:endParaRPr lang="en-US"/>
          </a:p>
        </p:txBody>
      </p:sp>
    </p:spTree>
    <p:extLst>
      <p:ext uri="{BB962C8B-B14F-4D97-AF65-F5344CB8AC3E}">
        <p14:creationId xmlns:p14="http://schemas.microsoft.com/office/powerpoint/2010/main" val="2087800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2</a:t>
            </a:fld>
            <a:endParaRPr lang="en-US"/>
          </a:p>
        </p:txBody>
      </p:sp>
    </p:spTree>
    <p:extLst>
      <p:ext uri="{BB962C8B-B14F-4D97-AF65-F5344CB8AC3E}">
        <p14:creationId xmlns:p14="http://schemas.microsoft.com/office/powerpoint/2010/main" val="36129314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Everyday humans create and record millions of hours of video, to various social media platforms like YouTube, TikTok, Instagram. But we also record far more than that outside of social media. The US alone has tens of millions of static security cameras, a single police body cam can produce terabytes of data in a month, and as police bodycams become standard, more and more of this footage is recorded. All of this data has practical applications. Recordings made in surgery rooms can be used for review to improve technique &amp; methods, Security footage can be reviewed for auditing &amp; compliance, but can also be used for evidence in a court case. The main idea is, we record a whole lot more than we can realistically watch. This is an excellent application for VLMs.</a:t>
            </a:r>
          </a:p>
        </p:txBody>
      </p:sp>
      <p:sp>
        <p:nvSpPr>
          <p:cNvPr id="4" name="Slide Number Placeholder 3"/>
          <p:cNvSpPr>
            <a:spLocks noGrp="1"/>
          </p:cNvSpPr>
          <p:nvPr>
            <p:ph type="sldNum" sz="quarter" idx="5"/>
          </p:nvPr>
        </p:nvSpPr>
        <p:spPr/>
        <p:txBody>
          <a:bodyPr/>
          <a:lstStyle/>
          <a:p>
            <a:fld id="{18D255FF-E733-7A46-8A77-BA6A8CE5004F}" type="slidenum">
              <a:rPr lang="en-US" smtClean="0"/>
              <a:t>3</a:t>
            </a:fld>
            <a:endParaRPr lang="en-US"/>
          </a:p>
        </p:txBody>
      </p:sp>
    </p:spTree>
    <p:extLst>
      <p:ext uri="{BB962C8B-B14F-4D97-AF65-F5344CB8AC3E}">
        <p14:creationId xmlns:p14="http://schemas.microsoft.com/office/powerpoint/2010/main" val="1230328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FAF8A-8D91-E57A-55E6-E34988F6C3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707F97-9156-3A10-D86A-B989CD7CB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AFD7D0-237D-BB3B-34DD-A0F8B13B41E1}"/>
              </a:ext>
            </a:extLst>
          </p:cNvPr>
          <p:cNvSpPr>
            <a:spLocks noGrp="1"/>
          </p:cNvSpPr>
          <p:nvPr>
            <p:ph type="body" idx="1"/>
          </p:nvPr>
        </p:nvSpPr>
        <p:spPr/>
        <p:txBody>
          <a:bodyPr/>
          <a:lstStyle/>
          <a:p>
            <a:r>
              <a:rPr lang="en-US" dirty="0"/>
              <a:t>However, current VLMs are pretty good at identifying what happens in a video, or if certain things show up in the video, but struggle to identify when these things happen. Recordings made in surgery rooms can be used for review to improve technique &amp; methods, Security footage can be reviewed for auditing &amp; compliance, but can also be used for evidence in a court case. </a:t>
            </a:r>
          </a:p>
          <a:p>
            <a:endParaRPr lang="en-US" dirty="0"/>
          </a:p>
          <a:p>
            <a:r>
              <a:rPr lang="en-US" dirty="0"/>
              <a:t>Temporal grounding addresses this challenge by anchoring semantic understanding to a rigorous timeline, which is crucial for effectively addressing complex video understanding tasks. This anchoring enables precise retrieval of specific moments by natural</a:t>
            </a:r>
          </a:p>
          <a:p>
            <a:r>
              <a:rPr lang="en-US" dirty="0"/>
              <a:t>language query, causal linking of events separated by minutes, and structured summarization where every claim traces back to a verifiable segment. </a:t>
            </a:r>
          </a:p>
          <a:p>
            <a:endParaRPr lang="en-US" dirty="0"/>
          </a:p>
          <a:p>
            <a:r>
              <a:rPr lang="en-US" dirty="0"/>
              <a:t>Without robust temporal grounding, the outputs of video-language models remain ungrounded, lacking the evidence required for applications where temporal accuracy is non-negotiable.</a:t>
            </a:r>
            <a:br>
              <a:rPr lang="en-US" dirty="0"/>
            </a:br>
            <a:br>
              <a:rPr lang="en-US" dirty="0"/>
            </a:br>
            <a:r>
              <a:rPr lang="en-US" sz="1200" i="0" kern="1200" dirty="0">
                <a:solidFill>
                  <a:schemeClr val="tx1"/>
                </a:solidFill>
                <a:effectLst/>
                <a:latin typeface="+mn-lt"/>
                <a:ea typeface="+mn-ea"/>
                <a:cs typeface="+mn-cs"/>
              </a:rPr>
              <a:t>By enforcing a strict mapping between semantic content and the temporal axis, we enable a deeper, more structured evidence-based form of video reasoning necessary for deploying VLMs. However, without a benchmark that jointly evaluates answer correctness and temporal localization, there is no way to know whether any of these capabilities have been achieved.</a:t>
            </a:r>
          </a:p>
          <a:p>
            <a:endParaRPr lang="en-US" dirty="0"/>
          </a:p>
          <a:p>
            <a:endParaRPr lang="en-US" dirty="0"/>
          </a:p>
        </p:txBody>
      </p:sp>
      <p:sp>
        <p:nvSpPr>
          <p:cNvPr id="4" name="Slide Number Placeholder 3">
            <a:extLst>
              <a:ext uri="{FF2B5EF4-FFF2-40B4-BE49-F238E27FC236}">
                <a16:creationId xmlns:a16="http://schemas.microsoft.com/office/drawing/2014/main" id="{AC0190AD-8972-4FDF-FF4E-E398964B99F1}"/>
              </a:ext>
            </a:extLst>
          </p:cNvPr>
          <p:cNvSpPr>
            <a:spLocks noGrp="1"/>
          </p:cNvSpPr>
          <p:nvPr>
            <p:ph type="sldNum" sz="quarter" idx="5"/>
          </p:nvPr>
        </p:nvSpPr>
        <p:spPr/>
        <p:txBody>
          <a:bodyPr/>
          <a:lstStyle/>
          <a:p>
            <a:fld id="{18D255FF-E733-7A46-8A77-BA6A8CE5004F}" type="slidenum">
              <a:rPr lang="en-US" smtClean="0"/>
              <a:t>4</a:t>
            </a:fld>
            <a:endParaRPr lang="en-US"/>
          </a:p>
        </p:txBody>
      </p:sp>
    </p:spTree>
    <p:extLst>
      <p:ext uri="{BB962C8B-B14F-4D97-AF65-F5344CB8AC3E}">
        <p14:creationId xmlns:p14="http://schemas.microsoft.com/office/powerpoint/2010/main" val="30995301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573CD-6591-0C55-C89A-53A2A727F0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296E44-6BDC-9F50-1354-B7C4A7D54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243511-5A46-BBDA-D667-4BE9907C6CCF}"/>
              </a:ext>
            </a:extLst>
          </p:cNvPr>
          <p:cNvSpPr>
            <a:spLocks noGrp="1"/>
          </p:cNvSpPr>
          <p:nvPr>
            <p:ph type="body" idx="1"/>
          </p:nvPr>
        </p:nvSpPr>
        <p:spPr/>
        <p:txBody>
          <a:bodyPr/>
          <a:lstStyle/>
          <a:p>
            <a:r>
              <a:rPr lang="en-US" dirty="0"/>
              <a:t>Current video benchmarks provide questions and answers but lack explicit temporal grounding. At the top is </a:t>
            </a:r>
            <a:r>
              <a:rPr lang="en-US" dirty="0" err="1"/>
              <a:t>TVBench</a:t>
            </a:r>
            <a:r>
              <a:rPr lang="en-US" dirty="0"/>
              <a:t>, an expansion of </a:t>
            </a:r>
            <a:r>
              <a:rPr lang="en-US" dirty="0" err="1"/>
              <a:t>MVBench</a:t>
            </a:r>
            <a:r>
              <a:rPr lang="en-US" dirty="0"/>
              <a:t>, that uses clips 5-35s long and assesses, among many other things, temporal understanding of MLLMs.</a:t>
            </a:r>
          </a:p>
          <a:p>
            <a:r>
              <a:rPr lang="en-US" dirty="0"/>
              <a:t>This benchmark, among many others, does not direct models to the specific moments where answers can be found nor assesses their ability to produce segments or timestamps for those moments.</a:t>
            </a:r>
          </a:p>
          <a:p>
            <a:endParaRPr lang="en-US" dirty="0"/>
          </a:p>
          <a:p>
            <a:r>
              <a:rPr lang="en-US" dirty="0"/>
              <a:t>This leaves models unable to reliably locate key events or reason precisely about when things occur in a video. </a:t>
            </a:r>
          </a:p>
          <a:p>
            <a:endParaRPr lang="en-US" dirty="0"/>
          </a:p>
          <a:p>
            <a:r>
              <a:rPr lang="en-US" dirty="0"/>
              <a:t>Some works propose temporal understanding, but they remain clip-level discrimination tasks that neither require models to localize events in time nor reason about their precise temporal position within a video, leaving temporal localization</a:t>
            </a:r>
          </a:p>
          <a:p>
            <a:r>
              <a:rPr lang="en-US" dirty="0"/>
              <a:t>entirely unaddressed. Below is such a benchmark, </a:t>
            </a:r>
            <a:r>
              <a:rPr lang="en-US" dirty="0" err="1"/>
              <a:t>TemporalBench</a:t>
            </a:r>
            <a:r>
              <a:rPr lang="en-US" dirty="0"/>
              <a:t>, that provides the model with a clip-level discrimination task, to determine whether the positive or the negative description is accurate to a given clip.</a:t>
            </a:r>
          </a:p>
          <a:p>
            <a:endParaRPr lang="en-US" dirty="0"/>
          </a:p>
          <a:p>
            <a:r>
              <a:rPr lang="en-US" dirty="0"/>
              <a:t>Without assessing the model’s ability to understand temporal structure, models are left to rely on static visual cues or linguistic shortcuts. </a:t>
            </a:r>
          </a:p>
        </p:txBody>
      </p:sp>
      <p:sp>
        <p:nvSpPr>
          <p:cNvPr id="4" name="Slide Number Placeholder 3">
            <a:extLst>
              <a:ext uri="{FF2B5EF4-FFF2-40B4-BE49-F238E27FC236}">
                <a16:creationId xmlns:a16="http://schemas.microsoft.com/office/drawing/2014/main" id="{2A27F51C-73A8-FD7B-8C5A-EF0F337622F3}"/>
              </a:ext>
            </a:extLst>
          </p:cNvPr>
          <p:cNvSpPr>
            <a:spLocks noGrp="1"/>
          </p:cNvSpPr>
          <p:nvPr>
            <p:ph type="sldNum" sz="quarter" idx="5"/>
          </p:nvPr>
        </p:nvSpPr>
        <p:spPr/>
        <p:txBody>
          <a:bodyPr/>
          <a:lstStyle/>
          <a:p>
            <a:fld id="{18D255FF-E733-7A46-8A77-BA6A8CE5004F}" type="slidenum">
              <a:rPr lang="en-US" smtClean="0"/>
              <a:t>5</a:t>
            </a:fld>
            <a:endParaRPr lang="en-US"/>
          </a:p>
        </p:txBody>
      </p:sp>
    </p:spTree>
    <p:extLst>
      <p:ext uri="{BB962C8B-B14F-4D97-AF65-F5344CB8AC3E}">
        <p14:creationId xmlns:p14="http://schemas.microsoft.com/office/powerpoint/2010/main" val="32323605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B64A4-C368-33CA-DCA1-EE16AEFBCF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47416-20D1-0862-25A3-3FF2D7C278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F55188-D906-E7FF-59B4-AD4B652D7CD1}"/>
              </a:ext>
            </a:extLst>
          </p:cNvPr>
          <p:cNvSpPr>
            <a:spLocks noGrp="1"/>
          </p:cNvSpPr>
          <p:nvPr>
            <p:ph type="body" idx="1"/>
          </p:nvPr>
        </p:nvSpPr>
        <p:spPr/>
        <p:txBody>
          <a:bodyPr/>
          <a:lstStyle/>
          <a:p>
            <a:r>
              <a:rPr lang="en-US" sz="1200" i="0" kern="1200" dirty="0">
                <a:solidFill>
                  <a:schemeClr val="tx1"/>
                </a:solidFill>
                <a:effectLst/>
                <a:latin typeface="+mn-lt"/>
                <a:ea typeface="+mn-ea"/>
                <a:cs typeface="+mn-cs"/>
              </a:rPr>
              <a:t>Clip-level: Video-MME, SEED-Bench, </a:t>
            </a:r>
            <a:r>
              <a:rPr lang="en-US" sz="1200" i="0" kern="1200" dirty="0" err="1">
                <a:solidFill>
                  <a:schemeClr val="tx1"/>
                </a:solidFill>
                <a:effectLst/>
                <a:latin typeface="+mn-lt"/>
                <a:ea typeface="+mn-ea"/>
                <a:cs typeface="+mn-cs"/>
              </a:rPr>
              <a:t>EgoSchema</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TemporalBench</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 Segment-level: </a:t>
            </a:r>
            <a:r>
              <a:rPr lang="en-US" sz="1200" i="0" kern="1200" dirty="0" err="1">
                <a:solidFill>
                  <a:schemeClr val="tx1"/>
                </a:solidFill>
                <a:effectLst/>
                <a:latin typeface="+mn-lt"/>
                <a:ea typeface="+mn-ea"/>
                <a:cs typeface="+mn-cs"/>
              </a:rPr>
              <a:t>MVBench</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LongVideoBench</a:t>
            </a:r>
            <a:br>
              <a:rPr lang="en-US" sz="1200" i="0" kern="1200" dirty="0">
                <a:solidFill>
                  <a:schemeClr val="tx1"/>
                </a:solidFill>
                <a:effectLst/>
                <a:latin typeface="+mn-lt"/>
                <a:ea typeface="+mn-ea"/>
                <a:cs typeface="+mn-cs"/>
              </a:rPr>
            </a:br>
            <a:r>
              <a:rPr lang="en-US" sz="1200" i="0" kern="1200" dirty="0">
                <a:solidFill>
                  <a:schemeClr val="tx1"/>
                </a:solidFill>
                <a:effectLst/>
                <a:latin typeface="+mn-lt"/>
                <a:ea typeface="+mn-ea"/>
                <a:cs typeface="+mn-cs"/>
              </a:rPr>
              <a:t>- Timestamp-level (short video): Charades-STA, </a:t>
            </a:r>
            <a:r>
              <a:rPr lang="en-US" sz="1200" i="0" kern="1200" dirty="0" err="1">
                <a:solidFill>
                  <a:schemeClr val="tx1"/>
                </a:solidFill>
                <a:effectLst/>
                <a:latin typeface="+mn-lt"/>
                <a:ea typeface="+mn-ea"/>
                <a:cs typeface="+mn-cs"/>
              </a:rPr>
              <a:t>ActivityNet</a:t>
            </a:r>
            <a:r>
              <a:rPr lang="en-US" sz="1200" i="0" kern="1200" dirty="0">
                <a:solidFill>
                  <a:schemeClr val="tx1"/>
                </a:solidFill>
                <a:effectLst/>
                <a:latin typeface="+mn-lt"/>
                <a:ea typeface="+mn-ea"/>
                <a:cs typeface="+mn-cs"/>
              </a:rPr>
              <a:t>-QA</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Various video benchmarks like Video-MME, </a:t>
            </a:r>
            <a:r>
              <a:rPr lang="en-US" sz="1200" i="0" kern="1200" dirty="0" err="1">
                <a:solidFill>
                  <a:schemeClr val="tx1"/>
                </a:solidFill>
                <a:effectLst/>
                <a:latin typeface="+mn-lt"/>
                <a:ea typeface="+mn-ea"/>
                <a:cs typeface="+mn-cs"/>
              </a:rPr>
              <a:t>MVBench</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EgoSchema</a:t>
            </a:r>
            <a:r>
              <a:rPr lang="en-US" sz="1200" i="0" kern="1200" dirty="0">
                <a:solidFill>
                  <a:schemeClr val="tx1"/>
                </a:solidFill>
                <a:effectLst/>
                <a:latin typeface="+mn-lt"/>
                <a:ea typeface="+mn-ea"/>
                <a:cs typeface="+mn-cs"/>
              </a:rPr>
              <a:t>, </a:t>
            </a:r>
            <a:r>
              <a:rPr lang="en-US" sz="1200" i="0" kern="1200" dirty="0" err="1">
                <a:solidFill>
                  <a:schemeClr val="tx1"/>
                </a:solidFill>
                <a:effectLst/>
                <a:latin typeface="+mn-lt"/>
                <a:ea typeface="+mn-ea"/>
                <a:cs typeface="+mn-cs"/>
              </a:rPr>
              <a:t>TemporalBench</a:t>
            </a:r>
            <a:r>
              <a:rPr lang="en-US" sz="1200" i="0" kern="1200" dirty="0">
                <a:solidFill>
                  <a:schemeClr val="tx1"/>
                </a:solidFill>
                <a:effectLst/>
                <a:latin typeface="+mn-lt"/>
                <a:ea typeface="+mn-ea"/>
                <a:cs typeface="+mn-cs"/>
              </a:rPr>
              <a:t>, and SEED-Bench, assess model temporal understanding, but do not do so with any sort of timestamp information based on the video.</a:t>
            </a:r>
          </a:p>
          <a:p>
            <a:endParaRPr lang="en-US" sz="120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i="0" kern="1200" dirty="0">
                <a:solidFill>
                  <a:schemeClr val="tx1"/>
                </a:solidFill>
                <a:effectLst/>
                <a:latin typeface="+mn-lt"/>
                <a:ea typeface="+mn-ea"/>
                <a:cs typeface="+mn-cs"/>
              </a:rPr>
              <a:t>Benchmarks like Charades-STA, </a:t>
            </a:r>
            <a:r>
              <a:rPr lang="en-US" sz="1200" i="0" kern="1200" dirty="0" err="1">
                <a:solidFill>
                  <a:schemeClr val="tx1"/>
                </a:solidFill>
                <a:effectLst/>
                <a:latin typeface="+mn-lt"/>
                <a:ea typeface="+mn-ea"/>
                <a:cs typeface="+mn-cs"/>
              </a:rPr>
              <a:t>ActivityNet</a:t>
            </a:r>
            <a:r>
              <a:rPr lang="en-US" sz="1200" i="0" kern="1200" dirty="0">
                <a:solidFill>
                  <a:schemeClr val="tx1"/>
                </a:solidFill>
                <a:effectLst/>
                <a:latin typeface="+mn-lt"/>
                <a:ea typeface="+mn-ea"/>
                <a:cs typeface="+mn-cs"/>
              </a:rPr>
              <a:t>-QA are confined to short videos, no more than 3 minutes long. They also use regression-based evaluation, making them </a:t>
            </a:r>
            <a:r>
              <a:rPr lang="en-US" dirty="0"/>
              <a:t>incompatible with the standardized multiple-choice question (MCQ) evaluation currently dominating VLM assessment.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i="0" kern="1200" dirty="0" err="1">
                <a:solidFill>
                  <a:schemeClr val="tx1"/>
                </a:solidFill>
                <a:effectLst/>
                <a:latin typeface="+mn-lt"/>
                <a:ea typeface="+mn-ea"/>
                <a:cs typeface="+mn-cs"/>
              </a:rPr>
              <a:t>LongVideoBench</a:t>
            </a:r>
            <a:r>
              <a:rPr lang="en-US" sz="1200" i="0" kern="1200" dirty="0">
                <a:solidFill>
                  <a:schemeClr val="tx1"/>
                </a:solidFill>
                <a:effectLst/>
                <a:latin typeface="+mn-lt"/>
                <a:ea typeface="+mn-ea"/>
                <a:cs typeface="+mn-cs"/>
              </a:rPr>
              <a:t>, the benchmark currently displayed on screen, provides models with the relevant timestamp when assessing temporal grounding, still asking the model to answer the given question, except it is given the timestamp as a clue to locate the relevant segment.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real issue is that existing </a:t>
            </a:r>
            <a:r>
              <a:rPr lang="en-US" dirty="0" err="1"/>
              <a:t>VideoQA</a:t>
            </a:r>
            <a:r>
              <a:rPr lang="en-US" dirty="0"/>
              <a:t> benchmarks evaluate answer correctness in isolation, without verifying temporal evidence. The problem is not that models answer incorrectly, but that we have no way to verify whether a correct answer reflects temporal understanding or a lucky guess. No benchmark jointly measures answer accuracy </a:t>
            </a:r>
            <a:r>
              <a:rPr lang="en-US" i="1" dirty="0"/>
              <a:t>and</a:t>
            </a:r>
            <a:r>
              <a:rPr lang="en-US" dirty="0"/>
              <a:t> timestamp localization in long-form video. A model may select correct answers for systematically wrong reasons, getting lucky and getting the question correct.</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i="0" kern="1200" dirty="0">
              <a:solidFill>
                <a:schemeClr val="tx1"/>
              </a:solidFill>
              <a:effectLst/>
              <a:latin typeface="+mn-lt"/>
              <a:ea typeface="+mn-ea"/>
              <a:cs typeface="+mn-cs"/>
            </a:endParaRPr>
          </a:p>
          <a:p>
            <a:br>
              <a:rPr lang="en-US" dirty="0"/>
            </a:br>
            <a:endParaRPr lang="en-US" sz="120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323A08C7-2157-7014-E1E5-A5F13E7D5E4B}"/>
              </a:ext>
            </a:extLst>
          </p:cNvPr>
          <p:cNvSpPr>
            <a:spLocks noGrp="1"/>
          </p:cNvSpPr>
          <p:nvPr>
            <p:ph type="sldNum" sz="quarter" idx="5"/>
          </p:nvPr>
        </p:nvSpPr>
        <p:spPr/>
        <p:txBody>
          <a:bodyPr/>
          <a:lstStyle/>
          <a:p>
            <a:fld id="{18D255FF-E733-7A46-8A77-BA6A8CE5004F}" type="slidenum">
              <a:rPr lang="en-US" smtClean="0"/>
              <a:t>6</a:t>
            </a:fld>
            <a:endParaRPr lang="en-US"/>
          </a:p>
        </p:txBody>
      </p:sp>
    </p:spTree>
    <p:extLst>
      <p:ext uri="{BB962C8B-B14F-4D97-AF65-F5344CB8AC3E}">
        <p14:creationId xmlns:p14="http://schemas.microsoft.com/office/powerpoint/2010/main" val="37543020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52230-99E2-7A3F-ED4C-B9A5E3C02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FF9CDB-4422-07D0-D4A5-9A350696F0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FBA5B6-B65F-30F8-6B78-F2C007D348A4}"/>
              </a:ext>
            </a:extLst>
          </p:cNvPr>
          <p:cNvSpPr>
            <a:spLocks noGrp="1"/>
          </p:cNvSpPr>
          <p:nvPr>
            <p:ph type="body" idx="1"/>
          </p:nvPr>
        </p:nvSpPr>
        <p:spPr/>
        <p:txBody>
          <a:bodyPr/>
          <a:lstStyle/>
          <a:p>
            <a:r>
              <a:rPr lang="en-US" dirty="0"/>
              <a:t>Thus, the solution is conceptually simple: every correct answer should carry a verifiable timestamp, so that answer accuracy and temporal localization can be jointly evaluated.</a:t>
            </a:r>
          </a:p>
        </p:txBody>
      </p:sp>
      <p:sp>
        <p:nvSpPr>
          <p:cNvPr id="4" name="Slide Number Placeholder 3">
            <a:extLst>
              <a:ext uri="{FF2B5EF4-FFF2-40B4-BE49-F238E27FC236}">
                <a16:creationId xmlns:a16="http://schemas.microsoft.com/office/drawing/2014/main" id="{7BAA0DBD-A4C8-51DE-C746-AB949AB93586}"/>
              </a:ext>
            </a:extLst>
          </p:cNvPr>
          <p:cNvSpPr>
            <a:spLocks noGrp="1"/>
          </p:cNvSpPr>
          <p:nvPr>
            <p:ph type="sldNum" sz="quarter" idx="5"/>
          </p:nvPr>
        </p:nvSpPr>
        <p:spPr/>
        <p:txBody>
          <a:bodyPr/>
          <a:lstStyle/>
          <a:p>
            <a:fld id="{18D255FF-E733-7A46-8A77-BA6A8CE5004F}" type="slidenum">
              <a:rPr lang="en-US" smtClean="0"/>
              <a:t>7</a:t>
            </a:fld>
            <a:endParaRPr lang="en-US"/>
          </a:p>
        </p:txBody>
      </p:sp>
    </p:spTree>
    <p:extLst>
      <p:ext uri="{BB962C8B-B14F-4D97-AF65-F5344CB8AC3E}">
        <p14:creationId xmlns:p14="http://schemas.microsoft.com/office/powerpoint/2010/main" val="27453445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9</a:t>
            </a:fld>
            <a:endParaRPr lang="en-US"/>
          </a:p>
        </p:txBody>
      </p:sp>
    </p:spTree>
    <p:extLst>
      <p:ext uri="{BB962C8B-B14F-4D97-AF65-F5344CB8AC3E}">
        <p14:creationId xmlns:p14="http://schemas.microsoft.com/office/powerpoint/2010/main" val="1462315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10</a:t>
            </a:fld>
            <a:endParaRPr lang="en-US"/>
          </a:p>
        </p:txBody>
      </p:sp>
    </p:spTree>
    <p:extLst>
      <p:ext uri="{BB962C8B-B14F-4D97-AF65-F5344CB8AC3E}">
        <p14:creationId xmlns:p14="http://schemas.microsoft.com/office/powerpoint/2010/main" val="5855867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C4A8CA-8E00-D5E2-0DA2-7A2B40AFBE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D5AE4F-6CE3-1876-A689-71B075568E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21E12F-39AC-E08F-4D49-414032912E79}"/>
              </a:ext>
            </a:extLst>
          </p:cNvPr>
          <p:cNvSpPr>
            <a:spLocks noGrp="1"/>
          </p:cNvSpPr>
          <p:nvPr>
            <p:ph type="body" idx="1"/>
          </p:nvPr>
        </p:nvSpPr>
        <p:spPr/>
        <p:txBody>
          <a:bodyPr/>
          <a:lstStyle/>
          <a:p>
            <a:r>
              <a:rPr lang="en-US" dirty="0"/>
              <a:t>Reasoning cannot be properly assessed on static content. so we need to ensure that the video is dynamic enough for reasoning to matter/be significant, and assess the model’s ability to understand change over time and what not.</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6A2EB2A7-A537-547B-B1B7-635374C565AE}"/>
              </a:ext>
            </a:extLst>
          </p:cNvPr>
          <p:cNvSpPr>
            <a:spLocks noGrp="1"/>
          </p:cNvSpPr>
          <p:nvPr>
            <p:ph type="sldNum" sz="quarter" idx="5"/>
          </p:nvPr>
        </p:nvSpPr>
        <p:spPr/>
        <p:txBody>
          <a:bodyPr/>
          <a:lstStyle/>
          <a:p>
            <a:fld id="{18D255FF-E733-7A46-8A77-BA6A8CE5004F}" type="slidenum">
              <a:rPr lang="en-US" smtClean="0"/>
              <a:t>11</a:t>
            </a:fld>
            <a:endParaRPr lang="en-US"/>
          </a:p>
        </p:txBody>
      </p:sp>
    </p:spTree>
    <p:extLst>
      <p:ext uri="{BB962C8B-B14F-4D97-AF65-F5344CB8AC3E}">
        <p14:creationId xmlns:p14="http://schemas.microsoft.com/office/powerpoint/2010/main" val="42423304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F3E51F-C9EB-4917-9A4F-7BFF207FBD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60F507-EB43-21CD-17BC-A36D672458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041B26-2C40-F581-4FEB-72F244B30A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E4351F-0E87-4242-AEE1-B2F8280FAFAB}"/>
              </a:ext>
            </a:extLst>
          </p:cNvPr>
          <p:cNvSpPr>
            <a:spLocks noGrp="1"/>
          </p:cNvSpPr>
          <p:nvPr>
            <p:ph type="sldNum" sz="quarter" idx="5"/>
          </p:nvPr>
        </p:nvSpPr>
        <p:spPr/>
        <p:txBody>
          <a:bodyPr/>
          <a:lstStyle/>
          <a:p>
            <a:fld id="{18D255FF-E733-7A46-8A77-BA6A8CE5004F}" type="slidenum">
              <a:rPr lang="en-US" smtClean="0"/>
              <a:t>12</a:t>
            </a:fld>
            <a:endParaRPr lang="en-US"/>
          </a:p>
        </p:txBody>
      </p:sp>
    </p:spTree>
    <p:extLst>
      <p:ext uri="{BB962C8B-B14F-4D97-AF65-F5344CB8AC3E}">
        <p14:creationId xmlns:p14="http://schemas.microsoft.com/office/powerpoint/2010/main" val="22212341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F03EA-2172-D9C0-0720-BEFB16A87D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FAC8F6-4D01-F37C-8C43-2B1E80309B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A18F42-66D2-7B15-1F02-7BFE260B57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E5A83DE-C8B7-36E9-D7E2-6CDCB41DBEEC}"/>
              </a:ext>
            </a:extLst>
          </p:cNvPr>
          <p:cNvSpPr>
            <a:spLocks noGrp="1"/>
          </p:cNvSpPr>
          <p:nvPr>
            <p:ph type="sldNum" sz="quarter" idx="5"/>
          </p:nvPr>
        </p:nvSpPr>
        <p:spPr/>
        <p:txBody>
          <a:bodyPr/>
          <a:lstStyle/>
          <a:p>
            <a:fld id="{18D255FF-E733-7A46-8A77-BA6A8CE5004F}" type="slidenum">
              <a:rPr lang="en-US" smtClean="0"/>
              <a:t>13</a:t>
            </a:fld>
            <a:endParaRPr lang="en-US"/>
          </a:p>
        </p:txBody>
      </p:sp>
    </p:spTree>
    <p:extLst>
      <p:ext uri="{BB962C8B-B14F-4D97-AF65-F5344CB8AC3E}">
        <p14:creationId xmlns:p14="http://schemas.microsoft.com/office/powerpoint/2010/main" val="14367801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FF530-6391-29FF-93DD-0D9BA917B7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B2AF6-2C4E-C14E-4898-0B6450BB0A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98248-2BDC-BCA3-DD58-9470013F1B6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C27D04-73F6-EBD6-D5D1-933B35B2E98B}"/>
              </a:ext>
            </a:extLst>
          </p:cNvPr>
          <p:cNvSpPr>
            <a:spLocks noGrp="1"/>
          </p:cNvSpPr>
          <p:nvPr>
            <p:ph type="sldNum" sz="quarter" idx="5"/>
          </p:nvPr>
        </p:nvSpPr>
        <p:spPr/>
        <p:txBody>
          <a:bodyPr/>
          <a:lstStyle/>
          <a:p>
            <a:fld id="{18D255FF-E733-7A46-8A77-BA6A8CE5004F}" type="slidenum">
              <a:rPr lang="en-US" smtClean="0"/>
              <a:t>14</a:t>
            </a:fld>
            <a:endParaRPr lang="en-US"/>
          </a:p>
        </p:txBody>
      </p:sp>
    </p:spTree>
    <p:extLst>
      <p:ext uri="{BB962C8B-B14F-4D97-AF65-F5344CB8AC3E}">
        <p14:creationId xmlns:p14="http://schemas.microsoft.com/office/powerpoint/2010/main" val="3562913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76447-7DBA-4B3F-381B-FC049E39A4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9FCC99-409F-9070-9476-ACB69DAC0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6F855C-B882-6318-6425-635A19918A2B}"/>
              </a:ext>
            </a:extLst>
          </p:cNvPr>
          <p:cNvSpPr>
            <a:spLocks noGrp="1"/>
          </p:cNvSpPr>
          <p:nvPr>
            <p:ph type="body" idx="1"/>
          </p:nvPr>
        </p:nvSpPr>
        <p:spPr/>
        <p:txBody>
          <a:bodyPr/>
          <a:lstStyle/>
          <a:p>
            <a:r>
              <a:rPr lang="en-US" sz="1200" i="0" kern="1200" dirty="0">
                <a:solidFill>
                  <a:schemeClr val="tx1"/>
                </a:solidFill>
                <a:effectLst/>
                <a:latin typeface="+mn-lt"/>
                <a:ea typeface="+mn-ea"/>
                <a:cs typeface="+mn-cs"/>
              </a:rPr>
              <a:t>All templates constrain questions to avoid direct temporal references (no "when," "beginning," or timestamp references), and only the correct answer carries a temporal annotation in the form of start and end timestamps for the relevant segment.</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We constrain the model to a </a:t>
            </a:r>
            <a:r>
              <a:rPr lang="en-US" sz="1200" i="0" kern="1200" dirty="0" err="1">
                <a:solidFill>
                  <a:schemeClr val="tx1"/>
                </a:solidFill>
                <a:effectLst/>
                <a:latin typeface="+mn-lt"/>
                <a:ea typeface="+mn-ea"/>
                <a:cs typeface="+mn-cs"/>
              </a:rPr>
              <a:t>pydantic</a:t>
            </a:r>
            <a:r>
              <a:rPr lang="en-US" sz="1200" i="0" kern="1200" dirty="0">
                <a:solidFill>
                  <a:schemeClr val="tx1"/>
                </a:solidFill>
                <a:effectLst/>
                <a:latin typeface="+mn-lt"/>
                <a:ea typeface="+mn-ea"/>
                <a:cs typeface="+mn-cs"/>
              </a:rPr>
              <a:t> schema, a python library used for data validation, via our inference engine’s structured outputs, to guarantee each response contains well-formed question-answer pairs with their associated timestamps.</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Though failures can occasionally arise in the generation process due to rare model hallucinations, token budget consumption, or malformed/incomplete JSON response, this process succeeds 98% of the time.</a:t>
            </a:r>
          </a:p>
          <a:p>
            <a:endParaRPr lang="en-US" i="0" dirty="0"/>
          </a:p>
        </p:txBody>
      </p:sp>
      <p:sp>
        <p:nvSpPr>
          <p:cNvPr id="4" name="Slide Number Placeholder 3">
            <a:extLst>
              <a:ext uri="{FF2B5EF4-FFF2-40B4-BE49-F238E27FC236}">
                <a16:creationId xmlns:a16="http://schemas.microsoft.com/office/drawing/2014/main" id="{1B6BF62D-4EE1-2795-2C34-A1991CC5FA05}"/>
              </a:ext>
            </a:extLst>
          </p:cNvPr>
          <p:cNvSpPr>
            <a:spLocks noGrp="1"/>
          </p:cNvSpPr>
          <p:nvPr>
            <p:ph type="sldNum" sz="quarter" idx="5"/>
          </p:nvPr>
        </p:nvSpPr>
        <p:spPr/>
        <p:txBody>
          <a:bodyPr/>
          <a:lstStyle/>
          <a:p>
            <a:fld id="{18D255FF-E733-7A46-8A77-BA6A8CE5004F}" type="slidenum">
              <a:rPr lang="en-US" smtClean="0"/>
              <a:t>15</a:t>
            </a:fld>
            <a:endParaRPr lang="en-US"/>
          </a:p>
        </p:txBody>
      </p:sp>
    </p:spTree>
    <p:extLst>
      <p:ext uri="{BB962C8B-B14F-4D97-AF65-F5344CB8AC3E}">
        <p14:creationId xmlns:p14="http://schemas.microsoft.com/office/powerpoint/2010/main" val="1486757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D0A8E-51E3-321B-1DE8-A39B60FC7F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751A2-3E21-4BBE-8EB9-E587A4BFA1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FE6BC6-0F42-C609-3BFD-8B86558A6DE2}"/>
              </a:ext>
            </a:extLst>
          </p:cNvPr>
          <p:cNvSpPr>
            <a:spLocks noGrp="1"/>
          </p:cNvSpPr>
          <p:nvPr>
            <p:ph type="body" idx="1"/>
          </p:nvPr>
        </p:nvSpPr>
        <p:spPr/>
        <p:txBody>
          <a:bodyPr/>
          <a:lstStyle/>
          <a:p>
            <a:r>
              <a:rPr lang="en-US" sz="1200" i="0" kern="1200" dirty="0">
                <a:solidFill>
                  <a:schemeClr val="tx1"/>
                </a:solidFill>
                <a:effectLst/>
                <a:latin typeface="+mn-lt"/>
                <a:ea typeface="+mn-ea"/>
                <a:cs typeface="+mn-cs"/>
              </a:rPr>
              <a:t>All templates constrain questions to avoid direct temporal references (no "when," "beginning," or timestamp references), and only the correct answer carries a temporal annotation in the form of start and end timestamps for the relevant segment.</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We constrain the model to a </a:t>
            </a:r>
            <a:r>
              <a:rPr lang="en-US" sz="1200" i="0" kern="1200" dirty="0" err="1">
                <a:solidFill>
                  <a:schemeClr val="tx1"/>
                </a:solidFill>
                <a:effectLst/>
                <a:latin typeface="+mn-lt"/>
                <a:ea typeface="+mn-ea"/>
                <a:cs typeface="+mn-cs"/>
              </a:rPr>
              <a:t>pydantic</a:t>
            </a:r>
            <a:r>
              <a:rPr lang="en-US" sz="1200" i="0" kern="1200" dirty="0">
                <a:solidFill>
                  <a:schemeClr val="tx1"/>
                </a:solidFill>
                <a:effectLst/>
                <a:latin typeface="+mn-lt"/>
                <a:ea typeface="+mn-ea"/>
                <a:cs typeface="+mn-cs"/>
              </a:rPr>
              <a:t> schema, a python library used for data validation, via our inference engine’s structured outputs, to guarantee each response contains well-formed question-answer pairs with their associated timestamps.</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Though failures can occasionally arise in the generation process due to rare model hallucinations, token budget consumption, or malformed/incomplete JSON response, this process succeeds 98% of the time.</a:t>
            </a:r>
          </a:p>
          <a:p>
            <a:endParaRPr lang="en-US" i="0" dirty="0"/>
          </a:p>
        </p:txBody>
      </p:sp>
      <p:sp>
        <p:nvSpPr>
          <p:cNvPr id="4" name="Slide Number Placeholder 3">
            <a:extLst>
              <a:ext uri="{FF2B5EF4-FFF2-40B4-BE49-F238E27FC236}">
                <a16:creationId xmlns:a16="http://schemas.microsoft.com/office/drawing/2014/main" id="{0FD058FC-F3B2-D915-87BE-EE88FF47FAD5}"/>
              </a:ext>
            </a:extLst>
          </p:cNvPr>
          <p:cNvSpPr>
            <a:spLocks noGrp="1"/>
          </p:cNvSpPr>
          <p:nvPr>
            <p:ph type="sldNum" sz="quarter" idx="5"/>
          </p:nvPr>
        </p:nvSpPr>
        <p:spPr/>
        <p:txBody>
          <a:bodyPr/>
          <a:lstStyle/>
          <a:p>
            <a:fld id="{18D255FF-E733-7A46-8A77-BA6A8CE5004F}" type="slidenum">
              <a:rPr lang="en-US" smtClean="0"/>
              <a:t>16</a:t>
            </a:fld>
            <a:endParaRPr lang="en-US"/>
          </a:p>
        </p:txBody>
      </p:sp>
    </p:spTree>
    <p:extLst>
      <p:ext uri="{BB962C8B-B14F-4D97-AF65-F5344CB8AC3E}">
        <p14:creationId xmlns:p14="http://schemas.microsoft.com/office/powerpoint/2010/main" val="30784742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7F4C1-9C7F-1339-7C0B-C89BA4BAAB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AAEA7-5D89-6239-5787-1FFFBF618A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9E3F3-0C20-A0CC-0698-B93DC7EDB365}"/>
              </a:ext>
            </a:extLst>
          </p:cNvPr>
          <p:cNvSpPr>
            <a:spLocks noGrp="1"/>
          </p:cNvSpPr>
          <p:nvPr>
            <p:ph type="body" idx="1"/>
          </p:nvPr>
        </p:nvSpPr>
        <p:spPr/>
        <p:txBody>
          <a:bodyPr/>
          <a:lstStyle/>
          <a:p>
            <a:pPr lvl="1">
              <a:buFontTx/>
              <a:buChar char="-"/>
            </a:pPr>
            <a:r>
              <a:rPr lang="en-US" dirty="0"/>
              <a:t>Because the benchmark measures a model’s ability to produce a content answer and a grounding interval separately, questions that collapse these two into a single temporal response cannot be scored in any principled way</a:t>
            </a:r>
          </a:p>
          <a:p>
            <a:pPr lvl="1">
              <a:buFontTx/>
              <a:buChar char="-"/>
            </a:pPr>
            <a:r>
              <a:rPr lang="en-US" dirty="0"/>
              <a:t>Although the generation prompt is explicitly conditioned against producing such questions, this filter serves as a deterministic safeguard to ensure none reach the final dataset.</a:t>
            </a:r>
            <a:endParaRPr lang="en-US" i="0" dirty="0"/>
          </a:p>
          <a:p>
            <a:pPr lvl="1">
              <a:buFontTx/>
              <a:buChar char="-"/>
            </a:pPr>
            <a:endParaRPr lang="en-US" i="0" dirty="0"/>
          </a:p>
          <a:p>
            <a:pPr lvl="1">
              <a:buFontTx/>
              <a:buNone/>
            </a:pPr>
            <a:r>
              <a:rPr lang="en-US" dirty="0"/>
              <a:t>Next, we apply timestamp merging to consolidate multiple timestamp entries, merging adjacent segments separated by less than 2 seconds into a single continuous range to avoid fragmentation.</a:t>
            </a:r>
          </a:p>
          <a:p>
            <a:pPr lvl="1">
              <a:buFontTx/>
              <a:buNone/>
            </a:pPr>
            <a:endParaRPr lang="en-US" dirty="0"/>
          </a:p>
          <a:p>
            <a:pPr lvl="1">
              <a:buFontTx/>
              <a:buNone/>
            </a:pPr>
            <a:r>
              <a:rPr lang="en-US" dirty="0"/>
              <a:t>Finally, a timestamp jitter is applied to increase ground-truth variability. Since our captions are generated from fixed 10-second clips, LLM-generated timestamps are ordinarily constrained to 10-second boundaries. </a:t>
            </a:r>
          </a:p>
          <a:p>
            <a:pPr lvl="1">
              <a:buFontTx/>
              <a:buNone/>
            </a:pPr>
            <a:r>
              <a:rPr lang="en-US" dirty="0"/>
              <a:t>To produce more varied annotations, we shift the recorded start timestamp earlier by a random variable X sampled uniformly from 1 to 3 seconds</a:t>
            </a:r>
          </a:p>
          <a:p>
            <a:pPr lvl="1">
              <a:buFontTx/>
              <a:buNone/>
            </a:pPr>
            <a:endParaRPr lang="en-US" dirty="0"/>
          </a:p>
          <a:p>
            <a:pPr lvl="1">
              <a:buFontTx/>
              <a:buNone/>
            </a:pPr>
            <a:endParaRPr lang="en-US" dirty="0"/>
          </a:p>
          <a:p>
            <a:pPr lvl="1">
              <a:buFontTx/>
              <a:buNone/>
            </a:pPr>
            <a:r>
              <a:rPr lang="en-US" dirty="0"/>
              <a:t>timestamp later by 𝑋 ∼ </a:t>
            </a:r>
            <a:r>
              <a:rPr lang="en-US" dirty="0" err="1"/>
              <a:t>Unif</a:t>
            </a:r>
            <a:r>
              <a:rPr lang="en-US" dirty="0"/>
              <a:t> ({1, 2, 3}) seconds, stopping at the</a:t>
            </a:r>
          </a:p>
          <a:p>
            <a:pPr lvl="1">
              <a:buFontTx/>
              <a:buNone/>
            </a:pPr>
            <a:r>
              <a:rPr lang="en-US" dirty="0"/>
              <a:t>existing video’s boundaries (Can’t be less than 0, or longer than the</a:t>
            </a:r>
          </a:p>
          <a:p>
            <a:pPr lvl="1">
              <a:buFontTx/>
              <a:buNone/>
            </a:pPr>
            <a:r>
              <a:rPr lang="en-US" dirty="0"/>
              <a:t>video). This also provide tolerance for imprecise annotations when</a:t>
            </a:r>
          </a:p>
          <a:p>
            <a:pPr lvl="1">
              <a:buFontTx/>
              <a:buNone/>
            </a:pPr>
            <a:r>
              <a:rPr lang="en-US" dirty="0"/>
              <a:t>ground-truth ranges are smaller than the clip length.</a:t>
            </a:r>
          </a:p>
          <a:p>
            <a:pPr lvl="1">
              <a:buFontTx/>
              <a:buNone/>
            </a:pPr>
            <a:endParaRPr lang="en-US" dirty="0"/>
          </a:p>
        </p:txBody>
      </p:sp>
      <p:sp>
        <p:nvSpPr>
          <p:cNvPr id="4" name="Slide Number Placeholder 3">
            <a:extLst>
              <a:ext uri="{FF2B5EF4-FFF2-40B4-BE49-F238E27FC236}">
                <a16:creationId xmlns:a16="http://schemas.microsoft.com/office/drawing/2014/main" id="{80645A60-3ABD-D2E4-BB0A-BEF95DBA5CA1}"/>
              </a:ext>
            </a:extLst>
          </p:cNvPr>
          <p:cNvSpPr>
            <a:spLocks noGrp="1"/>
          </p:cNvSpPr>
          <p:nvPr>
            <p:ph type="sldNum" sz="quarter" idx="5"/>
          </p:nvPr>
        </p:nvSpPr>
        <p:spPr/>
        <p:txBody>
          <a:bodyPr/>
          <a:lstStyle/>
          <a:p>
            <a:fld id="{18D255FF-E733-7A46-8A77-BA6A8CE5004F}" type="slidenum">
              <a:rPr lang="en-US" smtClean="0"/>
              <a:t>17</a:t>
            </a:fld>
            <a:endParaRPr lang="en-US"/>
          </a:p>
        </p:txBody>
      </p:sp>
    </p:spTree>
    <p:extLst>
      <p:ext uri="{BB962C8B-B14F-4D97-AF65-F5344CB8AC3E}">
        <p14:creationId xmlns:p14="http://schemas.microsoft.com/office/powerpoint/2010/main" val="205493674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DE97-92D4-21FF-28AE-6EC78F6463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5B51D5-F1AF-88F3-D7DF-3E867F514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BB9270-B002-C0B1-7EB4-37F0920DCBBE}"/>
              </a:ext>
            </a:extLst>
          </p:cNvPr>
          <p:cNvSpPr>
            <a:spLocks noGrp="1"/>
          </p:cNvSpPr>
          <p:nvPr>
            <p:ph type="body" idx="1"/>
          </p:nvPr>
        </p:nvSpPr>
        <p:spPr/>
        <p:txBody>
          <a:bodyPr/>
          <a:lstStyle/>
          <a:p>
            <a:pPr lvl="1">
              <a:buFontTx/>
              <a:buChar char="-"/>
            </a:pPr>
            <a:r>
              <a:rPr lang="en-US" dirty="0"/>
              <a:t>Because the benchmark measures a model’s ability to produce a content answer and a grounding interval separately, questions that collapse these two into a single temporal response cannot be scored in any principled way</a:t>
            </a:r>
          </a:p>
          <a:p>
            <a:pPr lvl="1">
              <a:buFontTx/>
              <a:buChar char="-"/>
            </a:pPr>
            <a:r>
              <a:rPr lang="en-US" dirty="0"/>
              <a:t>Although the generation prompt is explicitly conditioned against producing such questions, this filter serves as a deterministic safeguard to ensure none reach the final dataset.</a:t>
            </a:r>
            <a:endParaRPr lang="en-US" i="0" dirty="0"/>
          </a:p>
          <a:p>
            <a:pPr lvl="1">
              <a:buFontTx/>
              <a:buChar char="-"/>
            </a:pPr>
            <a:endParaRPr lang="en-US" i="0" dirty="0"/>
          </a:p>
          <a:p>
            <a:pPr lvl="1">
              <a:buFontTx/>
              <a:buNone/>
            </a:pPr>
            <a:r>
              <a:rPr lang="en-US" dirty="0"/>
              <a:t>Next, we apply timestamp merging to consolidate multiple timestamp entries, merging adjacent segments separated by less than 2 seconds into a single continuous range to avoid fragmentation.</a:t>
            </a:r>
          </a:p>
          <a:p>
            <a:pPr lvl="1">
              <a:buFontTx/>
              <a:buNone/>
            </a:pPr>
            <a:endParaRPr lang="en-US" dirty="0"/>
          </a:p>
          <a:p>
            <a:pPr lvl="1">
              <a:buFontTx/>
              <a:buNone/>
            </a:pPr>
            <a:r>
              <a:rPr lang="en-US" dirty="0"/>
              <a:t>Finally, a timestamp jitter is applied to increase ground-truth variability. Since our captions are generated from fixed 10-second clips, LLM-generated timestamps are ordinarily constrained to 10-second boundaries. </a:t>
            </a:r>
          </a:p>
          <a:p>
            <a:pPr lvl="1">
              <a:buFontTx/>
              <a:buNone/>
            </a:pPr>
            <a:r>
              <a:rPr lang="en-US" dirty="0"/>
              <a:t>To produce more varied annotations, we shift the recorded start timestamp earlier by a random variable X sampled uniformly from 1 to 3 seconds</a:t>
            </a:r>
          </a:p>
          <a:p>
            <a:pPr lvl="1">
              <a:buFontTx/>
              <a:buNone/>
            </a:pPr>
            <a:endParaRPr lang="en-US" dirty="0"/>
          </a:p>
          <a:p>
            <a:pPr lvl="1">
              <a:buFontTx/>
              <a:buNone/>
            </a:pPr>
            <a:endParaRPr lang="en-US" dirty="0"/>
          </a:p>
          <a:p>
            <a:pPr lvl="1">
              <a:buFontTx/>
              <a:buNone/>
            </a:pPr>
            <a:r>
              <a:rPr lang="en-US" dirty="0"/>
              <a:t>timestamp later by 𝑋 ∼ </a:t>
            </a:r>
            <a:r>
              <a:rPr lang="en-US" dirty="0" err="1"/>
              <a:t>Unif</a:t>
            </a:r>
            <a:r>
              <a:rPr lang="en-US" dirty="0"/>
              <a:t> ({1, 2, 3}) seconds, stopping at the</a:t>
            </a:r>
          </a:p>
          <a:p>
            <a:pPr lvl="1">
              <a:buFontTx/>
              <a:buNone/>
            </a:pPr>
            <a:r>
              <a:rPr lang="en-US" dirty="0"/>
              <a:t>existing video’s boundaries (Can’t be less than 0, or longer than the</a:t>
            </a:r>
          </a:p>
          <a:p>
            <a:pPr lvl="1">
              <a:buFontTx/>
              <a:buNone/>
            </a:pPr>
            <a:r>
              <a:rPr lang="en-US" dirty="0"/>
              <a:t>video). This also provide tolerance for imprecise annotations when</a:t>
            </a:r>
          </a:p>
          <a:p>
            <a:pPr lvl="1">
              <a:buFontTx/>
              <a:buNone/>
            </a:pPr>
            <a:r>
              <a:rPr lang="en-US" dirty="0"/>
              <a:t>ground-truth ranges are smaller than the clip length.</a:t>
            </a:r>
          </a:p>
          <a:p>
            <a:pPr lvl="1">
              <a:buFontTx/>
              <a:buNone/>
            </a:pPr>
            <a:endParaRPr lang="en-US" dirty="0"/>
          </a:p>
        </p:txBody>
      </p:sp>
      <p:sp>
        <p:nvSpPr>
          <p:cNvPr id="4" name="Slide Number Placeholder 3">
            <a:extLst>
              <a:ext uri="{FF2B5EF4-FFF2-40B4-BE49-F238E27FC236}">
                <a16:creationId xmlns:a16="http://schemas.microsoft.com/office/drawing/2014/main" id="{0ACB8C30-8EA8-9329-B9B7-F898F41965BD}"/>
              </a:ext>
            </a:extLst>
          </p:cNvPr>
          <p:cNvSpPr>
            <a:spLocks noGrp="1"/>
          </p:cNvSpPr>
          <p:nvPr>
            <p:ph type="sldNum" sz="quarter" idx="5"/>
          </p:nvPr>
        </p:nvSpPr>
        <p:spPr/>
        <p:txBody>
          <a:bodyPr/>
          <a:lstStyle/>
          <a:p>
            <a:fld id="{18D255FF-E733-7A46-8A77-BA6A8CE5004F}" type="slidenum">
              <a:rPr lang="en-US" smtClean="0"/>
              <a:t>18</a:t>
            </a:fld>
            <a:endParaRPr lang="en-US"/>
          </a:p>
        </p:txBody>
      </p:sp>
    </p:spTree>
    <p:extLst>
      <p:ext uri="{BB962C8B-B14F-4D97-AF65-F5344CB8AC3E}">
        <p14:creationId xmlns:p14="http://schemas.microsoft.com/office/powerpoint/2010/main" val="5655025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2DD02-6188-BA8C-3B17-D14605A637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49299F-7208-ABC4-51A1-7CAD1377A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992A32-85E7-404E-FD45-FEDCED6E2358}"/>
              </a:ext>
            </a:extLst>
          </p:cNvPr>
          <p:cNvSpPr>
            <a:spLocks noGrp="1"/>
          </p:cNvSpPr>
          <p:nvPr>
            <p:ph type="body" idx="1"/>
          </p:nvPr>
        </p:nvSpPr>
        <p:spPr/>
        <p:txBody>
          <a:bodyPr/>
          <a:lstStyle/>
          <a:p>
            <a:pPr lvl="1">
              <a:buFontTx/>
              <a:buNone/>
            </a:pPr>
            <a:r>
              <a:rPr lang="en-US" dirty="0"/>
              <a:t>Finally, a timestamp jitter is applied to increase ground-truth variability. Since our captions are generated from fixed 10-second clips, LLM-generated timestamps are ordinarily constrained to 10-second boundaries. </a:t>
            </a:r>
          </a:p>
          <a:p>
            <a:pPr lvl="1">
              <a:buFontTx/>
              <a:buNone/>
            </a:pPr>
            <a:endParaRPr lang="en-US" dirty="0"/>
          </a:p>
          <a:p>
            <a:pPr lvl="1">
              <a:buFontTx/>
              <a:buNone/>
            </a:pPr>
            <a:r>
              <a:rPr lang="en-US" dirty="0"/>
              <a:t>To produce more varied annotations, we shift the recorded starting timestamp earlier by a random variable X, and shift the recorded ending timestamp by Y, where X and Y are sampled uniformly from 1 to 3 seconds. We also apply clamping to ensure the starting timestamp does not go negative if the timestamp is at the beginning of the video, and that the timestamp does not exceed the duration of the video.</a:t>
            </a:r>
          </a:p>
          <a:p>
            <a:pPr lvl="1">
              <a:buFontTx/>
              <a:buNone/>
            </a:pPr>
            <a:endParaRPr lang="en-US" dirty="0"/>
          </a:p>
          <a:p>
            <a:pPr lvl="1">
              <a:buFontTx/>
              <a:buNone/>
            </a:pPr>
            <a:endParaRPr lang="en-US" dirty="0"/>
          </a:p>
          <a:p>
            <a:pPr lvl="1">
              <a:buFontTx/>
              <a:buNone/>
            </a:pPr>
            <a:r>
              <a:rPr lang="en-US" dirty="0"/>
              <a:t>This also provides tolerance for imprecise or noisy annotations when ground-truth ranges are smaller than the clip length.</a:t>
            </a:r>
          </a:p>
          <a:p>
            <a:pPr lvl="1">
              <a:buFontTx/>
              <a:buNone/>
            </a:pPr>
            <a:endParaRPr lang="en-US" dirty="0"/>
          </a:p>
        </p:txBody>
      </p:sp>
      <p:sp>
        <p:nvSpPr>
          <p:cNvPr id="4" name="Slide Number Placeholder 3">
            <a:extLst>
              <a:ext uri="{FF2B5EF4-FFF2-40B4-BE49-F238E27FC236}">
                <a16:creationId xmlns:a16="http://schemas.microsoft.com/office/drawing/2014/main" id="{D033EB2E-2460-953B-2B05-7D92E6B915CE}"/>
              </a:ext>
            </a:extLst>
          </p:cNvPr>
          <p:cNvSpPr>
            <a:spLocks noGrp="1"/>
          </p:cNvSpPr>
          <p:nvPr>
            <p:ph type="sldNum" sz="quarter" idx="5"/>
          </p:nvPr>
        </p:nvSpPr>
        <p:spPr/>
        <p:txBody>
          <a:bodyPr/>
          <a:lstStyle/>
          <a:p>
            <a:fld id="{18D255FF-E733-7A46-8A77-BA6A8CE5004F}" type="slidenum">
              <a:rPr lang="en-US" smtClean="0"/>
              <a:t>19</a:t>
            </a:fld>
            <a:endParaRPr lang="en-US"/>
          </a:p>
        </p:txBody>
      </p:sp>
    </p:spTree>
    <p:extLst>
      <p:ext uri="{BB962C8B-B14F-4D97-AF65-F5344CB8AC3E}">
        <p14:creationId xmlns:p14="http://schemas.microsoft.com/office/powerpoint/2010/main" val="2522454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311E9-EF8D-B727-7EE3-C162D52DC6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85A4F2-B322-E839-5EB0-ADB60964CF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CF77DE-5743-209A-5A0A-6666CFE43062}"/>
              </a:ext>
            </a:extLst>
          </p:cNvPr>
          <p:cNvSpPr>
            <a:spLocks noGrp="1"/>
          </p:cNvSpPr>
          <p:nvPr>
            <p:ph type="body" idx="1"/>
          </p:nvPr>
        </p:nvSpPr>
        <p:spPr/>
        <p:txBody>
          <a:bodyPr/>
          <a:lstStyle/>
          <a:p>
            <a:pPr lvl="1">
              <a:buFontTx/>
              <a:buNone/>
            </a:pPr>
            <a:r>
              <a:rPr lang="en-US" dirty="0"/>
              <a:t>For each question, we conduct a separate pass using Qwen3-Next-80B-Thinking to generate four incorrect, but plausible distractors for the original question-answer pair. The model is instructed to produce options that are plausible within the question’s context, meaning that it must be a fair/sensible answer to this type of question.</a:t>
            </a:r>
          </a:p>
          <a:p>
            <a:pPr lvl="1">
              <a:buFontTx/>
              <a:buNone/>
            </a:pPr>
            <a:r>
              <a:rPr lang="en-US" dirty="0"/>
              <a:t>It must belong to the answer’s semantic category, meaning that if the answer is a color then the distractors must also be colors. If the correct answer is a brand, then then distractors must also be brands, and so on and so forth.</a:t>
            </a:r>
          </a:p>
          <a:p>
            <a:pPr lvl="1">
              <a:buFontTx/>
              <a:buNone/>
            </a:pPr>
            <a:r>
              <a:rPr lang="en-US" dirty="0"/>
              <a:t>It must match the correct answer’s length and casing, in order to avoid language bias. Previous works have shown Large Language Models excel at taking advantage of language biases when answering questions. We want to prevent this phenomenon whenever possible so we assess the model’s reasoning ability, rather than its ability to take advantage of language shortcuts. To that end, we want all distractors of similar length and casing as the correct answer. A model can easily mark an answer correct if it is in all caps but the remaining distractors are not. Additionally if the correct answer is notably longer or shorter than the other distractors, this can also be a shortcut that LLMs take to answer the question, even without video context.</a:t>
            </a:r>
          </a:p>
          <a:p>
            <a:pPr lvl="1">
              <a:buFontTx/>
              <a:buNone/>
            </a:pPr>
            <a:endParaRPr lang="en-US" dirty="0"/>
          </a:p>
          <a:p>
            <a:pPr lvl="1">
              <a:buFontTx/>
              <a:buNone/>
            </a:pPr>
            <a:r>
              <a:rPr lang="en-US" dirty="0"/>
              <a:t>Finally, the distractors must be unambiguously incorrect. Distractors should not be arguable as correct answers in any way, they should be incorrect with no question. </a:t>
            </a:r>
          </a:p>
          <a:p>
            <a:pPr lvl="1">
              <a:buFontTx/>
              <a:buNone/>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To do this we give the model the existing question and correct answer made in the previous LLM pass. We also include timestamp-anchored captions in temporal proximity to the question’s timestamp ground truth providing the model with localized context to ground distractors in actual video content. Questions for which fewer than four valid distractors can be generated (meaning distractor synthesis fails) are discarded. If synthesis succeeds, the correct answer and four distractors are randomly shuffled and the position of the correct answer is recorded as a letter.</a:t>
            </a:r>
          </a:p>
          <a:p>
            <a:pPr lvl="1">
              <a:buFontTx/>
              <a:buNone/>
            </a:pPr>
            <a:endParaRPr lang="en-US" dirty="0"/>
          </a:p>
          <a:p>
            <a:pPr lvl="1">
              <a:buFontTx/>
              <a:buNone/>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Correct-answer positions are uniformly distributed (from A–E) to eliminate positional bias</a:t>
            </a:r>
          </a:p>
          <a:p>
            <a:pPr lvl="1">
              <a:buFontTx/>
              <a:buNone/>
            </a:pPr>
            <a:endParaRPr lang="en-US" dirty="0"/>
          </a:p>
        </p:txBody>
      </p:sp>
      <p:sp>
        <p:nvSpPr>
          <p:cNvPr id="4" name="Slide Number Placeholder 3">
            <a:extLst>
              <a:ext uri="{FF2B5EF4-FFF2-40B4-BE49-F238E27FC236}">
                <a16:creationId xmlns:a16="http://schemas.microsoft.com/office/drawing/2014/main" id="{C9B617BF-A6D6-29FE-16B8-6CEE5581AF72}"/>
              </a:ext>
            </a:extLst>
          </p:cNvPr>
          <p:cNvSpPr>
            <a:spLocks noGrp="1"/>
          </p:cNvSpPr>
          <p:nvPr>
            <p:ph type="sldNum" sz="quarter" idx="5"/>
          </p:nvPr>
        </p:nvSpPr>
        <p:spPr/>
        <p:txBody>
          <a:bodyPr/>
          <a:lstStyle/>
          <a:p>
            <a:fld id="{18D255FF-E733-7A46-8A77-BA6A8CE5004F}" type="slidenum">
              <a:rPr lang="en-US" smtClean="0"/>
              <a:t>20</a:t>
            </a:fld>
            <a:endParaRPr lang="en-US"/>
          </a:p>
        </p:txBody>
      </p:sp>
    </p:spTree>
    <p:extLst>
      <p:ext uri="{BB962C8B-B14F-4D97-AF65-F5344CB8AC3E}">
        <p14:creationId xmlns:p14="http://schemas.microsoft.com/office/powerpoint/2010/main" val="28980551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9FE2D8-43B0-ACB3-62D3-54EF600D58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59B51E-6751-EF31-8E83-059C800EE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D23AE5-9949-6752-FCFF-BF8707F3026E}"/>
              </a:ext>
            </a:extLst>
          </p:cNvPr>
          <p:cNvSpPr>
            <a:spLocks noGrp="1"/>
          </p:cNvSpPr>
          <p:nvPr>
            <p:ph type="body" idx="1"/>
          </p:nvPr>
        </p:nvSpPr>
        <p:spPr/>
        <p:txBody>
          <a:bodyPr/>
          <a:lstStyle/>
          <a:p>
            <a:pPr lvl="1">
              <a:buFontTx/>
              <a:buNone/>
            </a:pPr>
            <a:r>
              <a:rPr lang="en-US" dirty="0"/>
              <a:t>For each question, we conduct a separate pass using Qwen3-Next-80B-Thinking to generate four incorrect, but plausible distractors for the original question-answer pair. The model is instructed to produce options that are plausible within the question’s context, meaning that it must be a fair/sensible answer to this type of question.</a:t>
            </a:r>
          </a:p>
          <a:p>
            <a:pPr lvl="1">
              <a:buFontTx/>
              <a:buNone/>
            </a:pPr>
            <a:r>
              <a:rPr lang="en-US" dirty="0"/>
              <a:t>It must belong to the answer’s semantic category, meaning that if the answer is a color then the distractors must also be colors. If the correct answer is a brand, then then distractors must also be brands, and so on and so forth.</a:t>
            </a:r>
          </a:p>
          <a:p>
            <a:pPr lvl="1">
              <a:buFontTx/>
              <a:buNone/>
            </a:pPr>
            <a:r>
              <a:rPr lang="en-US" dirty="0"/>
              <a:t>It must match the correct answer’s length and casing, in order to avoid language bias. Previous works have shown Large Language Models excel at taking advantage of language biases when answering questions. We want to prevent this phenomenon whenever possible so we assess the model’s reasoning ability, rather than its ability to take advantage of language shortcuts. To that end, we want all distractors of similar length and casing as the correct answer. A model can easily mark an answer correct if it is in all caps but the remaining distractors are not. Additionally if the correct answer is notably longer or shorter than the other distractors, this can also be a shortcut that LLMs take to answer the question, even without video context.</a:t>
            </a:r>
          </a:p>
          <a:p>
            <a:pPr lvl="1">
              <a:buFontTx/>
              <a:buNone/>
            </a:pPr>
            <a:endParaRPr lang="en-US" dirty="0"/>
          </a:p>
          <a:p>
            <a:pPr lvl="1">
              <a:buFontTx/>
              <a:buNone/>
            </a:pPr>
            <a:r>
              <a:rPr lang="en-US" dirty="0"/>
              <a:t>Finally, the distractors must be unambiguously incorrect. Distractors should not be arguable as correct answers in any way, they should be incorrect with no question. </a:t>
            </a:r>
          </a:p>
          <a:p>
            <a:pPr lvl="1">
              <a:buFontTx/>
              <a:buNone/>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To do this we give the model the existing question and correct answer made in the previous LLM pass. We also include timestamp-anchored captions in temporal proximity to the question’s timestamp ground truth providing the model with localized context to ground distractors in actual video content. Questions for which fewer than four valid distractors can be generated (meaning distractor synthesis fails) are discarded. If synthesis succeeds, the correct answer and four distractors are randomly shuffled and the position of the correct answer is recorded as a letter.</a:t>
            </a:r>
          </a:p>
          <a:p>
            <a:pPr lvl="1">
              <a:buFontTx/>
              <a:buNone/>
            </a:pPr>
            <a:endParaRPr lang="en-US" dirty="0"/>
          </a:p>
          <a:p>
            <a:pPr lvl="1">
              <a:buFontTx/>
              <a:buNone/>
            </a:pPr>
            <a:endParaRPr lang="en-US" dirty="0"/>
          </a:p>
          <a:p>
            <a:pPr marL="457200" marR="0" lvl="1" indent="0" algn="l" defTabSz="914400" rtl="0" eaLnBrk="1" fontAlgn="auto" latinLnBrk="0" hangingPunct="1">
              <a:lnSpc>
                <a:spcPct val="100000"/>
              </a:lnSpc>
              <a:spcBef>
                <a:spcPts val="0"/>
              </a:spcBef>
              <a:spcAft>
                <a:spcPts val="0"/>
              </a:spcAft>
              <a:buClrTx/>
              <a:buSzTx/>
              <a:buFontTx/>
              <a:buNone/>
              <a:tabLst/>
              <a:defRPr/>
            </a:pPr>
            <a:r>
              <a:rPr lang="en-US" dirty="0"/>
              <a:t>Correct-answer positions are uniformly distributed (from A–E) to eliminate positional bias</a:t>
            </a:r>
          </a:p>
          <a:p>
            <a:pPr lvl="1">
              <a:buFontTx/>
              <a:buNone/>
            </a:pPr>
            <a:endParaRPr lang="en-US" dirty="0"/>
          </a:p>
        </p:txBody>
      </p:sp>
      <p:sp>
        <p:nvSpPr>
          <p:cNvPr id="4" name="Slide Number Placeholder 3">
            <a:extLst>
              <a:ext uri="{FF2B5EF4-FFF2-40B4-BE49-F238E27FC236}">
                <a16:creationId xmlns:a16="http://schemas.microsoft.com/office/drawing/2014/main" id="{7BA6D9E7-456F-269A-87DB-D45513A07867}"/>
              </a:ext>
            </a:extLst>
          </p:cNvPr>
          <p:cNvSpPr>
            <a:spLocks noGrp="1"/>
          </p:cNvSpPr>
          <p:nvPr>
            <p:ph type="sldNum" sz="quarter" idx="5"/>
          </p:nvPr>
        </p:nvSpPr>
        <p:spPr/>
        <p:txBody>
          <a:bodyPr/>
          <a:lstStyle/>
          <a:p>
            <a:fld id="{18D255FF-E733-7A46-8A77-BA6A8CE5004F}" type="slidenum">
              <a:rPr lang="en-US" smtClean="0"/>
              <a:t>21</a:t>
            </a:fld>
            <a:endParaRPr lang="en-US"/>
          </a:p>
        </p:txBody>
      </p:sp>
    </p:spTree>
    <p:extLst>
      <p:ext uri="{BB962C8B-B14F-4D97-AF65-F5344CB8AC3E}">
        <p14:creationId xmlns:p14="http://schemas.microsoft.com/office/powerpoint/2010/main" val="5030722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BCA373-4476-8F71-E421-686DA9580A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E8162E-F478-42A0-0F3A-EF2DE7E092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BE6CCD-49C9-BA10-A918-4166D0440CA3}"/>
              </a:ext>
            </a:extLst>
          </p:cNvPr>
          <p:cNvSpPr>
            <a:spLocks noGrp="1"/>
          </p:cNvSpPr>
          <p:nvPr>
            <p:ph type="body" idx="1"/>
          </p:nvPr>
        </p:nvSpPr>
        <p:spPr/>
        <p:txBody>
          <a:bodyPr/>
          <a:lstStyle/>
          <a:p>
            <a:r>
              <a:rPr lang="en-US" sz="1200" i="0" kern="1200" dirty="0">
                <a:solidFill>
                  <a:schemeClr val="tx1"/>
                </a:solidFill>
                <a:effectLst/>
                <a:latin typeface="+mn-lt"/>
                <a:ea typeface="+mn-ea"/>
                <a:cs typeface="+mn-cs"/>
              </a:rPr>
              <a:t>As I mentioned earlier, previous works language models can sometimes identify the correct answer to a multiple-choice question without visual input by exploiting shared linguistic patterns between the question and the ground truth (or correct answer). This occurs more so when the distractors are lightly edited variants of the correct answer. To remove questions susceptible to this bias, we apply a blind filtering procedure to each QA sample. Each QA sample, consisting only of the question text and five answer options, without any video context, is presented to five state-of-the-art LLMs. Each model is prompted to select the correct answer under the same task framing used in full evaluations. Any QA sample that is answered correctly by at least two of these models is considered solvable through language-only, and is discarded from the final dataset, ensuring that retained questions require visual grounding instead of linguistic pattern matching. This constrains the text-only solvability rate of the final set to at or below the random baseline for a five-way multiple-choice question at 20%.</a:t>
            </a:r>
          </a:p>
          <a:p>
            <a:endParaRPr lang="en-US" sz="1200" i="1" kern="1200" dirty="0">
              <a:solidFill>
                <a:schemeClr val="tx1"/>
              </a:solidFill>
              <a:effectLst/>
              <a:latin typeface="+mn-lt"/>
              <a:ea typeface="+mn-ea"/>
              <a:cs typeface="+mn-cs"/>
            </a:endParaRPr>
          </a:p>
          <a:p>
            <a:endParaRPr lang="en-US" sz="1200" i="1"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Language models can sometimes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identify the correct answer without visual input by exploiting</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shared linguistic patterns between the question and the ground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truth, particularly when distractors are lightly edited variants of</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correct answer [2]. To remove questions susceptible to this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bias, we apply a blind filtering procedure in which each QA sample,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consisting only of the question text and five answer options, with</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no videos, is presented to five SOTA LLMs. Each model is prompted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to select the correct answer under the same task framing used in</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full evaluation. Any sample for which at least two models selects</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the correct answer is considered language-solvable, and is removed</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from the dataset, ensuring that retained questions require visual</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grounding rather than linguistic pattern-matching. The text-only</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solvability rate of the retained set is constrained to at or below the</a:t>
            </a:r>
            <a:endParaRPr lang="en-US" sz="1200" kern="1200" dirty="0">
              <a:solidFill>
                <a:schemeClr val="tx1"/>
              </a:solidFill>
              <a:effectLst/>
              <a:latin typeface="+mn-lt"/>
              <a:ea typeface="+mn-ea"/>
              <a:cs typeface="+mn-cs"/>
            </a:endParaRPr>
          </a:p>
          <a:p>
            <a:r>
              <a:rPr lang="en-US" sz="1200" i="1" kern="1200" dirty="0">
                <a:solidFill>
                  <a:schemeClr val="tx1"/>
                </a:solidFill>
                <a:effectLst/>
                <a:latin typeface="+mn-lt"/>
                <a:ea typeface="+mn-ea"/>
                <a:cs typeface="+mn-cs"/>
              </a:rPr>
              <a:t>random baseline for a five-way multiple-choice question at 20%.</a:t>
            </a:r>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E5993B1C-F361-9E40-9DA4-A46B740AB3BD}"/>
              </a:ext>
            </a:extLst>
          </p:cNvPr>
          <p:cNvSpPr>
            <a:spLocks noGrp="1"/>
          </p:cNvSpPr>
          <p:nvPr>
            <p:ph type="sldNum" sz="quarter" idx="5"/>
          </p:nvPr>
        </p:nvSpPr>
        <p:spPr/>
        <p:txBody>
          <a:bodyPr/>
          <a:lstStyle/>
          <a:p>
            <a:fld id="{18D255FF-E733-7A46-8A77-BA6A8CE5004F}" type="slidenum">
              <a:rPr lang="en-US" smtClean="0"/>
              <a:t>22</a:t>
            </a:fld>
            <a:endParaRPr lang="en-US"/>
          </a:p>
        </p:txBody>
      </p:sp>
    </p:spTree>
    <p:extLst>
      <p:ext uri="{BB962C8B-B14F-4D97-AF65-F5344CB8AC3E}">
        <p14:creationId xmlns:p14="http://schemas.microsoft.com/office/powerpoint/2010/main" val="27846490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F94A1-3822-36B8-3282-CC63A6CB69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23CDC-764F-4A12-92A9-E26241D31C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CECA4F-ACA9-2DD0-D450-F2D5690B7123}"/>
              </a:ext>
            </a:extLst>
          </p:cNvPr>
          <p:cNvSpPr>
            <a:spLocks noGrp="1"/>
          </p:cNvSpPr>
          <p:nvPr>
            <p:ph type="body" idx="1"/>
          </p:nvPr>
        </p:nvSpPr>
        <p:spPr/>
        <p:txBody>
          <a:bodyPr/>
          <a:lstStyle/>
          <a:p>
            <a:r>
              <a:rPr lang="en-US" dirty="0"/>
              <a:t>Our questions each fall into one of five complementary reasoning categories, ordered by scope and difficulty.</a:t>
            </a:r>
          </a:p>
          <a:p>
            <a:endParaRPr lang="en-US" dirty="0"/>
          </a:p>
          <a:p>
            <a:r>
              <a:rPr lang="en-US" dirty="0"/>
              <a:t>Action Understanding questions task the model with identifying fine-grained procedural details, usually with the scope of a single segment within the video.</a:t>
            </a:r>
            <a:br>
              <a:rPr lang="en-US" dirty="0"/>
            </a:br>
            <a:r>
              <a:rPr lang="en-US" dirty="0"/>
              <a:t>Needle-in-the-Haystack questions ask the model to retrieve specific visual/textual details, which could be anywhere within the full video.</a:t>
            </a:r>
          </a:p>
          <a:p>
            <a:r>
              <a:rPr lang="en-US" dirty="0"/>
              <a:t>Narrative Understanding questions test the model’s ability to synthesize overarching narratives within the video, and requires the model to synthesize information from all over the video to answer correctly</a:t>
            </a:r>
          </a:p>
          <a:p>
            <a:r>
              <a:rPr lang="en-US" dirty="0"/>
              <a:t>Causal Understanding questions assess the model’s ability to integrate non-adjacent evidence for causal inference, and requires the model reason across segments within the video.</a:t>
            </a:r>
          </a:p>
          <a:p>
            <a:r>
              <a:rPr lang="en-US" dirty="0"/>
              <a:t>Finally, Temporal Ordering requires the model to reason about the structure of sequential events within adjacent segments of the video.</a:t>
            </a:r>
          </a:p>
          <a:p>
            <a:endParaRPr lang="en-US" dirty="0"/>
          </a:p>
          <a:p>
            <a:endParaRPr lang="en-US" dirty="0"/>
          </a:p>
          <a:p>
            <a:r>
              <a:rPr lang="en-US" dirty="0"/>
              <a:t>NIAH timestamps uniformly distributed across video duration to counter start/end positional bias\</a:t>
            </a:r>
          </a:p>
          <a:p>
            <a:endParaRPr lang="en-US" dirty="0"/>
          </a:p>
          <a:p>
            <a:r>
              <a:rPr lang="en-US" dirty="0"/>
              <a:t>To prevent positional bias, when generating questions, we prompt the model to </a:t>
            </a:r>
            <a:r>
              <a:rPr lang="en-US" sz="1200" b="0" kern="1200" dirty="0">
                <a:solidFill>
                  <a:schemeClr val="tx1"/>
                </a:solidFill>
                <a:effectLst/>
                <a:latin typeface="+mn-lt"/>
                <a:ea typeface="+mn-ea"/>
                <a:cs typeface="+mn-cs"/>
              </a:rPr>
              <a:t>draw from different scenes or settings spread across the video, instead of clustering around a single location or moment.</a:t>
            </a:r>
          </a:p>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55C11F4C-9F44-E7B7-F9C0-7E09912ABF27}"/>
              </a:ext>
            </a:extLst>
          </p:cNvPr>
          <p:cNvSpPr>
            <a:spLocks noGrp="1"/>
          </p:cNvSpPr>
          <p:nvPr>
            <p:ph type="sldNum" sz="quarter" idx="5"/>
          </p:nvPr>
        </p:nvSpPr>
        <p:spPr/>
        <p:txBody>
          <a:bodyPr/>
          <a:lstStyle/>
          <a:p>
            <a:fld id="{18D255FF-E733-7A46-8A77-BA6A8CE5004F}" type="slidenum">
              <a:rPr lang="en-US" smtClean="0"/>
              <a:t>23</a:t>
            </a:fld>
            <a:endParaRPr lang="en-US"/>
          </a:p>
        </p:txBody>
      </p:sp>
    </p:spTree>
    <p:extLst>
      <p:ext uri="{BB962C8B-B14F-4D97-AF65-F5344CB8AC3E}">
        <p14:creationId xmlns:p14="http://schemas.microsoft.com/office/powerpoint/2010/main" val="16325748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E67E0-1713-0A3D-648B-D4E41C25A0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5D5CA-AF99-8812-769C-9BF0A04B2A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87E0E5-1FE4-07C8-7CA3-83BF0A7214A4}"/>
              </a:ext>
            </a:extLst>
          </p:cNvPr>
          <p:cNvSpPr>
            <a:spLocks noGrp="1"/>
          </p:cNvSpPr>
          <p:nvPr>
            <p:ph type="body" idx="1"/>
          </p:nvPr>
        </p:nvSpPr>
        <p:spPr/>
        <p:txBody>
          <a:bodyPr/>
          <a:lstStyle/>
          <a:p>
            <a:r>
              <a:rPr lang="en-US" sz="1200" kern="1200" dirty="0">
                <a:solidFill>
                  <a:schemeClr val="tx1"/>
                </a:solidFill>
                <a:effectLst/>
                <a:latin typeface="+mn-lt"/>
                <a:ea typeface="+mn-ea"/>
                <a:cs typeface="+mn-cs"/>
              </a:rPr>
              <a:t>After processing the 500 videos, generating ~X questions, then generating distractors for </a:t>
            </a:r>
            <a:r>
              <a:rPr lang="en-US" sz="1200" kern="1200" dirty="0" err="1">
                <a:solidFill>
                  <a:schemeClr val="tx1"/>
                </a:solidFill>
                <a:effectLst/>
                <a:latin typeface="+mn-lt"/>
                <a:ea typeface="+mn-ea"/>
                <a:cs typeface="+mn-cs"/>
              </a:rPr>
              <a:t>em</a:t>
            </a:r>
            <a:r>
              <a:rPr lang="en-US" sz="1200" kern="1200" dirty="0">
                <a:solidFill>
                  <a:schemeClr val="tx1"/>
                </a:solidFill>
                <a:effectLst/>
                <a:latin typeface="+mn-lt"/>
                <a:ea typeface="+mn-ea"/>
                <a:cs typeface="+mn-cs"/>
              </a:rPr>
              <a:t>, and then having ~Y left, the complete set uses 423 videos from the original 500, along with the total remaining 897 QA pairs.</a:t>
            </a:r>
          </a:p>
        </p:txBody>
      </p:sp>
      <p:sp>
        <p:nvSpPr>
          <p:cNvPr id="4" name="Slide Number Placeholder 3">
            <a:extLst>
              <a:ext uri="{FF2B5EF4-FFF2-40B4-BE49-F238E27FC236}">
                <a16:creationId xmlns:a16="http://schemas.microsoft.com/office/drawing/2014/main" id="{A012705E-5396-A055-9024-8AC1F1356AC1}"/>
              </a:ext>
            </a:extLst>
          </p:cNvPr>
          <p:cNvSpPr>
            <a:spLocks noGrp="1"/>
          </p:cNvSpPr>
          <p:nvPr>
            <p:ph type="sldNum" sz="quarter" idx="5"/>
          </p:nvPr>
        </p:nvSpPr>
        <p:spPr/>
        <p:txBody>
          <a:bodyPr/>
          <a:lstStyle/>
          <a:p>
            <a:fld id="{18D255FF-E733-7A46-8A77-BA6A8CE5004F}" type="slidenum">
              <a:rPr lang="en-US" smtClean="0"/>
              <a:t>24</a:t>
            </a:fld>
            <a:endParaRPr lang="en-US"/>
          </a:p>
        </p:txBody>
      </p:sp>
    </p:spTree>
    <p:extLst>
      <p:ext uri="{BB962C8B-B14F-4D97-AF65-F5344CB8AC3E}">
        <p14:creationId xmlns:p14="http://schemas.microsoft.com/office/powerpoint/2010/main" val="1042554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helps us Illustrate the grounding gap: a model that got the correct answer, but predicts a ground truth timestamp of [0:00–44:29] achieves a QA Accuracy of 1 for the question,  but a grounded accuracy of 0 due to its extremely imprecise temporal intersection over union. (Figure 6)</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further improve the robustness of question grounding evaluation, we use the rec.@</a:t>
            </a:r>
            <a:r>
              <a:rPr lang="en-US" dirty="0" err="1"/>
              <a:t>IoU</a:t>
            </a:r>
            <a:r>
              <a:rPr lang="en-US" dirty="0"/>
              <a:t> metric, motivated by a previous work (CG-Bench). This metric measures the probability of successfully recalling clue intervals at various </a:t>
            </a:r>
            <a:r>
              <a:rPr lang="en-US" dirty="0" err="1"/>
              <a:t>IoU</a:t>
            </a:r>
            <a:r>
              <a:rPr lang="en-US" dirty="0"/>
              <a:t> thresholds. We calculate the average recall rate at </a:t>
            </a:r>
            <a:r>
              <a:rPr lang="en-US" dirty="0" err="1"/>
              <a:t>IoU</a:t>
            </a:r>
            <a:r>
              <a:rPr lang="en-US" dirty="0"/>
              <a:t> thresholds of 0.1, 0.2, 0.3, 0.4, and 0.5 to determine the final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addition, we propose a combined metric, G-Acc that evaluates both MCQ accuracy and clue grounding ability. For a question with multiple choice options, the response is considered correct only if the selected answer is accurate and the </a:t>
            </a:r>
            <a:r>
              <a:rPr lang="en-US" dirty="0" err="1"/>
              <a:t>tIoU</a:t>
            </a:r>
            <a:r>
              <a:rPr lang="en-US" dirty="0"/>
              <a:t> between the prediction and the ground truth exceeds (&gt;) a predefined threshold </a:t>
            </a:r>
            <a:r>
              <a:rPr lang="el-GR" dirty="0"/>
              <a:t>τ. </a:t>
            </a:r>
            <a:r>
              <a:rPr lang="en-US" dirty="0"/>
              <a:t>Since locating short-duration clues in the long videos in is inherently challenging, we set the default </a:t>
            </a:r>
            <a:r>
              <a:rPr lang="el-GR" dirty="0"/>
              <a:t>τ </a:t>
            </a:r>
            <a:r>
              <a:rPr lang="en-US" dirty="0"/>
              <a:t>to be 0.5, ensuring that G-Acc requires the model to select the correct option and produce a time interval that overlaps at least half (</a:t>
            </a:r>
            <a:r>
              <a:rPr lang="en-US" dirty="0" err="1"/>
              <a:t>tIoU</a:t>
            </a:r>
            <a:r>
              <a:rPr lang="en-US" dirty="0"/>
              <a:t> &gt; 0.5) of the annotated clue interval, rather than reducing to naive MCQ accuracy. </a:t>
            </a:r>
          </a:p>
        </p:txBody>
      </p:sp>
      <p:sp>
        <p:nvSpPr>
          <p:cNvPr id="4" name="Slide Number Placeholder 3"/>
          <p:cNvSpPr>
            <a:spLocks noGrp="1"/>
          </p:cNvSpPr>
          <p:nvPr>
            <p:ph type="sldNum" sz="quarter" idx="5"/>
          </p:nvPr>
        </p:nvSpPr>
        <p:spPr/>
        <p:txBody>
          <a:bodyPr/>
          <a:lstStyle/>
          <a:p>
            <a:fld id="{18D255FF-E733-7A46-8A77-BA6A8CE5004F}" type="slidenum">
              <a:rPr lang="en-US" smtClean="0"/>
              <a:t>26</a:t>
            </a:fld>
            <a:endParaRPr lang="en-US"/>
          </a:p>
        </p:txBody>
      </p:sp>
    </p:spTree>
    <p:extLst>
      <p:ext uri="{BB962C8B-B14F-4D97-AF65-F5344CB8AC3E}">
        <p14:creationId xmlns:p14="http://schemas.microsoft.com/office/powerpoint/2010/main" val="163078938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FDEEA9-1346-4345-F0C9-A31F2A36FA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FE2587-3A0D-6ED7-9CBA-39CC390B40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F8FCA5-49DC-D346-53DD-0383E59E8CD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helps us Illustrate the grounding gap: a model that got the correct answer, but predicts a ground truth timestamp of [0:00–44:29] achieves a QA Accuracy of 1 for the question,  but a grounded accuracy of 0 due to its extremely imprecise temporal intersection over union. (Figure 6)</a:t>
            </a:r>
          </a:p>
        </p:txBody>
      </p:sp>
      <p:sp>
        <p:nvSpPr>
          <p:cNvPr id="4" name="Slide Number Placeholder 3">
            <a:extLst>
              <a:ext uri="{FF2B5EF4-FFF2-40B4-BE49-F238E27FC236}">
                <a16:creationId xmlns:a16="http://schemas.microsoft.com/office/drawing/2014/main" id="{1EEBBC1D-4CDE-E51D-F2AF-DE8B0E0311D5}"/>
              </a:ext>
            </a:extLst>
          </p:cNvPr>
          <p:cNvSpPr>
            <a:spLocks noGrp="1"/>
          </p:cNvSpPr>
          <p:nvPr>
            <p:ph type="sldNum" sz="quarter" idx="5"/>
          </p:nvPr>
        </p:nvSpPr>
        <p:spPr/>
        <p:txBody>
          <a:bodyPr/>
          <a:lstStyle/>
          <a:p>
            <a:fld id="{18D255FF-E733-7A46-8A77-BA6A8CE5004F}" type="slidenum">
              <a:rPr lang="en-US" smtClean="0"/>
              <a:t>27</a:t>
            </a:fld>
            <a:endParaRPr lang="en-US"/>
          </a:p>
        </p:txBody>
      </p:sp>
    </p:spTree>
    <p:extLst>
      <p:ext uri="{BB962C8B-B14F-4D97-AF65-F5344CB8AC3E}">
        <p14:creationId xmlns:p14="http://schemas.microsoft.com/office/powerpoint/2010/main" val="42288088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7572CB-59C0-5A67-66B9-1423093C96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EF1A59-187A-2606-0D46-B9F6CDB31A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9482FC-7DAD-77B9-B47A-02512456FF45}"/>
              </a:ext>
            </a:extLst>
          </p:cNvPr>
          <p:cNvSpPr>
            <a:spLocks noGrp="1"/>
          </p:cNvSpPr>
          <p:nvPr>
            <p:ph type="body" idx="1"/>
          </p:nvPr>
        </p:nvSpPr>
        <p:spPr/>
        <p:txBody>
          <a:bodyPr/>
          <a:lstStyle/>
          <a:p>
            <a:r>
              <a:rPr lang="en-US" dirty="0"/>
              <a:t>Models are evaluated zero-shot, with a standardized 64-frame budget for models without built-in frame sampling. We choose this number in accordance with prior works for comparison.</a:t>
            </a:r>
          </a:p>
          <a:p>
            <a:endParaRPr lang="en-US" dirty="0">
              <a:solidFill>
                <a:srgbClr val="FF0000"/>
              </a:solidFill>
            </a:endParaRPr>
          </a:p>
          <a:p>
            <a:endParaRPr lang="en-US" dirty="0">
              <a:solidFill>
                <a:srgbClr val="FF0000"/>
              </a:solidFill>
            </a:endParaRPr>
          </a:p>
          <a:p>
            <a:r>
              <a:rPr lang="en-US" dirty="0">
                <a:solidFill>
                  <a:srgbClr val="FF0000"/>
                </a:solidFill>
              </a:rPr>
              <a:t>We extract the answers and timestamps in two stages. First we prompt the model to answer the question and select one of our answers A-E using the provided video or sampled images. After the model chooses an answer, we ask it to ground the correct answer with a timestamp. To extract answers and timestamps, we use a two-stage extraction process. Model responses are constrained with </a:t>
            </a:r>
            <a:r>
              <a:rPr lang="en-US" dirty="0" err="1">
                <a:solidFill>
                  <a:srgbClr val="FF0000"/>
                </a:solidFill>
              </a:rPr>
              <a:t>pydantic</a:t>
            </a:r>
            <a:r>
              <a:rPr lang="en-US" dirty="0">
                <a:solidFill>
                  <a:srgbClr val="FF0000"/>
                </a:solidFill>
              </a:rPr>
              <a:t> schemas when possible. Responses are then parsed using regex rules. If this fails, we pass the response to OpenAI’s GPT-4o as an LLM-based fallback, which then takes the raw model response and constrains it to our schema for accuracy evaluation.</a:t>
            </a:r>
          </a:p>
          <a:p>
            <a:endParaRPr lang="en-US" dirty="0">
              <a:solidFill>
                <a:srgbClr val="FF0000"/>
              </a:solidFill>
            </a:endParaRPr>
          </a:p>
        </p:txBody>
      </p:sp>
      <p:sp>
        <p:nvSpPr>
          <p:cNvPr id="4" name="Slide Number Placeholder 3">
            <a:extLst>
              <a:ext uri="{FF2B5EF4-FFF2-40B4-BE49-F238E27FC236}">
                <a16:creationId xmlns:a16="http://schemas.microsoft.com/office/drawing/2014/main" id="{FDFE8841-215F-CCEF-6433-5A11A1F25AD5}"/>
              </a:ext>
            </a:extLst>
          </p:cNvPr>
          <p:cNvSpPr>
            <a:spLocks noGrp="1"/>
          </p:cNvSpPr>
          <p:nvPr>
            <p:ph type="sldNum" sz="quarter" idx="5"/>
          </p:nvPr>
        </p:nvSpPr>
        <p:spPr/>
        <p:txBody>
          <a:bodyPr/>
          <a:lstStyle/>
          <a:p>
            <a:fld id="{18D255FF-E733-7A46-8A77-BA6A8CE5004F}" type="slidenum">
              <a:rPr lang="en-US" smtClean="0"/>
              <a:t>28</a:t>
            </a:fld>
            <a:endParaRPr lang="en-US"/>
          </a:p>
        </p:txBody>
      </p:sp>
    </p:spTree>
    <p:extLst>
      <p:ext uri="{BB962C8B-B14F-4D97-AF65-F5344CB8AC3E}">
        <p14:creationId xmlns:p14="http://schemas.microsoft.com/office/powerpoint/2010/main" val="32555964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29</a:t>
            </a:fld>
            <a:endParaRPr lang="en-US"/>
          </a:p>
        </p:txBody>
      </p:sp>
    </p:spTree>
    <p:extLst>
      <p:ext uri="{BB962C8B-B14F-4D97-AF65-F5344CB8AC3E}">
        <p14:creationId xmlns:p14="http://schemas.microsoft.com/office/powerpoint/2010/main" val="257799720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finding is that no model exceeds a 5.16% Grounded Accuracy, despite having QA accuracies ranging from 32 to to 66%</a:t>
            </a:r>
          </a:p>
          <a:p>
            <a:endParaRPr lang="en-US" dirty="0"/>
          </a:p>
          <a:p>
            <a:r>
              <a:rPr lang="en-US" dirty="0"/>
              <a:t>This table and the graph on the left let us visualize the grounding gap. All models fall substantially below the perfect-alignment diagonal, where we would hope to have our models fall along, with a direct correlation between their QA accuracy and their Mean Temporal </a:t>
            </a:r>
            <a:r>
              <a:rPr lang="en-US" dirty="0" err="1"/>
              <a:t>IoU</a:t>
            </a:r>
            <a:r>
              <a:rPr lang="en-US" dirty="0"/>
              <a:t>, indicating that their ability to answer questions correctly goes hand-in-hand with their ability to ground and support them with video evidence.</a:t>
            </a:r>
          </a:p>
          <a:p>
            <a:endParaRPr lang="en-US" dirty="0"/>
          </a:p>
          <a:p>
            <a:r>
              <a:rPr lang="en-US" dirty="0"/>
              <a:t>Looking at the human baseline, we see that humans perform far better than all evaluated models on QA Accuracy, and grounding capabilities. </a:t>
            </a:r>
          </a:p>
          <a:p>
            <a:endParaRPr lang="en-US" dirty="0"/>
          </a:p>
          <a:p>
            <a:r>
              <a:rPr lang="en-US" dirty="0"/>
              <a:t>Though Molmo2 leads on both QA Acc (65.7%) </a:t>
            </a:r>
            <a:r>
              <a:rPr lang="en-US" dirty="0" err="1"/>
              <a:t>amd</a:t>
            </a:r>
            <a:r>
              <a:rPr lang="en-US" dirty="0"/>
              <a:t> </a:t>
            </a:r>
            <a:r>
              <a:rPr lang="en-US" dirty="0" err="1"/>
              <a:t>mIoU</a:t>
            </a:r>
            <a:r>
              <a:rPr lang="en-US" dirty="0"/>
              <a:t> (11.5%), humans still perform 25% better than Molmo2 on QA Acc, 71% better than Molmo2 on grounding, and 71% better on grounded accuracy. Humans similarly perform 66% and 70% better than Molmo2 on Recall @ 0.1 and 0.5, respectively. This also challenges the general assumption that parameter scale is the primary performance driver, especially in comparison to Gemini 3.1, a larger model with native video support. </a:t>
            </a:r>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30</a:t>
            </a:fld>
            <a:endParaRPr lang="en-US"/>
          </a:p>
        </p:txBody>
      </p:sp>
    </p:spTree>
    <p:extLst>
      <p:ext uri="{BB962C8B-B14F-4D97-AF65-F5344CB8AC3E}">
        <p14:creationId xmlns:p14="http://schemas.microsoft.com/office/powerpoint/2010/main" val="27076863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D8ED-9DF8-3AF8-0587-DB321CD7DC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1C5D69-8E6F-2D49-1B15-5DA6A773C2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101AC1-7854-3239-3624-F331C023F5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BE7B24-2190-EC6F-2B51-288570017AFA}"/>
              </a:ext>
            </a:extLst>
          </p:cNvPr>
          <p:cNvSpPr>
            <a:spLocks noGrp="1"/>
          </p:cNvSpPr>
          <p:nvPr>
            <p:ph type="sldNum" sz="quarter" idx="5"/>
          </p:nvPr>
        </p:nvSpPr>
        <p:spPr/>
        <p:txBody>
          <a:bodyPr/>
          <a:lstStyle/>
          <a:p>
            <a:fld id="{18D255FF-E733-7A46-8A77-BA6A8CE5004F}" type="slidenum">
              <a:rPr lang="en-US" smtClean="0"/>
              <a:t>31</a:t>
            </a:fld>
            <a:endParaRPr lang="en-US"/>
          </a:p>
        </p:txBody>
      </p:sp>
    </p:spTree>
    <p:extLst>
      <p:ext uri="{BB962C8B-B14F-4D97-AF65-F5344CB8AC3E}">
        <p14:creationId xmlns:p14="http://schemas.microsoft.com/office/powerpoint/2010/main" val="97797538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E2E4C-432E-EA54-EAA1-7FAA44ECF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16E4E-643A-4205-4588-96A382278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48F12-C65B-3B39-AD92-22CCCC0EBEC9}"/>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To examine how video length affects model performance, we arrange results across four duration bins: short (≤20 minutes), medium (20–40 minutes), long (40–60 minutes), and extended (&gt;60 minutes).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Duration analysis of QA accuracy &amp; </a:t>
            </a:r>
            <a:r>
              <a:rPr lang="en-US" dirty="0" err="1"/>
              <a:t>mIoU</a:t>
            </a:r>
            <a:r>
              <a:rPr lang="en-US" dirty="0"/>
              <a:t> by category shows a monotonic performance decline as video length increases across all models. This reinforces the hypothesis that extended temporal contexts impose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significant demands on models’ long-range reasoning and evidence retrieval.</a:t>
            </a:r>
          </a:p>
          <a:p>
            <a:endParaRPr lang="en-US" dirty="0"/>
          </a:p>
          <a:p>
            <a:r>
              <a:rPr lang="en-US" dirty="0"/>
              <a:t>Molmo2-8B demonstrates the most robust grounding performance, maintaining a superior </a:t>
            </a:r>
            <a:r>
              <a:rPr lang="en-US" dirty="0" err="1"/>
              <a:t>mIoU</a:t>
            </a:r>
            <a:r>
              <a:rPr lang="en-US" dirty="0"/>
              <a:t> compared to its peers across all categories, though it experiences a monotonic decline from 14.3% in the short bin to 4.1% in the extended bin. </a:t>
            </a:r>
          </a:p>
          <a:p>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On the other hand, GPT-5.4 and Qwen3-VL-8B struggle to maintain grounding precision, with </a:t>
            </a:r>
            <a:r>
              <a:rPr lang="en-US" dirty="0" err="1"/>
              <a:t>mIoU</a:t>
            </a:r>
            <a:r>
              <a:rPr lang="en-US" dirty="0"/>
              <a:t> often remaining below 4% and 5% respectively in the longer bins, suggesting that fixed-rate frame-sampling strategies may become inadequate as temporal density increases.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Gemini 3.1 Flash shows a unique performance profile across the four duration bins. While its QA accuracy remains resilient, recovering to 66.7% in the extended bin, its grounding capability is highly volatile, peaking at 14.6% </a:t>
            </a:r>
            <a:r>
              <a:rPr lang="en-US" dirty="0" err="1"/>
              <a:t>mIoU</a:t>
            </a:r>
            <a:r>
              <a:rPr lang="en-US" dirty="0"/>
              <a:t> in the long bin (4-60 minutes) before regressing to 3.2% for videos in the extended bin (longer than 60 mins)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I believe these findings underscore the importance of temporal scalability, specifically the ability to maintain precise grounding capabilities in high-density contexts, still remains a critical bottleneck for the development of next-generation video-language models</a:t>
            </a:r>
          </a:p>
        </p:txBody>
      </p:sp>
      <p:sp>
        <p:nvSpPr>
          <p:cNvPr id="4" name="Slide Number Placeholder 3">
            <a:extLst>
              <a:ext uri="{FF2B5EF4-FFF2-40B4-BE49-F238E27FC236}">
                <a16:creationId xmlns:a16="http://schemas.microsoft.com/office/drawing/2014/main" id="{F65F669B-B706-169C-59B6-8D9160037857}"/>
              </a:ext>
            </a:extLst>
          </p:cNvPr>
          <p:cNvSpPr>
            <a:spLocks noGrp="1"/>
          </p:cNvSpPr>
          <p:nvPr>
            <p:ph type="sldNum" sz="quarter" idx="5"/>
          </p:nvPr>
        </p:nvSpPr>
        <p:spPr/>
        <p:txBody>
          <a:bodyPr/>
          <a:lstStyle/>
          <a:p>
            <a:fld id="{18D255FF-E733-7A46-8A77-BA6A8CE5004F}" type="slidenum">
              <a:rPr lang="en-US" smtClean="0"/>
              <a:t>32</a:t>
            </a:fld>
            <a:endParaRPr lang="en-US"/>
          </a:p>
        </p:txBody>
      </p:sp>
    </p:spTree>
    <p:extLst>
      <p:ext uri="{BB962C8B-B14F-4D97-AF65-F5344CB8AC3E}">
        <p14:creationId xmlns:p14="http://schemas.microsoft.com/office/powerpoint/2010/main" val="232040411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BEF98-8BCA-D01D-A010-F09BB1497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B6A288-458F-24A7-D6D5-004DAF985E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D5C5BC-D234-8AC0-FFB2-256E1016AB7A}"/>
              </a:ext>
            </a:extLst>
          </p:cNvPr>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The first and most prevalent failure mode is temporal displacement, where a model identifies the correct event or action but attributes it to the wrong temporal segment.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error is particularly common in NIAH and Temporal Order tasks, where multiple superficially similar events occur across a video and the model lacks the resolution to discriminate among them.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GPT-5.4 and Qwen3-VL-8B exhibit this pattern most frequently, which is consistent with their reliance on sparse frame sampling.</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The second failure mode is plausibility substitution, where a model selects an answer that is semantically coherent and contextually reasonable but isn’t grounded in the actual video content.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error is most evident in Causal Reasoning tasks, where questions of the form “why did X happen” admit plausible answers that don’t require temporal evidence.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near-zero grounding scores in this category across all models strongly suggests that correct QA answers are inferred rather than reasoned upon. Models may draw on general world knowledge or narrative plausibility rather than attending to specific video content. In our evaluations, and even during blind filtering and baseline evaluations to ensure performance without video-context was at or around 20%, no models refused to answer our questions.</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Confirming this mechanism directly would require analysis of model reasoning traces, but the grounding evidence alone suggests that causal questions are particularly susceptible to this form of error.</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This occurs because models rarely refuse to answer questions, even if they cannot logically answer the question based on given context, and will instead guess. </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i="0" kern="1200" dirty="0">
                <a:solidFill>
                  <a:schemeClr val="tx1"/>
                </a:solidFill>
                <a:effectLst/>
                <a:latin typeface="+mn-lt"/>
                <a:ea typeface="+mn-ea"/>
                <a:cs typeface="+mn-cs"/>
              </a:rPr>
              <a:t>The third pattern is boundary imprecision, in which a model correctly identifies the relevant temporal region but produces grounding intervals that are too broad or misaligned relative to the ground truth annotation. This manifests as low Recall@𝜏 at stricter </a:t>
            </a:r>
            <a:r>
              <a:rPr lang="en-US" sz="1200" i="0" kern="1200" dirty="0" err="1">
                <a:solidFill>
                  <a:schemeClr val="tx1"/>
                </a:solidFill>
                <a:effectLst/>
                <a:latin typeface="+mn-lt"/>
                <a:ea typeface="+mn-ea"/>
                <a:cs typeface="+mn-cs"/>
              </a:rPr>
              <a:t>IoU</a:t>
            </a:r>
            <a:r>
              <a:rPr lang="en-US" sz="1200" i="0" kern="1200" dirty="0">
                <a:solidFill>
                  <a:schemeClr val="tx1"/>
                </a:solidFill>
                <a:effectLst/>
                <a:latin typeface="+mn-lt"/>
                <a:ea typeface="+mn-ea"/>
                <a:cs typeface="+mn-cs"/>
              </a:rPr>
              <a:t> thresholds even when coarse localization succeeds, and is visible across all models in the rapid drop-off between Recall@0.1 and Recall@0.5. </a:t>
            </a:r>
          </a:p>
          <a:p>
            <a:r>
              <a:rPr lang="en-US" sz="1200" i="0" kern="1200" dirty="0">
                <a:solidFill>
                  <a:schemeClr val="tx1"/>
                </a:solidFill>
                <a:effectLst/>
                <a:latin typeface="+mn-lt"/>
                <a:ea typeface="+mn-ea"/>
                <a:cs typeface="+mn-cs"/>
              </a:rPr>
              <a:t>Molmo2 is least affected by this pattern, suggesting that its training encourages tighter interval estimation.</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Together, these failure modes indicate that improving temporal grounding will require not only richer video representations but also training objectives that explicitly reward precise evidence localization rather than just answer correctness.</a:t>
            </a:r>
          </a:p>
        </p:txBody>
      </p:sp>
      <p:sp>
        <p:nvSpPr>
          <p:cNvPr id="4" name="Slide Number Placeholder 3">
            <a:extLst>
              <a:ext uri="{FF2B5EF4-FFF2-40B4-BE49-F238E27FC236}">
                <a16:creationId xmlns:a16="http://schemas.microsoft.com/office/drawing/2014/main" id="{B6454652-FA29-2133-C0E7-0578E9A04073}"/>
              </a:ext>
            </a:extLst>
          </p:cNvPr>
          <p:cNvSpPr>
            <a:spLocks noGrp="1"/>
          </p:cNvSpPr>
          <p:nvPr>
            <p:ph type="sldNum" sz="quarter" idx="5"/>
          </p:nvPr>
        </p:nvSpPr>
        <p:spPr/>
        <p:txBody>
          <a:bodyPr/>
          <a:lstStyle/>
          <a:p>
            <a:fld id="{18D255FF-E733-7A46-8A77-BA6A8CE5004F}" type="slidenum">
              <a:rPr lang="en-US" smtClean="0"/>
              <a:t>33</a:t>
            </a:fld>
            <a:endParaRPr lang="en-US"/>
          </a:p>
        </p:txBody>
      </p:sp>
    </p:spTree>
    <p:extLst>
      <p:ext uri="{BB962C8B-B14F-4D97-AF65-F5344CB8AC3E}">
        <p14:creationId xmlns:p14="http://schemas.microsoft.com/office/powerpoint/2010/main" val="251250559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5D8EF-52D7-682E-ED46-A600EE6FD9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E9EDF3-8E44-4D1E-8EA3-2DA792B16F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EF5B87-1581-6C60-3C2F-15690EAFCA9E}"/>
              </a:ext>
            </a:extLst>
          </p:cNvPr>
          <p:cNvSpPr>
            <a:spLocks noGrp="1"/>
          </p:cNvSpPr>
          <p:nvPr>
            <p:ph type="body" idx="1"/>
          </p:nvPr>
        </p:nvSpPr>
        <p:spPr/>
        <p:txBody>
          <a:bodyPr/>
          <a:lstStyle/>
          <a:p>
            <a:r>
              <a:rPr lang="en-US" dirty="0"/>
              <a:t>Temporal grounding must be treated as a first-class criterion, not a secondary annotation. To see improved performance from our models will require explicit reward signals for precise interval prediction</a:t>
            </a:r>
          </a:p>
          <a:p>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Frame-sampled models are structurally ill-suited for dense temporal tasks like temporal grounding, and continuous or high-density video representations greatly warrant further investigation for this task. Molmo2 for example compresses the patches from encoding video frames with its vision transformer into pooling windows to keep long clips tractable, and then interleaves these tokens with text and timing information before entering the LLM, where these tokens can attend to one another across frames and images, which significantly boosts their multi-image and video performance, along with various other efficiency techniques. They also assemble several new datasets covering various tasks to support </a:t>
            </a:r>
            <a:r>
              <a:rPr lang="en-US" dirty="0" err="1"/>
              <a:t>spatio</a:t>
            </a:r>
            <a:r>
              <a:rPr lang="en-US" dirty="0"/>
              <a:t>-temporal grounding.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i="0" dirty="0"/>
              <a:t>The current human baseline was collected from a single annotator, </a:t>
            </a:r>
            <a:r>
              <a:rPr lang="en-US" sz="1200" i="0" kern="1200" dirty="0">
                <a:solidFill>
                  <a:schemeClr val="tx1"/>
                </a:solidFill>
                <a:effectLst/>
                <a:latin typeface="+mn-lt"/>
                <a:ea typeface="+mn-ea"/>
                <a:cs typeface="+mn-cs"/>
              </a:rPr>
              <a:t>which makes calculation of inter-annotator agreement impossible and may reflect individual variation in timestamp granularity. Thus, we present these figures as an indicative upper bound instead of a definitive measure of human capability on </a:t>
            </a:r>
            <a:r>
              <a:rPr lang="en-US" sz="1200" i="0" kern="1200" dirty="0" err="1">
                <a:solidFill>
                  <a:schemeClr val="tx1"/>
                </a:solidFill>
                <a:effectLst/>
                <a:latin typeface="+mn-lt"/>
                <a:ea typeface="+mn-ea"/>
                <a:cs typeface="+mn-cs"/>
              </a:rPr>
              <a:t>ChronoQA</a:t>
            </a:r>
            <a:r>
              <a:rPr lang="en-US" sz="1200" i="0" kern="1200" dirty="0">
                <a:solidFill>
                  <a:schemeClr val="tx1"/>
                </a:solidFill>
                <a:effectLst/>
                <a:latin typeface="+mn-lt"/>
                <a:ea typeface="+mn-ea"/>
                <a:cs typeface="+mn-cs"/>
              </a:rPr>
              <a:t>, and identify the collection of a multi-annotator human baseline as a priority for future work.</a:t>
            </a:r>
          </a:p>
          <a:p>
            <a:endParaRPr lang="en-US" sz="1200" i="0" kern="1200" dirty="0">
              <a:solidFill>
                <a:schemeClr val="tx1"/>
              </a:solidFill>
              <a:effectLst/>
              <a:latin typeface="+mn-lt"/>
              <a:ea typeface="+mn-ea"/>
              <a:cs typeface="+mn-cs"/>
            </a:endParaRPr>
          </a:p>
          <a:p>
            <a:r>
              <a:rPr lang="en-US" sz="1200" i="0" kern="1200" dirty="0">
                <a:solidFill>
                  <a:schemeClr val="tx1"/>
                </a:solidFill>
                <a:effectLst/>
                <a:latin typeface="+mn-lt"/>
                <a:ea typeface="+mn-ea"/>
                <a:cs typeface="+mn-cs"/>
              </a:rPr>
              <a:t>Finally, the consistent failure across models on Causal Reasoning grounding indicates that we currently lack the adequate mechanisms for connecting causal inference to observable temporal evidence, and we hope to see future research on this field.</a:t>
            </a:r>
          </a:p>
          <a:p>
            <a:endParaRPr lang="en-US" sz="120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a:extLst>
              <a:ext uri="{FF2B5EF4-FFF2-40B4-BE49-F238E27FC236}">
                <a16:creationId xmlns:a16="http://schemas.microsoft.com/office/drawing/2014/main" id="{E09AF7E2-F08F-FE85-5271-F41339B5AD7D}"/>
              </a:ext>
            </a:extLst>
          </p:cNvPr>
          <p:cNvSpPr>
            <a:spLocks noGrp="1"/>
          </p:cNvSpPr>
          <p:nvPr>
            <p:ph type="sldNum" sz="quarter" idx="5"/>
          </p:nvPr>
        </p:nvSpPr>
        <p:spPr/>
        <p:txBody>
          <a:bodyPr/>
          <a:lstStyle/>
          <a:p>
            <a:fld id="{18D255FF-E733-7A46-8A77-BA6A8CE5004F}" type="slidenum">
              <a:rPr lang="en-US" smtClean="0"/>
              <a:t>34</a:t>
            </a:fld>
            <a:endParaRPr lang="en-US"/>
          </a:p>
        </p:txBody>
      </p:sp>
    </p:spTree>
    <p:extLst>
      <p:ext uri="{BB962C8B-B14F-4D97-AF65-F5344CB8AC3E}">
        <p14:creationId xmlns:p14="http://schemas.microsoft.com/office/powerpoint/2010/main" val="421140153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35</a:t>
            </a:fld>
            <a:endParaRPr lang="en-US"/>
          </a:p>
        </p:txBody>
      </p:sp>
    </p:spTree>
    <p:extLst>
      <p:ext uri="{BB962C8B-B14F-4D97-AF65-F5344CB8AC3E}">
        <p14:creationId xmlns:p14="http://schemas.microsoft.com/office/powerpoint/2010/main" val="209513367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E2D6A4-61DA-2BCE-6A44-38F20BF9E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FD45D-3C30-9E3E-6550-FFA4B4B648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84BB1B-8ECE-2359-8904-4193E1459C9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62699A-B459-3295-8EC8-A93C576B83F2}"/>
              </a:ext>
            </a:extLst>
          </p:cNvPr>
          <p:cNvSpPr>
            <a:spLocks noGrp="1"/>
          </p:cNvSpPr>
          <p:nvPr>
            <p:ph type="sldNum" sz="quarter" idx="5"/>
          </p:nvPr>
        </p:nvSpPr>
        <p:spPr/>
        <p:txBody>
          <a:bodyPr/>
          <a:lstStyle/>
          <a:p>
            <a:fld id="{18D255FF-E733-7A46-8A77-BA6A8CE5004F}" type="slidenum">
              <a:rPr lang="en-US" smtClean="0"/>
              <a:t>39</a:t>
            </a:fld>
            <a:endParaRPr lang="en-US"/>
          </a:p>
        </p:txBody>
      </p:sp>
    </p:spTree>
    <p:extLst>
      <p:ext uri="{BB962C8B-B14F-4D97-AF65-F5344CB8AC3E}">
        <p14:creationId xmlns:p14="http://schemas.microsoft.com/office/powerpoint/2010/main" val="17714557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8D255FF-E733-7A46-8A77-BA6A8CE5004F}" type="slidenum">
              <a:rPr lang="en-US" smtClean="0"/>
              <a:t>40</a:t>
            </a:fld>
            <a:endParaRPr lang="en-US"/>
          </a:p>
        </p:txBody>
      </p:sp>
    </p:spTree>
    <p:extLst>
      <p:ext uri="{BB962C8B-B14F-4D97-AF65-F5344CB8AC3E}">
        <p14:creationId xmlns:p14="http://schemas.microsoft.com/office/powerpoint/2010/main" val="84225977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with Full Signa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3844F620-6422-175B-F602-ACC486E7BD28}"/>
              </a:ext>
              <a:ext uri="{C183D7F6-B498-43B3-948B-1728B52AA6E4}">
                <adec:decorative xmlns:adec="http://schemas.microsoft.com/office/drawing/2017/decorative" val="1"/>
              </a:ext>
            </a:extLst>
          </p:cNvPr>
          <p:cNvSpPr/>
          <p:nvPr userDrawn="1"/>
        </p:nvSpPr>
        <p:spPr>
          <a:xfrm>
            <a:off x="0" y="5176907"/>
            <a:ext cx="12192000" cy="1709696"/>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609600" y="1480134"/>
            <a:ext cx="10972800" cy="2533874"/>
          </a:xfrm>
        </p:spPr>
        <p:txBody>
          <a:bodyPr anchor="t">
            <a:normAutofit/>
          </a:bodyPr>
          <a:lstStyle>
            <a:lvl1pPr algn="l">
              <a:defRPr sz="7200">
                <a:solidFill>
                  <a:schemeClr val="accent1"/>
                </a:solidFill>
              </a:defRPr>
            </a:lvl1pPr>
          </a:lstStyle>
          <a:p>
            <a:r>
              <a:rPr lang="en-US" dirty="0"/>
              <a:t>Click to edit Master title style</a:t>
            </a:r>
          </a:p>
        </p:txBody>
      </p:sp>
      <p:sp>
        <p:nvSpPr>
          <p:cNvPr id="9" name="Text Placeholder 2"/>
          <p:cNvSpPr>
            <a:spLocks noGrp="1"/>
          </p:cNvSpPr>
          <p:nvPr>
            <p:ph type="body" idx="1" hasCustomPrompt="1"/>
          </p:nvPr>
        </p:nvSpPr>
        <p:spPr>
          <a:xfrm>
            <a:off x="609600" y="4181105"/>
            <a:ext cx="10972800" cy="457200"/>
          </a:xfrm>
        </p:spPr>
        <p:txBody>
          <a:bodyPr anchor="ctr"/>
          <a:lstStyle>
            <a:lvl1pPr marL="0" indent="0" algn="l">
              <a:buNone/>
              <a:defRPr sz="2200" b="1">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Presentation Subtitle or Presenter Name Goes Here</a:t>
            </a:r>
          </a:p>
        </p:txBody>
      </p:sp>
      <p:pic>
        <p:nvPicPr>
          <p:cNvPr id="3" name="Graphic 2">
            <a:extLst>
              <a:ext uri="{FF2B5EF4-FFF2-40B4-BE49-F238E27FC236}">
                <a16:creationId xmlns:a16="http://schemas.microsoft.com/office/drawing/2014/main" id="{D141DE7E-4562-2FA2-0FE5-C820F98898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22916" y="3993781"/>
            <a:ext cx="0" cy="0"/>
          </a:xfrm>
          <a:prstGeom prst="rect">
            <a:avLst/>
          </a:prstGeom>
        </p:spPr>
      </p:pic>
      <p:sp>
        <p:nvSpPr>
          <p:cNvPr id="14" name="Text Placeholder 2">
            <a:extLst>
              <a:ext uri="{FF2B5EF4-FFF2-40B4-BE49-F238E27FC236}">
                <a16:creationId xmlns:a16="http://schemas.microsoft.com/office/drawing/2014/main" id="{2FC083E6-90DD-E923-0081-A2BCE2A9EF5D}"/>
              </a:ext>
            </a:extLst>
          </p:cNvPr>
          <p:cNvSpPr>
            <a:spLocks noGrp="1"/>
          </p:cNvSpPr>
          <p:nvPr>
            <p:ph type="body" idx="10" hasCustomPrompt="1"/>
          </p:nvPr>
        </p:nvSpPr>
        <p:spPr>
          <a:xfrm>
            <a:off x="617219" y="512937"/>
            <a:ext cx="5425397" cy="457200"/>
          </a:xfrm>
        </p:spPr>
        <p:txBody>
          <a:bodyPr anchor="ctr"/>
          <a:lstStyle>
            <a:lvl1pPr marL="0" indent="0" algn="l">
              <a:buNone/>
              <a:defRPr sz="22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Date</a:t>
            </a:r>
          </a:p>
        </p:txBody>
      </p:sp>
      <p:pic>
        <p:nvPicPr>
          <p:cNvPr id="5" name="Picture 4">
            <a:extLst>
              <a:ext uri="{FF2B5EF4-FFF2-40B4-BE49-F238E27FC236}">
                <a16:creationId xmlns:a16="http://schemas.microsoft.com/office/drawing/2014/main" id="{14161D05-89EC-3C25-F33F-CEA512C94336}"/>
              </a:ext>
              <a:ext uri="{C183D7F6-B498-43B3-948B-1728B52AA6E4}">
                <adec:decorative xmlns:adec="http://schemas.microsoft.com/office/drawing/2017/decorative" val="1"/>
              </a:ext>
            </a:extLst>
          </p:cNvPr>
          <p:cNvPicPr>
            <a:picLocks noChangeAspect="1"/>
          </p:cNvPicPr>
          <p:nvPr userDrawn="1"/>
        </p:nvPicPr>
        <p:blipFill>
          <a:blip r:embed="rId3"/>
          <a:srcRect l="285" t="50001" r="-146" b="-10002"/>
          <a:stretch>
            <a:fillRect/>
          </a:stretch>
        </p:blipFill>
        <p:spPr>
          <a:xfrm>
            <a:off x="8229600" y="-7749"/>
            <a:ext cx="4663440" cy="822960"/>
          </a:xfrm>
          <a:prstGeom prst="rect">
            <a:avLst/>
          </a:prstGeom>
        </p:spPr>
      </p:pic>
      <p:pic>
        <p:nvPicPr>
          <p:cNvPr id="11" name="Picture 10" descr="The University of North Carolina at Chapel Hill signature">
            <a:extLst>
              <a:ext uri="{FF2B5EF4-FFF2-40B4-BE49-F238E27FC236}">
                <a16:creationId xmlns:a16="http://schemas.microsoft.com/office/drawing/2014/main" id="{434A36F3-CAB3-62A6-C6E8-6A1BB017C064}"/>
              </a:ext>
            </a:extLst>
          </p:cNvPr>
          <p:cNvPicPr>
            <a:picLocks noChangeAspect="1"/>
          </p:cNvPicPr>
          <p:nvPr userDrawn="1"/>
        </p:nvPicPr>
        <p:blipFill>
          <a:blip r:embed="rId4"/>
          <a:stretch>
            <a:fillRect/>
          </a:stretch>
        </p:blipFill>
        <p:spPr>
          <a:xfrm>
            <a:off x="609600" y="5458464"/>
            <a:ext cx="3678621" cy="1146583"/>
          </a:xfrm>
          <a:prstGeom prst="rect">
            <a:avLst/>
          </a:prstGeom>
        </p:spPr>
      </p:pic>
    </p:spTree>
    <p:extLst>
      <p:ext uri="{BB962C8B-B14F-4D97-AF65-F5344CB8AC3E}">
        <p14:creationId xmlns:p14="http://schemas.microsoft.com/office/powerpoint/2010/main" val="1178942715"/>
      </p:ext>
    </p:extLst>
  </p:cSld>
  <p:clrMapOvr>
    <a:masterClrMapping/>
  </p:clrMapOvr>
  <p:extLst>
    <p:ext uri="{DCECCB84-F9BA-43D5-87BE-67443E8EF086}">
      <p15:sldGuideLst xmlns:p15="http://schemas.microsoft.com/office/powerpoint/2012/main">
        <p15:guide id="1" pos="384" userDrawn="1">
          <p15:clr>
            <a:srgbClr val="FBAE40"/>
          </p15:clr>
        </p15:guide>
        <p15:guide id="2" pos="7296"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Logo Onl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991F94-533F-E723-F175-6E52EC9DBE77}"/>
              </a:ext>
              <a:ext uri="{C183D7F6-B498-43B3-948B-1728B52AA6E4}">
                <adec:decorative xmlns:adec="http://schemas.microsoft.com/office/drawing/2017/decorative" val="1"/>
              </a:ext>
            </a:extLst>
          </p:cNvPr>
          <p:cNvSpPr/>
          <p:nvPr userDrawn="1"/>
        </p:nvSpPr>
        <p:spPr>
          <a:xfrm>
            <a:off x="9713902" y="5270360"/>
            <a:ext cx="2478097" cy="158764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600290" y="685800"/>
            <a:ext cx="8661354" cy="3504257"/>
          </a:xfrm>
        </p:spPr>
        <p:txBody>
          <a:bodyPr anchor="b">
            <a:normAutofit/>
          </a:bodyPr>
          <a:lstStyle>
            <a:lvl1pPr algn="l">
              <a:defRPr sz="8000">
                <a:solidFill>
                  <a:schemeClr val="accent1"/>
                </a:solidFill>
              </a:defRPr>
            </a:lvl1pPr>
          </a:lstStyle>
          <a:p>
            <a:r>
              <a:rPr lang="en-US" dirty="0"/>
              <a:t>Click to edit Master title style</a:t>
            </a:r>
          </a:p>
        </p:txBody>
      </p:sp>
      <p:sp>
        <p:nvSpPr>
          <p:cNvPr id="9" name="Text Placeholder 2"/>
          <p:cNvSpPr>
            <a:spLocks noGrp="1"/>
          </p:cNvSpPr>
          <p:nvPr>
            <p:ph type="body" idx="1"/>
          </p:nvPr>
        </p:nvSpPr>
        <p:spPr>
          <a:xfrm>
            <a:off x="600289" y="4367713"/>
            <a:ext cx="8661355" cy="1535242"/>
          </a:xfrm>
        </p:spPr>
        <p:txBody>
          <a:bodyPr anchor="ctr"/>
          <a:lstStyle>
            <a:lvl1pPr marL="0" indent="0" algn="l">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pic>
        <p:nvPicPr>
          <p:cNvPr id="3" name="Graphic 2">
            <a:extLst>
              <a:ext uri="{FF2B5EF4-FFF2-40B4-BE49-F238E27FC236}">
                <a16:creationId xmlns:a16="http://schemas.microsoft.com/office/drawing/2014/main" id="{D141DE7E-4562-2FA2-0FE5-C820F98898D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8722916" y="3993781"/>
            <a:ext cx="0" cy="0"/>
          </a:xfrm>
          <a:prstGeom prst="rect">
            <a:avLst/>
          </a:prstGeom>
        </p:spPr>
      </p:pic>
      <p:sp>
        <p:nvSpPr>
          <p:cNvPr id="4" name="Rectangle 3">
            <a:extLst>
              <a:ext uri="{FF2B5EF4-FFF2-40B4-BE49-F238E27FC236}">
                <a16:creationId xmlns:a16="http://schemas.microsoft.com/office/drawing/2014/main" id="{7370DFD4-2C33-B3BB-339C-75B30AB01738}"/>
              </a:ext>
              <a:ext uri="{C183D7F6-B498-43B3-948B-1728B52AA6E4}">
                <adec:decorative xmlns:adec="http://schemas.microsoft.com/office/drawing/2017/decorative" val="1"/>
              </a:ext>
            </a:extLst>
          </p:cNvPr>
          <p:cNvSpPr/>
          <p:nvPr userDrawn="1"/>
        </p:nvSpPr>
        <p:spPr>
          <a:xfrm>
            <a:off x="0" y="1"/>
            <a:ext cx="303202" cy="3902044"/>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Graphic 10">
            <a:extLst>
              <a:ext uri="{FF2B5EF4-FFF2-40B4-BE49-F238E27FC236}">
                <a16:creationId xmlns:a16="http://schemas.microsoft.com/office/drawing/2014/main" id="{6A5CA4EC-E77F-39B9-0DFC-97E8E1FB7EE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390019" y="5594299"/>
            <a:ext cx="1170437" cy="914400"/>
          </a:xfrm>
          <a:prstGeom prst="rect">
            <a:avLst/>
          </a:prstGeom>
        </p:spPr>
      </p:pic>
      <p:pic>
        <p:nvPicPr>
          <p:cNvPr id="5" name="Picture 4">
            <a:extLst>
              <a:ext uri="{FF2B5EF4-FFF2-40B4-BE49-F238E27FC236}">
                <a16:creationId xmlns:a16="http://schemas.microsoft.com/office/drawing/2014/main" id="{26DCAC6A-8B4F-A5CD-D2E3-F6AFB346709F}"/>
              </a:ext>
              <a:ext uri="{C183D7F6-B498-43B3-948B-1728B52AA6E4}">
                <adec:decorative xmlns:adec="http://schemas.microsoft.com/office/drawing/2017/decorative" val="1"/>
              </a:ext>
            </a:extLst>
          </p:cNvPr>
          <p:cNvPicPr>
            <a:picLocks noChangeAspect="1"/>
          </p:cNvPicPr>
          <p:nvPr userDrawn="1"/>
        </p:nvPicPr>
        <p:blipFill>
          <a:blip r:embed="rId4"/>
          <a:stretch>
            <a:fillRect/>
          </a:stretch>
        </p:blipFill>
        <p:spPr>
          <a:xfrm rot="16200000">
            <a:off x="9398717" y="1740305"/>
            <a:ext cx="3216245" cy="1107233"/>
          </a:xfrm>
          <a:prstGeom prst="rect">
            <a:avLst/>
          </a:prstGeom>
        </p:spPr>
      </p:pic>
    </p:spTree>
    <p:extLst>
      <p:ext uri="{BB962C8B-B14F-4D97-AF65-F5344CB8AC3E}">
        <p14:creationId xmlns:p14="http://schemas.microsoft.com/office/powerpoint/2010/main" val="20847507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with Photo">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A01D1E-CBB3-0E06-52EF-DB45BB2CF659}"/>
              </a:ext>
              <a:ext uri="{C183D7F6-B498-43B3-948B-1728B52AA6E4}">
                <adec:decorative xmlns:adec="http://schemas.microsoft.com/office/drawing/2017/decorative" val="1"/>
              </a:ext>
            </a:extLst>
          </p:cNvPr>
          <p:cNvSpPr/>
          <p:nvPr userDrawn="1"/>
        </p:nvSpPr>
        <p:spPr>
          <a:xfrm>
            <a:off x="9713902" y="0"/>
            <a:ext cx="2476500"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itle 1"/>
          <p:cNvSpPr>
            <a:spLocks noGrp="1"/>
          </p:cNvSpPr>
          <p:nvPr>
            <p:ph type="title"/>
          </p:nvPr>
        </p:nvSpPr>
        <p:spPr>
          <a:xfrm>
            <a:off x="600289" y="519160"/>
            <a:ext cx="6415106" cy="4100155"/>
          </a:xfrm>
        </p:spPr>
        <p:txBody>
          <a:bodyPr anchor="b">
            <a:normAutofit/>
          </a:bodyPr>
          <a:lstStyle>
            <a:lvl1pPr marL="0" indent="0" algn="l">
              <a:tabLst/>
              <a:defRPr sz="7200">
                <a:solidFill>
                  <a:schemeClr val="accent1"/>
                </a:solidFill>
              </a:defRPr>
            </a:lvl1pPr>
          </a:lstStyle>
          <a:p>
            <a:r>
              <a:rPr lang="en-US" dirty="0"/>
              <a:t>Click to edit Master title style</a:t>
            </a:r>
          </a:p>
        </p:txBody>
      </p:sp>
      <p:sp>
        <p:nvSpPr>
          <p:cNvPr id="9" name="Text Placeholder 2"/>
          <p:cNvSpPr>
            <a:spLocks noGrp="1"/>
          </p:cNvSpPr>
          <p:nvPr>
            <p:ph type="body" idx="1"/>
          </p:nvPr>
        </p:nvSpPr>
        <p:spPr>
          <a:xfrm>
            <a:off x="600289" y="4811843"/>
            <a:ext cx="6415107" cy="1124262"/>
          </a:xfrm>
        </p:spPr>
        <p:txBody>
          <a:bodyPr anchor="ctr"/>
          <a:lstStyle>
            <a:lvl1pPr marL="0" indent="0" algn="l">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Rectangle 3">
            <a:extLst>
              <a:ext uri="{FF2B5EF4-FFF2-40B4-BE49-F238E27FC236}">
                <a16:creationId xmlns:a16="http://schemas.microsoft.com/office/drawing/2014/main" id="{7370DFD4-2C33-B3BB-339C-75B30AB01738}"/>
              </a:ext>
              <a:ext uri="{C183D7F6-B498-43B3-948B-1728B52AA6E4}">
                <adec:decorative xmlns:adec="http://schemas.microsoft.com/office/drawing/2017/decorative" val="1"/>
              </a:ext>
            </a:extLst>
          </p:cNvPr>
          <p:cNvSpPr/>
          <p:nvPr userDrawn="1"/>
        </p:nvSpPr>
        <p:spPr>
          <a:xfrm>
            <a:off x="0" y="1"/>
            <a:ext cx="303202" cy="43433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Picture Placeholder 14">
            <a:extLst>
              <a:ext uri="{FF2B5EF4-FFF2-40B4-BE49-F238E27FC236}">
                <a16:creationId xmlns:a16="http://schemas.microsoft.com/office/drawing/2014/main" id="{8EFFAC87-9E53-1884-FF11-F909742899F5}"/>
              </a:ext>
            </a:extLst>
          </p:cNvPr>
          <p:cNvSpPr>
            <a:spLocks noGrp="1"/>
          </p:cNvSpPr>
          <p:nvPr>
            <p:ph type="pic" sz="quarter" idx="10"/>
          </p:nvPr>
        </p:nvSpPr>
        <p:spPr>
          <a:xfrm>
            <a:off x="7206931" y="519161"/>
            <a:ext cx="4384780" cy="3824240"/>
          </a:xfrm>
        </p:spPr>
        <p:txBody>
          <a:bodyPr/>
          <a:lstStyle/>
          <a:p>
            <a:endParaRPr lang="en-US" dirty="0"/>
          </a:p>
        </p:txBody>
      </p:sp>
      <p:pic>
        <p:nvPicPr>
          <p:cNvPr id="7" name="Graphic 6">
            <a:extLst>
              <a:ext uri="{FF2B5EF4-FFF2-40B4-BE49-F238E27FC236}">
                <a16:creationId xmlns:a16="http://schemas.microsoft.com/office/drawing/2014/main" id="{24F22C87-9DEE-511C-D576-91408F23E0F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390019" y="5594299"/>
            <a:ext cx="1170437" cy="914400"/>
          </a:xfrm>
          <a:prstGeom prst="rect">
            <a:avLst/>
          </a:prstGeom>
        </p:spPr>
      </p:pic>
    </p:spTree>
    <p:extLst>
      <p:ext uri="{BB962C8B-B14F-4D97-AF65-F5344CB8AC3E}">
        <p14:creationId xmlns:p14="http://schemas.microsoft.com/office/powerpoint/2010/main" val="1297365087"/>
      </p:ext>
    </p:extLst>
  </p:cSld>
  <p:clrMapOvr>
    <a:masterClrMapping/>
  </p:clrMapOvr>
  <p:extLst>
    <p:ext uri="{DCECCB84-F9BA-43D5-87BE-67443E8EF086}">
      <p15:sldGuideLst xmlns:p15="http://schemas.microsoft.com/office/powerpoint/2012/main">
        <p15:guide id="1" orient="horz" pos="2736"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der with Subtitle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a:spLocks noGrp="1" noRot="1" noMove="1" noResize="1" noEditPoints="1" noAdjustHandles="1" noChangeArrowheads="1" noChangeShapeType="1"/>
          </p:cNvSpPr>
          <p:nvPr userDrawn="1"/>
        </p:nvSpPr>
        <p:spPr>
          <a:xfrm flipH="1">
            <a:off x="1540933" y="0"/>
            <a:ext cx="10651067"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itle 1"/>
          <p:cNvSpPr>
            <a:spLocks noGrp="1"/>
          </p:cNvSpPr>
          <p:nvPr>
            <p:ph type="title"/>
          </p:nvPr>
        </p:nvSpPr>
        <p:spPr>
          <a:xfrm>
            <a:off x="2448156" y="1588958"/>
            <a:ext cx="9111759" cy="4287186"/>
          </a:xfrm>
        </p:spPr>
        <p:txBody>
          <a:bodyPr anchor="ctr">
            <a:normAutofit/>
          </a:bodyPr>
          <a:lstStyle>
            <a:lvl1pPr algn="l">
              <a:defRPr sz="6000">
                <a:solidFill>
                  <a:schemeClr val="bg1"/>
                </a:solidFill>
              </a:defRPr>
            </a:lvl1pPr>
          </a:lstStyle>
          <a:p>
            <a:r>
              <a:rPr lang="en-US" dirty="0"/>
              <a:t>Click to edit Master title style</a:t>
            </a:r>
          </a:p>
        </p:txBody>
      </p:sp>
      <p:sp>
        <p:nvSpPr>
          <p:cNvPr id="11" name="Text Placeholder 5">
            <a:extLst>
              <a:ext uri="{FF2B5EF4-FFF2-40B4-BE49-F238E27FC236}">
                <a16:creationId xmlns:a16="http://schemas.microsoft.com/office/drawing/2014/main" id="{0D9795C1-D152-B640-81E1-08A233E87147}"/>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tx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pic>
        <p:nvPicPr>
          <p:cNvPr id="3" name="Picture 2">
            <a:extLst>
              <a:ext uri="{FF2B5EF4-FFF2-40B4-BE49-F238E27FC236}">
                <a16:creationId xmlns:a16="http://schemas.microsoft.com/office/drawing/2014/main" id="{387A2B52-BA67-752C-E2B6-172CBE3C11B4}"/>
              </a:ext>
              <a:ext uri="{C183D7F6-B498-43B3-948B-1728B52AA6E4}">
                <adec:decorative xmlns:adec="http://schemas.microsoft.com/office/drawing/2017/decorative" val="1"/>
              </a:ext>
            </a:extLst>
          </p:cNvPr>
          <p:cNvPicPr>
            <a:picLocks noChangeAspect="1"/>
          </p:cNvPicPr>
          <p:nvPr userDrawn="1"/>
        </p:nvPicPr>
        <p:blipFill>
          <a:blip r:embed="rId2"/>
          <a:srcRect l="1" t="50002" r="140" b="-50002"/>
          <a:stretch>
            <a:fillRect/>
          </a:stretch>
        </p:blipFill>
        <p:spPr>
          <a:xfrm rot="16200000">
            <a:off x="-1653669" y="2743200"/>
            <a:ext cx="4663440" cy="1371600"/>
          </a:xfrm>
          <a:prstGeom prst="rect">
            <a:avLst/>
          </a:prstGeom>
        </p:spPr>
      </p:pic>
    </p:spTree>
    <p:extLst>
      <p:ext uri="{BB962C8B-B14F-4D97-AF65-F5344CB8AC3E}">
        <p14:creationId xmlns:p14="http://schemas.microsoft.com/office/powerpoint/2010/main" val="41344117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with Subtitle Whit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p:nvPr userDrawn="1"/>
        </p:nvSpPr>
        <p:spPr>
          <a:xfrm>
            <a:off x="-1" y="0"/>
            <a:ext cx="1540933" cy="6857999"/>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1"/>
              </a:solidFill>
            </a:endParaRPr>
          </a:p>
        </p:txBody>
      </p:sp>
      <p:pic>
        <p:nvPicPr>
          <p:cNvPr id="4" name="Picture 3">
            <a:extLst>
              <a:ext uri="{FF2B5EF4-FFF2-40B4-BE49-F238E27FC236}">
                <a16:creationId xmlns:a16="http://schemas.microsoft.com/office/drawing/2014/main" id="{E007BA80-25D7-6A4E-9BE4-E1354E47EF0E}"/>
              </a:ext>
              <a:ext uri="{C183D7F6-B498-43B3-948B-1728B52AA6E4}">
                <adec:decorative xmlns:adec="http://schemas.microsoft.com/office/drawing/2017/decorative" val="1"/>
              </a:ext>
            </a:extLst>
          </p:cNvPr>
          <p:cNvPicPr>
            <a:picLocks noChangeAspect="1"/>
          </p:cNvPicPr>
          <p:nvPr userDrawn="1"/>
        </p:nvPicPr>
        <p:blipFill>
          <a:blip r:embed="rId2"/>
          <a:srcRect l="70" t="49335" r="70" b="-49335"/>
          <a:stretch>
            <a:fillRect/>
          </a:stretch>
        </p:blipFill>
        <p:spPr>
          <a:xfrm rot="16200000">
            <a:off x="-1655064" y="2743200"/>
            <a:ext cx="4663440" cy="1371600"/>
          </a:xfrm>
          <a:prstGeom prst="rect">
            <a:avLst/>
          </a:prstGeom>
        </p:spPr>
      </p:pic>
      <p:sp>
        <p:nvSpPr>
          <p:cNvPr id="3" name="Title 1">
            <a:extLst>
              <a:ext uri="{FF2B5EF4-FFF2-40B4-BE49-F238E27FC236}">
                <a16:creationId xmlns:a16="http://schemas.microsoft.com/office/drawing/2014/main" id="{6A389D4D-CCDD-4179-F371-36361112107B}"/>
              </a:ext>
            </a:extLst>
          </p:cNvPr>
          <p:cNvSpPr>
            <a:spLocks noGrp="1"/>
          </p:cNvSpPr>
          <p:nvPr>
            <p:ph type="title"/>
          </p:nvPr>
        </p:nvSpPr>
        <p:spPr>
          <a:xfrm>
            <a:off x="2448156" y="1588958"/>
            <a:ext cx="9111759" cy="4287186"/>
          </a:xfrm>
        </p:spPr>
        <p:txBody>
          <a:bodyPr anchor="ctr">
            <a:normAutofit/>
          </a:bodyPr>
          <a:lstStyle>
            <a:lvl1pPr algn="l">
              <a:defRPr sz="6000">
                <a:solidFill>
                  <a:schemeClr val="tx1"/>
                </a:solidFill>
              </a:defRPr>
            </a:lvl1pPr>
          </a:lstStyle>
          <a:p>
            <a:r>
              <a:rPr lang="en-US" dirty="0"/>
              <a:t>Click to edit Master title style</a:t>
            </a:r>
          </a:p>
        </p:txBody>
      </p:sp>
      <p:sp>
        <p:nvSpPr>
          <p:cNvPr id="6" name="Text Placeholder 5">
            <a:extLst>
              <a:ext uri="{FF2B5EF4-FFF2-40B4-BE49-F238E27FC236}">
                <a16:creationId xmlns:a16="http://schemas.microsoft.com/office/drawing/2014/main" id="{BCFB92FF-E0C3-8BF5-E7F0-4D97B2882EB3}"/>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accent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3201418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with Subtitle Nav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3D0071A-0C98-906B-A206-2F811653B502}"/>
              </a:ext>
              <a:ext uri="{C183D7F6-B498-43B3-948B-1728B52AA6E4}">
                <adec:decorative xmlns:adec="http://schemas.microsoft.com/office/drawing/2017/decorative" val="1"/>
              </a:ext>
            </a:extLst>
          </p:cNvPr>
          <p:cNvSpPr/>
          <p:nvPr userDrawn="1"/>
        </p:nvSpPr>
        <p:spPr>
          <a:xfrm>
            <a:off x="-7496" y="-39415"/>
            <a:ext cx="1540933" cy="6936827"/>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pic>
        <p:nvPicPr>
          <p:cNvPr id="4" name="Picture 3">
            <a:extLst>
              <a:ext uri="{FF2B5EF4-FFF2-40B4-BE49-F238E27FC236}">
                <a16:creationId xmlns:a16="http://schemas.microsoft.com/office/drawing/2014/main" id="{E007BA80-25D7-6A4E-9BE4-E1354E47EF0E}"/>
              </a:ext>
              <a:ext uri="{C183D7F6-B498-43B3-948B-1728B52AA6E4}">
                <adec:decorative xmlns:adec="http://schemas.microsoft.com/office/drawing/2017/decorative" val="1"/>
              </a:ext>
            </a:extLst>
          </p:cNvPr>
          <p:cNvPicPr>
            <a:picLocks noChangeAspect="1"/>
          </p:cNvPicPr>
          <p:nvPr userDrawn="1"/>
        </p:nvPicPr>
        <p:blipFill>
          <a:blip r:embed="rId2"/>
          <a:srcRect l="70" t="50002" r="70" b="-50002"/>
          <a:stretch>
            <a:fillRect/>
          </a:stretch>
        </p:blipFill>
        <p:spPr>
          <a:xfrm rot="16200000">
            <a:off x="-1653415" y="2743200"/>
            <a:ext cx="4663440" cy="1371600"/>
          </a:xfrm>
          <a:prstGeom prst="rect">
            <a:avLst/>
          </a:prstGeom>
        </p:spPr>
      </p:pic>
      <p:sp>
        <p:nvSpPr>
          <p:cNvPr id="6" name="Title 1">
            <a:extLst>
              <a:ext uri="{FF2B5EF4-FFF2-40B4-BE49-F238E27FC236}">
                <a16:creationId xmlns:a16="http://schemas.microsoft.com/office/drawing/2014/main" id="{598A8CC0-5532-5AEA-2BCE-F8E4456B10CF}"/>
              </a:ext>
            </a:extLst>
          </p:cNvPr>
          <p:cNvSpPr>
            <a:spLocks noGrp="1"/>
          </p:cNvSpPr>
          <p:nvPr>
            <p:ph type="title"/>
          </p:nvPr>
        </p:nvSpPr>
        <p:spPr>
          <a:xfrm>
            <a:off x="2448156" y="1588958"/>
            <a:ext cx="9111759" cy="4287186"/>
          </a:xfrm>
        </p:spPr>
        <p:txBody>
          <a:bodyPr anchor="ctr">
            <a:normAutofit/>
          </a:bodyPr>
          <a:lstStyle>
            <a:lvl1pPr algn="l">
              <a:defRPr sz="6000">
                <a:solidFill>
                  <a:schemeClr val="accent1"/>
                </a:solidFill>
              </a:defRPr>
            </a:lvl1pPr>
          </a:lstStyle>
          <a:p>
            <a:r>
              <a:rPr lang="en-US" dirty="0"/>
              <a:t>Click to edit Master title style</a:t>
            </a:r>
          </a:p>
        </p:txBody>
      </p:sp>
      <p:sp>
        <p:nvSpPr>
          <p:cNvPr id="8" name="Text Placeholder 5">
            <a:extLst>
              <a:ext uri="{FF2B5EF4-FFF2-40B4-BE49-F238E27FC236}">
                <a16:creationId xmlns:a16="http://schemas.microsoft.com/office/drawing/2014/main" id="{93E4D545-C780-15F4-A021-549270FD023A}"/>
              </a:ext>
            </a:extLst>
          </p:cNvPr>
          <p:cNvSpPr>
            <a:spLocks noGrp="1"/>
          </p:cNvSpPr>
          <p:nvPr>
            <p:ph type="body" sz="quarter" idx="16" hasCustomPrompt="1"/>
          </p:nvPr>
        </p:nvSpPr>
        <p:spPr>
          <a:xfrm>
            <a:off x="2448156" y="710534"/>
            <a:ext cx="9111758" cy="365760"/>
          </a:xfrm>
        </p:spPr>
        <p:txBody>
          <a:bodyPr>
            <a:normAutofit/>
          </a:bodyPr>
          <a:lstStyle>
            <a:lvl1pPr marL="0" indent="0">
              <a:buNone/>
              <a:defRPr sz="1800" b="1" cap="all" spc="170" baseline="0">
                <a:solidFill>
                  <a:schemeClr val="tx1"/>
                </a:solidFill>
              </a:defRPr>
            </a:lvl1pPr>
          </a:lstStyle>
          <a:p>
            <a:pPr lvl="0"/>
            <a:r>
              <a:rPr lang="en-US" dirty="0"/>
              <a:t>Subtitle</a:t>
            </a:r>
          </a:p>
        </p:txBody>
      </p:sp>
      <p:sp>
        <p:nvSpPr>
          <p:cNvPr id="7" name="Slide Number Placeholder 2">
            <a:extLst>
              <a:ext uri="{FF2B5EF4-FFF2-40B4-BE49-F238E27FC236}">
                <a16:creationId xmlns:a16="http://schemas.microsoft.com/office/drawing/2014/main" id="{58E43BAC-B1DA-E07C-AF14-54573FC6D4C8}"/>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9630258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Large Text White">
    <p:spTree>
      <p:nvGrpSpPr>
        <p:cNvPr id="1" name=""/>
        <p:cNvGrpSpPr/>
        <p:nvPr/>
      </p:nvGrpSpPr>
      <p:grpSpPr>
        <a:xfrm>
          <a:off x="0" y="0"/>
          <a:ext cx="0" cy="0"/>
          <a:chOff x="0" y="0"/>
          <a:chExt cx="0" cy="0"/>
        </a:xfrm>
      </p:grpSpPr>
      <p:sp>
        <p:nvSpPr>
          <p:cNvPr id="10" name="Title 1"/>
          <p:cNvSpPr>
            <a:spLocks noGrp="1"/>
          </p:cNvSpPr>
          <p:nvPr>
            <p:ph type="title"/>
          </p:nvPr>
        </p:nvSpPr>
        <p:spPr>
          <a:xfrm>
            <a:off x="597408" y="2072640"/>
            <a:ext cx="10984993" cy="3633216"/>
          </a:xfrm>
        </p:spPr>
        <p:txBody>
          <a:bodyPr anchor="ctr">
            <a:normAutofit/>
          </a:bodyPr>
          <a:lstStyle>
            <a:lvl1pPr algn="l">
              <a:defRPr sz="7000">
                <a:solidFill>
                  <a:schemeClr val="accent1"/>
                </a:solidFill>
              </a:defRPr>
            </a:lvl1pPr>
          </a:lstStyle>
          <a:p>
            <a:r>
              <a:rPr lang="en-US" dirty="0"/>
              <a:t>Click to edit Master title style</a:t>
            </a:r>
          </a:p>
        </p:txBody>
      </p:sp>
      <p:pic>
        <p:nvPicPr>
          <p:cNvPr id="4" name="Picture 3">
            <a:extLst>
              <a:ext uri="{FF2B5EF4-FFF2-40B4-BE49-F238E27FC236}">
                <a16:creationId xmlns:a16="http://schemas.microsoft.com/office/drawing/2014/main" id="{68C27406-F7E4-0A7D-8CEC-8F6A32CBE49E}"/>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744275" y="714693"/>
            <a:ext cx="2656115" cy="914400"/>
          </a:xfrm>
          <a:prstGeom prst="rect">
            <a:avLst/>
          </a:prstGeom>
        </p:spPr>
      </p:pic>
      <p:sp>
        <p:nvSpPr>
          <p:cNvPr id="5" name="Slide Number Placeholder 2">
            <a:extLst>
              <a:ext uri="{FF2B5EF4-FFF2-40B4-BE49-F238E27FC236}">
                <a16:creationId xmlns:a16="http://schemas.microsoft.com/office/drawing/2014/main" id="{E85EB188-FB08-48FC-1E86-D2BD5A8FF1D5}"/>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621964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Large Text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CF2950-39E6-0D08-EE1F-A3C7A2E8C0A2}"/>
              </a:ext>
              <a:ext uri="{C183D7F6-B498-43B3-948B-1728B52AA6E4}">
                <adec:decorative xmlns:adec="http://schemas.microsoft.com/office/drawing/2017/decorative" val="1"/>
              </a:ext>
            </a:extLst>
          </p:cNvPr>
          <p:cNvSpPr/>
          <p:nvPr userDrawn="1"/>
        </p:nvSpPr>
        <p:spPr>
          <a:xfrm>
            <a:off x="0" y="-39414"/>
            <a:ext cx="12192000" cy="6936828"/>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5">
            <a:extLst>
              <a:ext uri="{FF2B5EF4-FFF2-40B4-BE49-F238E27FC236}">
                <a16:creationId xmlns:a16="http://schemas.microsoft.com/office/drawing/2014/main" id="{DC7C4555-54B4-D1ED-534B-B2C66B3EBE80}"/>
              </a:ext>
              <a:ext uri="{C183D7F6-B498-43B3-948B-1728B52AA6E4}">
                <adec:decorative xmlns:adec="http://schemas.microsoft.com/office/drawing/2017/decorative" val="1"/>
              </a:ext>
            </a:extLst>
          </p:cNvPr>
          <p:cNvPicPr>
            <a:picLocks noChangeAspect="1"/>
          </p:cNvPicPr>
          <p:nvPr userDrawn="1"/>
        </p:nvPicPr>
        <p:blipFill>
          <a:blip r:embed="rId2"/>
          <a:srcRect l="-33" r="-33"/>
          <a:stretch>
            <a:fillRect/>
          </a:stretch>
        </p:blipFill>
        <p:spPr>
          <a:xfrm>
            <a:off x="744274" y="714693"/>
            <a:ext cx="2656116" cy="914400"/>
          </a:xfrm>
          <a:prstGeom prst="rect">
            <a:avLst/>
          </a:prstGeom>
        </p:spPr>
      </p:pic>
      <p:sp>
        <p:nvSpPr>
          <p:cNvPr id="3" name="Title 1">
            <a:extLst>
              <a:ext uri="{FF2B5EF4-FFF2-40B4-BE49-F238E27FC236}">
                <a16:creationId xmlns:a16="http://schemas.microsoft.com/office/drawing/2014/main" id="{4C2688DB-E127-7D33-5B48-848FB04D60C1}"/>
              </a:ext>
            </a:extLst>
          </p:cNvPr>
          <p:cNvSpPr>
            <a:spLocks noGrp="1"/>
          </p:cNvSpPr>
          <p:nvPr>
            <p:ph type="title"/>
          </p:nvPr>
        </p:nvSpPr>
        <p:spPr>
          <a:xfrm>
            <a:off x="597408" y="2072640"/>
            <a:ext cx="10984993" cy="3633216"/>
          </a:xfrm>
        </p:spPr>
        <p:txBody>
          <a:bodyPr anchor="ctr">
            <a:normAutofit/>
          </a:bodyPr>
          <a:lstStyle>
            <a:lvl1pPr algn="l">
              <a:defRPr sz="7000">
                <a:solidFill>
                  <a:schemeClr val="tx1"/>
                </a:solidFill>
              </a:defRPr>
            </a:lvl1pPr>
          </a:lstStyle>
          <a:p>
            <a:r>
              <a:rPr lang="en-US" dirty="0"/>
              <a:t>Click to edit Master title style</a:t>
            </a:r>
          </a:p>
        </p:txBody>
      </p:sp>
      <p:sp>
        <p:nvSpPr>
          <p:cNvPr id="11" name="Slide Number Placeholder 2">
            <a:extLst>
              <a:ext uri="{FF2B5EF4-FFF2-40B4-BE49-F238E27FC236}">
                <a16:creationId xmlns:a16="http://schemas.microsoft.com/office/drawing/2014/main" id="{325CCF78-C9E6-AACB-9BED-51CDC17DB16B}"/>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1274786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Large Text Navy">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5CF2950-39E6-0D08-EE1F-A3C7A2E8C0A2}"/>
              </a:ext>
              <a:ext uri="{C183D7F6-B498-43B3-948B-1728B52AA6E4}">
                <adec:decorative xmlns:adec="http://schemas.microsoft.com/office/drawing/2017/decorative" val="1"/>
              </a:ext>
            </a:extLst>
          </p:cNvPr>
          <p:cNvSpPr/>
          <p:nvPr userDrawn="1"/>
        </p:nvSpPr>
        <p:spPr>
          <a:xfrm>
            <a:off x="0" y="-49924"/>
            <a:ext cx="12192000" cy="6957848"/>
          </a:xfrm>
          <a:prstGeom prst="rect">
            <a:avLst/>
          </a:prstGeom>
          <a:solidFill>
            <a:schemeClr val="tx1"/>
          </a:solid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endParaRPr lang="en-US"/>
          </a:p>
        </p:txBody>
      </p:sp>
      <p:pic>
        <p:nvPicPr>
          <p:cNvPr id="5" name="Picture 4">
            <a:extLst>
              <a:ext uri="{FF2B5EF4-FFF2-40B4-BE49-F238E27FC236}">
                <a16:creationId xmlns:a16="http://schemas.microsoft.com/office/drawing/2014/main" id="{C3FC1A22-9EDA-86EF-3D3A-B26BE8493D2F}"/>
              </a:ext>
              <a:ext uri="{C183D7F6-B498-43B3-948B-1728B52AA6E4}">
                <adec:decorative xmlns:adec="http://schemas.microsoft.com/office/drawing/2017/decorative" val="1"/>
              </a:ext>
            </a:extLst>
          </p:cNvPr>
          <p:cNvPicPr>
            <a:picLocks noChangeAspect="1"/>
          </p:cNvPicPr>
          <p:nvPr userDrawn="1"/>
        </p:nvPicPr>
        <p:blipFill>
          <a:blip r:embed="rId2"/>
          <a:stretch>
            <a:fillRect/>
          </a:stretch>
        </p:blipFill>
        <p:spPr>
          <a:xfrm>
            <a:off x="744275" y="714693"/>
            <a:ext cx="2656115" cy="914400"/>
          </a:xfrm>
          <a:prstGeom prst="rect">
            <a:avLst/>
          </a:prstGeom>
        </p:spPr>
      </p:pic>
      <p:sp>
        <p:nvSpPr>
          <p:cNvPr id="3" name="Title 1">
            <a:extLst>
              <a:ext uri="{FF2B5EF4-FFF2-40B4-BE49-F238E27FC236}">
                <a16:creationId xmlns:a16="http://schemas.microsoft.com/office/drawing/2014/main" id="{33327E6B-3A7F-FAEC-4838-B750CD3393EA}"/>
              </a:ext>
            </a:extLst>
          </p:cNvPr>
          <p:cNvSpPr>
            <a:spLocks noGrp="1"/>
          </p:cNvSpPr>
          <p:nvPr>
            <p:ph type="title"/>
          </p:nvPr>
        </p:nvSpPr>
        <p:spPr>
          <a:xfrm>
            <a:off x="597408" y="2072640"/>
            <a:ext cx="10984993" cy="3633216"/>
          </a:xfrm>
        </p:spPr>
        <p:txBody>
          <a:bodyPr anchor="ctr">
            <a:normAutofit/>
          </a:bodyPr>
          <a:lstStyle>
            <a:lvl1pPr algn="l">
              <a:defRPr sz="7000">
                <a:solidFill>
                  <a:schemeClr val="bg1"/>
                </a:solidFill>
              </a:defRPr>
            </a:lvl1pPr>
          </a:lstStyle>
          <a:p>
            <a:r>
              <a:rPr lang="en-US" dirty="0"/>
              <a:t>Click to edit Master title style</a:t>
            </a:r>
          </a:p>
        </p:txBody>
      </p:sp>
      <p:sp>
        <p:nvSpPr>
          <p:cNvPr id="7" name="Slide Number Placeholder 2">
            <a:extLst>
              <a:ext uri="{FF2B5EF4-FFF2-40B4-BE49-F238E27FC236}">
                <a16:creationId xmlns:a16="http://schemas.microsoft.com/office/drawing/2014/main" id="{44891A65-5A78-B583-6AF0-524E7655541D}"/>
              </a:ext>
              <a:ext uri="{C183D7F6-B498-43B3-948B-1728B52AA6E4}">
                <adec:decorative xmlns:adec="http://schemas.microsoft.com/office/drawing/2017/decorative" val="1"/>
              </a:ext>
            </a:extLst>
          </p:cNvPr>
          <p:cNvSpPr>
            <a:spLocks noGrp="1"/>
          </p:cNvSpPr>
          <p:nvPr>
            <p:ph type="sldNum" sz="quarter" idx="10"/>
          </p:nvPr>
        </p:nvSpPr>
        <p:spPr>
          <a:xfrm>
            <a:off x="8970673" y="6388328"/>
            <a:ext cx="2707895" cy="246221"/>
          </a:xfrm>
        </p:spPr>
        <p:txBody>
          <a:bodyPr/>
          <a:lstStyle>
            <a:lvl1pPr>
              <a:defRPr sz="1200" b="0">
                <a:solidFill>
                  <a:schemeClr val="bg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2366543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1 Column">
    <p:spTree>
      <p:nvGrpSpPr>
        <p:cNvPr id="1" name=""/>
        <p:cNvGrpSpPr/>
        <p:nvPr/>
      </p:nvGrpSpPr>
      <p:grpSpPr>
        <a:xfrm>
          <a:off x="0" y="0"/>
          <a:ext cx="0" cy="0"/>
          <a:chOff x="0" y="0"/>
          <a:chExt cx="0" cy="0"/>
        </a:xfrm>
      </p:grpSpPr>
      <p:sp>
        <p:nvSpPr>
          <p:cNvPr id="26" name="Title 16"/>
          <p:cNvSpPr>
            <a:spLocks noGrp="1"/>
          </p:cNvSpPr>
          <p:nvPr>
            <p:ph type="title"/>
          </p:nvPr>
        </p:nvSpPr>
        <p:spPr>
          <a:xfrm>
            <a:off x="609601" y="342900"/>
            <a:ext cx="10062225"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21" name="Rectangle 20">
            <a:extLst>
              <a:ext uri="{FF2B5EF4-FFF2-40B4-BE49-F238E27FC236}">
                <a16:creationId xmlns:a16="http://schemas.microsoft.com/office/drawing/2014/main" id="{CA766A3E-C3D8-CEA2-FBC4-8AB354D85F74}"/>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32">
            <a:extLst>
              <a:ext uri="{FF2B5EF4-FFF2-40B4-BE49-F238E27FC236}">
                <a16:creationId xmlns:a16="http://schemas.microsoft.com/office/drawing/2014/main" id="{0260FA03-7173-BABA-296F-94A763BB664B}"/>
              </a:ext>
            </a:extLst>
          </p:cNvPr>
          <p:cNvSpPr>
            <a:spLocks noGrp="1"/>
          </p:cNvSpPr>
          <p:nvPr>
            <p:ph sz="quarter" idx="11"/>
          </p:nvPr>
        </p:nvSpPr>
        <p:spPr>
          <a:xfrm>
            <a:off x="609601" y="1810319"/>
            <a:ext cx="10868660" cy="4100330"/>
          </a:xfrm>
        </p:spPr>
        <p:txBody>
          <a:bodyPr ancho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8">
            <a:extLst>
              <a:ext uri="{FF2B5EF4-FFF2-40B4-BE49-F238E27FC236}">
                <a16:creationId xmlns:a16="http://schemas.microsoft.com/office/drawing/2014/main" id="{56C40871-AB4B-6BC6-DD5D-F29A9DC12626}"/>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1" name="Slide Number Placeholder 2">
            <a:extLst>
              <a:ext uri="{FF2B5EF4-FFF2-40B4-BE49-F238E27FC236}">
                <a16:creationId xmlns:a16="http://schemas.microsoft.com/office/drawing/2014/main" id="{C8FA054B-21AB-7601-9E4F-8B0F78E817D9}"/>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1153497270"/>
      </p:ext>
    </p:extLst>
  </p:cSld>
  <p:clrMapOvr>
    <a:masterClrMapping/>
  </p:clrMapOvr>
  <p:extLst>
    <p:ext uri="{DCECCB84-F9BA-43D5-87BE-67443E8EF086}">
      <p15:sldGuideLst xmlns:p15="http://schemas.microsoft.com/office/powerpoint/2012/main">
        <p15:guide id="1" pos="384"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guide id="5" pos="456"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with 2 Columns">
    <p:spTree>
      <p:nvGrpSpPr>
        <p:cNvPr id="1" name=""/>
        <p:cNvGrpSpPr/>
        <p:nvPr/>
      </p:nvGrpSpPr>
      <p:grpSpPr>
        <a:xfrm>
          <a:off x="0" y="0"/>
          <a:ext cx="0" cy="0"/>
          <a:chOff x="0" y="0"/>
          <a:chExt cx="0" cy="0"/>
        </a:xfrm>
      </p:grpSpPr>
      <p:sp>
        <p:nvSpPr>
          <p:cNvPr id="26" name="Title 16"/>
          <p:cNvSpPr>
            <a:spLocks noGrp="1"/>
          </p:cNvSpPr>
          <p:nvPr>
            <p:ph type="title"/>
          </p:nvPr>
        </p:nvSpPr>
        <p:spPr>
          <a:xfrm>
            <a:off x="609600" y="342900"/>
            <a:ext cx="10061864"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09600" y="1810319"/>
            <a:ext cx="5281061" cy="40019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Rectangle 1">
            <a:extLst>
              <a:ext uri="{FF2B5EF4-FFF2-40B4-BE49-F238E27FC236}">
                <a16:creationId xmlns:a16="http://schemas.microsoft.com/office/drawing/2014/main" id="{E94D2D6D-D836-1475-B21F-FD74A9F3D635}"/>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32">
            <a:extLst>
              <a:ext uri="{FF2B5EF4-FFF2-40B4-BE49-F238E27FC236}">
                <a16:creationId xmlns:a16="http://schemas.microsoft.com/office/drawing/2014/main" id="{5454C11D-F1B3-2C1A-B588-CA54535BD2EF}"/>
              </a:ext>
            </a:extLst>
          </p:cNvPr>
          <p:cNvSpPr>
            <a:spLocks noGrp="1"/>
          </p:cNvSpPr>
          <p:nvPr>
            <p:ph sz="quarter" idx="13"/>
          </p:nvPr>
        </p:nvSpPr>
        <p:spPr>
          <a:xfrm>
            <a:off x="6301339" y="1810319"/>
            <a:ext cx="5281061" cy="400190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8">
            <a:extLst>
              <a:ext uri="{FF2B5EF4-FFF2-40B4-BE49-F238E27FC236}">
                <a16:creationId xmlns:a16="http://schemas.microsoft.com/office/drawing/2014/main" id="{391F682F-1948-02DA-DE80-89FD2B0D826A}"/>
              </a:ext>
              <a:ext uri="{C183D7F6-B498-43B3-948B-1728B52AA6E4}">
                <adec:decorative xmlns:adec="http://schemas.microsoft.com/office/drawing/2017/decorative" val="1"/>
              </a:ext>
            </a:extLst>
          </p:cNvPr>
          <p:cNvSpPr>
            <a:spLocks noGrp="1"/>
          </p:cNvSpPr>
          <p:nvPr>
            <p:ph type="body" sz="quarter" idx="14"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5" name="Slide Number Placeholder 2">
            <a:extLst>
              <a:ext uri="{FF2B5EF4-FFF2-40B4-BE49-F238E27FC236}">
                <a16:creationId xmlns:a16="http://schemas.microsoft.com/office/drawing/2014/main" id="{95FA583D-9F86-B317-6DDE-BB1432ACCDC8}"/>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3697892428"/>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with Photo Lef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userDrawn="1"/>
        </p:nvSpPr>
        <p:spPr>
          <a:xfrm>
            <a:off x="0" y="6149487"/>
            <a:ext cx="12192000" cy="723901"/>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6"/>
          <p:cNvSpPr>
            <a:spLocks noGrp="1"/>
          </p:cNvSpPr>
          <p:nvPr>
            <p:ph type="title"/>
          </p:nvPr>
        </p:nvSpPr>
        <p:spPr>
          <a:xfrm>
            <a:off x="612000" y="342900"/>
            <a:ext cx="10059464"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731520" y="1805619"/>
            <a:ext cx="3481892" cy="3855373"/>
          </a:xfrm>
        </p:spPr>
        <p:txBody>
          <a:bodyPr/>
          <a:lstStyle/>
          <a:p>
            <a:endParaRPr lang="en-US"/>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4643719" y="1810319"/>
            <a:ext cx="6936282" cy="38553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ext Placeholder 8">
            <a:extLst>
              <a:ext uri="{FF2B5EF4-FFF2-40B4-BE49-F238E27FC236}">
                <a16:creationId xmlns:a16="http://schemas.microsoft.com/office/drawing/2014/main" id="{DF0E06C9-AB49-3CFA-A659-C6C044C17C00}"/>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0" name="Slide Number Placeholder 2">
            <a:extLst>
              <a:ext uri="{FF2B5EF4-FFF2-40B4-BE49-F238E27FC236}">
                <a16:creationId xmlns:a16="http://schemas.microsoft.com/office/drawing/2014/main" id="{472F24FC-F42D-E94A-1C14-25535C689570}"/>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
        <p:nvSpPr>
          <p:cNvPr id="2" name="Rectangle 1">
            <a:extLst>
              <a:ext uri="{FF2B5EF4-FFF2-40B4-BE49-F238E27FC236}">
                <a16:creationId xmlns:a16="http://schemas.microsoft.com/office/drawing/2014/main" id="{B6ADA503-7BD6-E089-1E33-6F0477459468}"/>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39801244"/>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with Photo Righ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userDrawn="1"/>
        </p:nvSpPr>
        <p:spPr>
          <a:xfrm>
            <a:off x="9944098" y="3975100"/>
            <a:ext cx="2247902" cy="2882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6"/>
          <p:cNvSpPr>
            <a:spLocks noGrp="1"/>
          </p:cNvSpPr>
          <p:nvPr>
            <p:ph type="title"/>
          </p:nvPr>
        </p:nvSpPr>
        <p:spPr>
          <a:xfrm>
            <a:off x="619201" y="342900"/>
            <a:ext cx="10052263"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0" y="1810319"/>
            <a:ext cx="6803575" cy="432378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7915835" y="1456085"/>
            <a:ext cx="3656964" cy="4678015"/>
          </a:xfrm>
        </p:spPr>
        <p:txBody>
          <a:bodyPr/>
          <a:lstStyle/>
          <a:p>
            <a:endParaRPr lang="en-US"/>
          </a:p>
        </p:txBody>
      </p:sp>
      <p:sp>
        <p:nvSpPr>
          <p:cNvPr id="6" name="Text Placeholder 8">
            <a:extLst>
              <a:ext uri="{FF2B5EF4-FFF2-40B4-BE49-F238E27FC236}">
                <a16:creationId xmlns:a16="http://schemas.microsoft.com/office/drawing/2014/main" id="{9F3F9E0B-FC8F-2FEC-6F53-012F4C1E66DB}"/>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5" name="Slide Number Placeholder 2">
            <a:extLst>
              <a:ext uri="{FF2B5EF4-FFF2-40B4-BE49-F238E27FC236}">
                <a16:creationId xmlns:a16="http://schemas.microsoft.com/office/drawing/2014/main" id="{5AC1F149-7BBE-D0B7-0E9D-F391EC07048E}"/>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
        <p:nvSpPr>
          <p:cNvPr id="2" name="Rectangle 1">
            <a:extLst>
              <a:ext uri="{FF2B5EF4-FFF2-40B4-BE49-F238E27FC236}">
                <a16:creationId xmlns:a16="http://schemas.microsoft.com/office/drawing/2014/main" id="{D8B123C5-E7BC-9260-0E94-D33BDF0FCBD7}"/>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9819"/>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with Full Photo Right">
    <p:spTree>
      <p:nvGrpSpPr>
        <p:cNvPr id="1" name=""/>
        <p:cNvGrpSpPr/>
        <p:nvPr/>
      </p:nvGrpSpPr>
      <p:grpSpPr>
        <a:xfrm>
          <a:off x="0" y="0"/>
          <a:ext cx="0" cy="0"/>
          <a:chOff x="0" y="0"/>
          <a:chExt cx="0" cy="0"/>
        </a:xfrm>
      </p:grpSpPr>
      <p:sp>
        <p:nvSpPr>
          <p:cNvPr id="26" name="Title 16"/>
          <p:cNvSpPr>
            <a:spLocks noGrp="1"/>
          </p:cNvSpPr>
          <p:nvPr>
            <p:ph type="title"/>
          </p:nvPr>
        </p:nvSpPr>
        <p:spPr>
          <a:xfrm>
            <a:off x="611999" y="342900"/>
            <a:ext cx="6999034" cy="640080"/>
          </a:xfrm>
        </p:spPr>
        <p:txBody>
          <a:bodyPr anchor="ctr"/>
          <a:lstStyle>
            <a:lvl1pPr>
              <a:defRPr sz="3200"/>
            </a:lvl1pPr>
          </a:lstStyle>
          <a:p>
            <a:r>
              <a:rPr lang="en-US" dirty="0"/>
              <a:t>Click to edit Master title style</a:t>
            </a:r>
          </a:p>
        </p:txBody>
      </p:sp>
      <p:sp>
        <p:nvSpPr>
          <p:cNvPr id="2" name="Rectangle 1">
            <a:extLst>
              <a:ext uri="{FF2B5EF4-FFF2-40B4-BE49-F238E27FC236}">
                <a16:creationId xmlns:a16="http://schemas.microsoft.com/office/drawing/2014/main" id="{FD0AAD6C-33C7-B854-A943-2CE6956EC76D}"/>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1999" y="1810319"/>
            <a:ext cx="6999035" cy="3850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8256494" y="1"/>
            <a:ext cx="3935506" cy="6858000"/>
          </a:xfrm>
        </p:spPr>
        <p:txBody>
          <a:bodyPr/>
          <a:lstStyle/>
          <a:p>
            <a:endParaRPr lang="en-US"/>
          </a:p>
        </p:txBody>
      </p:sp>
      <p:sp>
        <p:nvSpPr>
          <p:cNvPr id="5" name="Text Placeholder 8">
            <a:extLst>
              <a:ext uri="{FF2B5EF4-FFF2-40B4-BE49-F238E27FC236}">
                <a16:creationId xmlns:a16="http://schemas.microsoft.com/office/drawing/2014/main" id="{946469E5-4287-550C-F06B-9730B745B720}"/>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7" name="Slide Number Placeholder 2">
            <a:extLst>
              <a:ext uri="{FF2B5EF4-FFF2-40B4-BE49-F238E27FC236}">
                <a16:creationId xmlns:a16="http://schemas.microsoft.com/office/drawing/2014/main" id="{E80853D7-F89A-343A-ABF1-F1BBBE885018}"/>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a:ln>
            <a:noFill/>
          </a:ln>
        </p:spPr>
        <p:txBody>
          <a:bodyPr/>
          <a:lstStyle>
            <a:lvl1pPr>
              <a:defRPr sz="1200" b="0">
                <a:ln w="0">
                  <a:noFill/>
                </a:ln>
                <a:solidFill>
                  <a:schemeClr val="bg1"/>
                </a:solidFill>
                <a:effectLst>
                  <a:outerShdw blurRad="94031" dist="8334" dir="4200000" sx="97000" sy="97000" algn="tl" rotWithShape="0">
                    <a:schemeClr val="tx1">
                      <a:alpha val="85000"/>
                    </a:schemeClr>
                  </a:outerShdw>
                </a:effectLst>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3827980340"/>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rolina Blue">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F5DAB-D703-7675-89E2-EF3BBF643086}"/>
              </a:ext>
              <a:ext uri="{C183D7F6-B498-43B3-948B-1728B52AA6E4}">
                <adec:decorative xmlns:adec="http://schemas.microsoft.com/office/drawing/2017/decorative" val="1"/>
              </a:ext>
            </a:extLst>
          </p:cNvPr>
          <p:cNvSpPr/>
          <p:nvPr userDrawn="1"/>
        </p:nvSpPr>
        <p:spPr>
          <a:xfrm>
            <a:off x="9944098" y="0"/>
            <a:ext cx="2247901" cy="68580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itle 16"/>
          <p:cNvSpPr>
            <a:spLocks noGrp="1"/>
          </p:cNvSpPr>
          <p:nvPr>
            <p:ph type="title"/>
          </p:nvPr>
        </p:nvSpPr>
        <p:spPr>
          <a:xfrm>
            <a:off x="619200" y="342900"/>
            <a:ext cx="8361984" cy="640080"/>
          </a:xfrm>
        </p:spPr>
        <p:txBody>
          <a:bodyPr anchor="ctr"/>
          <a:lstStyle>
            <a:lvl1pPr>
              <a:defRPr sz="3200"/>
            </a:lvl1pPr>
          </a:lstStyle>
          <a:p>
            <a:r>
              <a:rPr lang="en-US" dirty="0"/>
              <a:t>Click to edit Master title style</a:t>
            </a:r>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1" y="1810319"/>
            <a:ext cx="8361984" cy="3850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2" name="Graphic 11">
            <a:extLst>
              <a:ext uri="{FF2B5EF4-FFF2-40B4-BE49-F238E27FC236}">
                <a16:creationId xmlns:a16="http://schemas.microsoft.com/office/drawing/2014/main" id="{B1C725C3-4DC0-7832-0231-B6F1C464C3A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4" y="342900"/>
            <a:ext cx="819306" cy="640080"/>
          </a:xfrm>
          <a:prstGeom prst="rect">
            <a:avLst/>
          </a:prstGeom>
        </p:spPr>
      </p:pic>
      <p:sp>
        <p:nvSpPr>
          <p:cNvPr id="3" name="Rectangle 2">
            <a:extLst>
              <a:ext uri="{FF2B5EF4-FFF2-40B4-BE49-F238E27FC236}">
                <a16:creationId xmlns:a16="http://schemas.microsoft.com/office/drawing/2014/main" id="{1AB64942-4C79-47FE-110A-338C6571D813}"/>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8">
            <a:extLst>
              <a:ext uri="{FF2B5EF4-FFF2-40B4-BE49-F238E27FC236}">
                <a16:creationId xmlns:a16="http://schemas.microsoft.com/office/drawing/2014/main" id="{3C97E4AB-2102-062A-67B8-25BD5D32E007}"/>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40243D27-A33E-866A-A83E-032A4CC2736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783170180"/>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with Navy">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13F5DAB-D703-7675-89E2-EF3BBF643086}"/>
              </a:ext>
              <a:ext uri="{C183D7F6-B498-43B3-948B-1728B52AA6E4}">
                <adec:decorative xmlns:adec="http://schemas.microsoft.com/office/drawing/2017/decorative" val="1"/>
              </a:ext>
            </a:extLst>
          </p:cNvPr>
          <p:cNvSpPr/>
          <p:nvPr userDrawn="1"/>
        </p:nvSpPr>
        <p:spPr>
          <a:xfrm>
            <a:off x="9944100" y="-49924"/>
            <a:ext cx="2247900" cy="6957848"/>
          </a:xfrm>
          <a:prstGeom prst="rect">
            <a:avLst/>
          </a:prstGeom>
          <a:solidFill>
            <a:schemeClr val="tx1"/>
          </a:solidFill>
          <a:ln w="19050">
            <a:solidFill>
              <a:schemeClr val="tx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itle 16"/>
          <p:cNvSpPr>
            <a:spLocks noGrp="1"/>
          </p:cNvSpPr>
          <p:nvPr>
            <p:ph type="title"/>
          </p:nvPr>
        </p:nvSpPr>
        <p:spPr>
          <a:xfrm>
            <a:off x="619200" y="342900"/>
            <a:ext cx="8361984" cy="640080"/>
          </a:xfrm>
        </p:spPr>
        <p:txBody>
          <a:bodyPr anchor="ctr"/>
          <a:lstStyle>
            <a:lvl1pPr>
              <a:defRPr sz="3200"/>
            </a:lvl1pPr>
          </a:lstStyle>
          <a:p>
            <a:r>
              <a:rPr lang="en-US" dirty="0"/>
              <a:t>Click to edit Master title style</a:t>
            </a:r>
          </a:p>
        </p:txBody>
      </p:sp>
      <p:sp>
        <p:nvSpPr>
          <p:cNvPr id="3" name="Rectangle 2">
            <a:extLst>
              <a:ext uri="{FF2B5EF4-FFF2-40B4-BE49-F238E27FC236}">
                <a16:creationId xmlns:a16="http://schemas.microsoft.com/office/drawing/2014/main" id="{017C354E-487A-94F0-075E-D7FFF34C6033}"/>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Content Placeholder 32">
            <a:extLst>
              <a:ext uri="{FF2B5EF4-FFF2-40B4-BE49-F238E27FC236}">
                <a16:creationId xmlns:a16="http://schemas.microsoft.com/office/drawing/2014/main" id="{D6FC11F1-0D9D-5809-52E6-E7C294469934}"/>
              </a:ext>
            </a:extLst>
          </p:cNvPr>
          <p:cNvSpPr>
            <a:spLocks noGrp="1"/>
          </p:cNvSpPr>
          <p:nvPr>
            <p:ph sz="quarter" idx="11"/>
          </p:nvPr>
        </p:nvSpPr>
        <p:spPr>
          <a:xfrm>
            <a:off x="619201" y="1810319"/>
            <a:ext cx="8361984" cy="3850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Graphic 5">
            <a:extLst>
              <a:ext uri="{FF2B5EF4-FFF2-40B4-BE49-F238E27FC236}">
                <a16:creationId xmlns:a16="http://schemas.microsoft.com/office/drawing/2014/main" id="{A9B1EAB3-5A0A-B598-60D0-1FCDC29D73B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4" y="342900"/>
            <a:ext cx="819305" cy="640080"/>
          </a:xfrm>
          <a:prstGeom prst="rect">
            <a:avLst/>
          </a:prstGeom>
        </p:spPr>
      </p:pic>
      <p:sp>
        <p:nvSpPr>
          <p:cNvPr id="7" name="Text Placeholder 8">
            <a:extLst>
              <a:ext uri="{FF2B5EF4-FFF2-40B4-BE49-F238E27FC236}">
                <a16:creationId xmlns:a16="http://schemas.microsoft.com/office/drawing/2014/main" id="{0CA15002-8976-BBD9-7C35-45298ED834EE}"/>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E58EEC99-0F59-F9CB-CA29-1CE02919E7B3}"/>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bg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2220772462"/>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with Blank Area">
    <p:spTree>
      <p:nvGrpSpPr>
        <p:cNvPr id="1" name=""/>
        <p:cNvGrpSpPr/>
        <p:nvPr/>
      </p:nvGrpSpPr>
      <p:grpSpPr>
        <a:xfrm>
          <a:off x="0" y="0"/>
          <a:ext cx="0" cy="0"/>
          <a:chOff x="0" y="0"/>
          <a:chExt cx="0" cy="0"/>
        </a:xfrm>
      </p:grpSpPr>
      <p:sp>
        <p:nvSpPr>
          <p:cNvPr id="26" name="Title 16"/>
          <p:cNvSpPr>
            <a:spLocks noGrp="1"/>
          </p:cNvSpPr>
          <p:nvPr>
            <p:ph type="title"/>
          </p:nvPr>
        </p:nvSpPr>
        <p:spPr>
          <a:xfrm>
            <a:off x="619200" y="342900"/>
            <a:ext cx="10052264"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2" name="Text Placeholder 8">
            <a:extLst>
              <a:ext uri="{FF2B5EF4-FFF2-40B4-BE49-F238E27FC236}">
                <a16:creationId xmlns:a16="http://schemas.microsoft.com/office/drawing/2014/main" id="{2B5E4647-BA5F-D64B-F0EB-098CD5D666AB}"/>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9" name="Slide Number Placeholder 2">
            <a:extLst>
              <a:ext uri="{FF2B5EF4-FFF2-40B4-BE49-F238E27FC236}">
                <a16:creationId xmlns:a16="http://schemas.microsoft.com/office/drawing/2014/main" id="{51B0B562-B6BD-09E9-42B4-146C6EFC68CE}"/>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723492841"/>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with Large Photo">
    <p:spTree>
      <p:nvGrpSpPr>
        <p:cNvPr id="1" name=""/>
        <p:cNvGrpSpPr/>
        <p:nvPr/>
      </p:nvGrpSpPr>
      <p:grpSpPr>
        <a:xfrm>
          <a:off x="0" y="0"/>
          <a:ext cx="0" cy="0"/>
          <a:chOff x="0" y="0"/>
          <a:chExt cx="0" cy="0"/>
        </a:xfrm>
      </p:grpSpPr>
      <p:sp>
        <p:nvSpPr>
          <p:cNvPr id="26" name="Title 16"/>
          <p:cNvSpPr>
            <a:spLocks noGrp="1"/>
          </p:cNvSpPr>
          <p:nvPr>
            <p:ph type="title"/>
          </p:nvPr>
        </p:nvSpPr>
        <p:spPr>
          <a:xfrm>
            <a:off x="612000" y="342900"/>
            <a:ext cx="10059464" cy="640080"/>
          </a:xfrm>
        </p:spPr>
        <p:txBody>
          <a:bodyPr anchor="ctr"/>
          <a:lstStyle>
            <a:lvl1pPr>
              <a:defRPr sz="3200"/>
            </a:lvl1pPr>
          </a:lstStyle>
          <a:p>
            <a:r>
              <a:rPr lang="en-US" dirty="0"/>
              <a:t>Click to edit Master title style</a:t>
            </a:r>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14" name="Rectangle 13">
            <a:extLst>
              <a:ext uri="{FF2B5EF4-FFF2-40B4-BE49-F238E27FC236}">
                <a16:creationId xmlns:a16="http://schemas.microsoft.com/office/drawing/2014/main" id="{113F40B6-03C6-3835-4D86-8CB4825EE2F3}"/>
              </a:ext>
              <a:ext uri="{C183D7F6-B498-43B3-948B-1728B52AA6E4}">
                <adec:decorative xmlns:adec="http://schemas.microsoft.com/office/drawing/2017/decorative" val="1"/>
              </a:ext>
            </a:extLst>
          </p:cNvPr>
          <p:cNvSpPr/>
          <p:nvPr userDrawn="1"/>
        </p:nvSpPr>
        <p:spPr>
          <a:xfrm>
            <a:off x="0" y="3975100"/>
            <a:ext cx="12192000" cy="2882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3">
            <a:extLst>
              <a:ext uri="{FF2B5EF4-FFF2-40B4-BE49-F238E27FC236}">
                <a16:creationId xmlns:a16="http://schemas.microsoft.com/office/drawing/2014/main" id="{8E1F8AA9-3ABC-8393-55B6-E10796038AB4}"/>
              </a:ext>
            </a:extLst>
          </p:cNvPr>
          <p:cNvSpPr>
            <a:spLocks noGrp="1"/>
          </p:cNvSpPr>
          <p:nvPr>
            <p:ph type="pic" sz="quarter" idx="12"/>
          </p:nvPr>
        </p:nvSpPr>
        <p:spPr>
          <a:xfrm>
            <a:off x="612000" y="1810319"/>
            <a:ext cx="10823255" cy="4323781"/>
          </a:xfrm>
        </p:spPr>
        <p:txBody>
          <a:bodyPr/>
          <a:lstStyle/>
          <a:p>
            <a:endParaRPr lang="en-US"/>
          </a:p>
        </p:txBody>
      </p:sp>
      <p:sp>
        <p:nvSpPr>
          <p:cNvPr id="6" name="Text Placeholder 8">
            <a:extLst>
              <a:ext uri="{FF2B5EF4-FFF2-40B4-BE49-F238E27FC236}">
                <a16:creationId xmlns:a16="http://schemas.microsoft.com/office/drawing/2014/main" id="{06B6EFFD-1C8F-C226-15FE-CA04F80522EE}"/>
              </a:ext>
              <a:ext uri="{C183D7F6-B498-43B3-948B-1728B52AA6E4}">
                <adec:decorative xmlns:adec="http://schemas.microsoft.com/office/drawing/2017/decorative" val="1"/>
              </a:ext>
            </a:extLst>
          </p:cNvPr>
          <p:cNvSpPr>
            <a:spLocks noGrp="1"/>
          </p:cNvSpPr>
          <p:nvPr>
            <p:ph type="body" sz="quarter" idx="13"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2" name="Slide Number Placeholder 2">
            <a:extLst>
              <a:ext uri="{FF2B5EF4-FFF2-40B4-BE49-F238E27FC236}">
                <a16:creationId xmlns:a16="http://schemas.microsoft.com/office/drawing/2014/main" id="{B688156F-D9FC-7DA6-4C3E-126AC7FA7B5F}"/>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
        <p:nvSpPr>
          <p:cNvPr id="3" name="Rectangle 2">
            <a:extLst>
              <a:ext uri="{FF2B5EF4-FFF2-40B4-BE49-F238E27FC236}">
                <a16:creationId xmlns:a16="http://schemas.microsoft.com/office/drawing/2014/main" id="{5D62D018-0AB8-A858-5849-180894E1689D}"/>
              </a:ext>
              <a:ext uri="{C183D7F6-B498-43B3-948B-1728B52AA6E4}">
                <adec:decorative xmlns:adec="http://schemas.microsoft.com/office/drawing/2017/decorative" val="1"/>
              </a:ext>
            </a:extLst>
          </p:cNvPr>
          <p:cNvSpPr/>
          <p:nvPr userDrawn="1"/>
        </p:nvSpPr>
        <p:spPr>
          <a:xfrm>
            <a:off x="731520" y="1355723"/>
            <a:ext cx="802640" cy="10036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71666004"/>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ll Photo">
    <p:spTree>
      <p:nvGrpSpPr>
        <p:cNvPr id="1" name=""/>
        <p:cNvGrpSpPr/>
        <p:nvPr/>
      </p:nvGrpSpPr>
      <p:grpSpPr>
        <a:xfrm>
          <a:off x="0" y="0"/>
          <a:ext cx="0" cy="0"/>
          <a:chOff x="0" y="0"/>
          <a:chExt cx="0" cy="0"/>
        </a:xfrm>
      </p:grpSpPr>
      <p:sp>
        <p:nvSpPr>
          <p:cNvPr id="4" name="Picture Placeholder 5"/>
          <p:cNvSpPr>
            <a:spLocks noGrp="1"/>
          </p:cNvSpPr>
          <p:nvPr>
            <p:ph type="pic" sz="quarter" idx="10"/>
          </p:nvPr>
        </p:nvSpPr>
        <p:spPr>
          <a:xfrm>
            <a:off x="0" y="0"/>
            <a:ext cx="12192000" cy="6858000"/>
          </a:xfrm>
        </p:spPr>
        <p:txBody>
          <a:bodyPr/>
          <a:lstStyle/>
          <a:p>
            <a:endParaRPr lang="en-US" dirty="0"/>
          </a:p>
        </p:txBody>
      </p:sp>
    </p:spTree>
    <p:extLst>
      <p:ext uri="{BB962C8B-B14F-4D97-AF65-F5344CB8AC3E}">
        <p14:creationId xmlns:p14="http://schemas.microsoft.com/office/powerpoint/2010/main" val="10439639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2 Photo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883BC2A8-CBFD-3CCE-A999-591ADF315A9F}"/>
              </a:ext>
              <a:ext uri="{C183D7F6-B498-43B3-948B-1728B52AA6E4}">
                <adec:decorative xmlns:adec="http://schemas.microsoft.com/office/drawing/2017/decorative" val="1"/>
              </a:ext>
            </a:extLst>
          </p:cNvPr>
          <p:cNvSpPr/>
          <p:nvPr userDrawn="1"/>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0"/>
            <a:ext cx="6050280" cy="6858000"/>
          </a:xfrm>
        </p:spPr>
        <p:txBody>
          <a:bodyPr/>
          <a:lstStyle/>
          <a:p>
            <a:endParaRPr lang="en-US"/>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141720" y="0"/>
            <a:ext cx="6050280" cy="6134100"/>
          </a:xfrm>
        </p:spPr>
        <p:txBody>
          <a:bodyPr/>
          <a:lstStyle/>
          <a:p>
            <a:endParaRPr lang="en-US"/>
          </a:p>
        </p:txBody>
      </p:sp>
      <p:sp>
        <p:nvSpPr>
          <p:cNvPr id="2" name="Slide Number Placeholder 2">
            <a:extLst>
              <a:ext uri="{FF2B5EF4-FFF2-40B4-BE49-F238E27FC236}">
                <a16:creationId xmlns:a16="http://schemas.microsoft.com/office/drawing/2014/main" id="{58A2778D-DB38-EC78-3942-C7CCE2D02E8B}"/>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1773474832"/>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3 Photos">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2FE7E67-0EC3-368B-F114-F28E49BA3D12}"/>
              </a:ext>
            </a:extLst>
          </p:cNvPr>
          <p:cNvSpPr>
            <a:spLocks noGrp="1"/>
          </p:cNvSpPr>
          <p:nvPr>
            <p:ph type="pic" sz="quarter" idx="17"/>
          </p:nvPr>
        </p:nvSpPr>
        <p:spPr>
          <a:xfrm>
            <a:off x="0" y="0"/>
            <a:ext cx="6050280" cy="3383280"/>
          </a:xfrm>
        </p:spPr>
        <p:txBody>
          <a:bodyPr/>
          <a:lstStyle/>
          <a:p>
            <a:endParaRPr lang="en-US"/>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3474720"/>
            <a:ext cx="6050280" cy="3383280"/>
          </a:xfrm>
        </p:spPr>
        <p:txBody>
          <a:bodyPr/>
          <a:lstStyle/>
          <a:p>
            <a:endParaRPr lang="en-US"/>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141720" y="0"/>
            <a:ext cx="6050280" cy="6134100"/>
          </a:xfrm>
        </p:spPr>
        <p:txBody>
          <a:bodyPr/>
          <a:lstStyle/>
          <a:p>
            <a:endParaRPr lang="en-US"/>
          </a:p>
        </p:txBody>
      </p:sp>
      <p:sp>
        <p:nvSpPr>
          <p:cNvPr id="11" name="Rectangle 10">
            <a:extLst>
              <a:ext uri="{FF2B5EF4-FFF2-40B4-BE49-F238E27FC236}">
                <a16:creationId xmlns:a16="http://schemas.microsoft.com/office/drawing/2014/main" id="{84F92D9E-F912-2CD3-A71A-E6B136E48EC4}"/>
              </a:ext>
              <a:ext uri="{C183D7F6-B498-43B3-948B-1728B52AA6E4}">
                <adec:decorative xmlns:adec="http://schemas.microsoft.com/office/drawing/2017/decorative" val="1"/>
              </a:ext>
            </a:extLst>
          </p:cNvPr>
          <p:cNvSpPr/>
          <p:nvPr userDrawn="1"/>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Slide Number Placeholder 2">
            <a:extLst>
              <a:ext uri="{FF2B5EF4-FFF2-40B4-BE49-F238E27FC236}">
                <a16:creationId xmlns:a16="http://schemas.microsoft.com/office/drawing/2014/main" id="{D4AB92B3-898A-A6DE-73F8-00700AADE042}"/>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2505249310"/>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4 Photo Grid">
    <p:spTree>
      <p:nvGrpSpPr>
        <p:cNvPr id="1" name=""/>
        <p:cNvGrpSpPr/>
        <p:nvPr/>
      </p:nvGrpSpPr>
      <p:grpSpPr>
        <a:xfrm>
          <a:off x="0" y="0"/>
          <a:ext cx="0" cy="0"/>
          <a:chOff x="0" y="0"/>
          <a:chExt cx="0" cy="0"/>
        </a:xfrm>
      </p:grpSpPr>
      <p:sp>
        <p:nvSpPr>
          <p:cNvPr id="2" name="Picture Placeholder 3">
            <a:extLst>
              <a:ext uri="{FF2B5EF4-FFF2-40B4-BE49-F238E27FC236}">
                <a16:creationId xmlns:a16="http://schemas.microsoft.com/office/drawing/2014/main" id="{22FE7E67-0EC3-368B-F114-F28E49BA3D12}"/>
              </a:ext>
            </a:extLst>
          </p:cNvPr>
          <p:cNvSpPr>
            <a:spLocks noGrp="1"/>
          </p:cNvSpPr>
          <p:nvPr>
            <p:ph type="pic" sz="quarter" idx="17"/>
          </p:nvPr>
        </p:nvSpPr>
        <p:spPr>
          <a:xfrm>
            <a:off x="0" y="-1"/>
            <a:ext cx="6050280" cy="3243575"/>
          </a:xfrm>
        </p:spPr>
        <p:txBody>
          <a:bodyPr/>
          <a:lstStyle/>
          <a:p>
            <a:endParaRPr lang="en-US"/>
          </a:p>
        </p:txBody>
      </p:sp>
      <p:sp>
        <p:nvSpPr>
          <p:cNvPr id="5" name="Picture Placeholder 3">
            <a:extLst>
              <a:ext uri="{FF2B5EF4-FFF2-40B4-BE49-F238E27FC236}">
                <a16:creationId xmlns:a16="http://schemas.microsoft.com/office/drawing/2014/main" id="{475D593E-B01C-1B5C-0FC6-2AA03ADC8550}"/>
              </a:ext>
            </a:extLst>
          </p:cNvPr>
          <p:cNvSpPr>
            <a:spLocks noGrp="1"/>
          </p:cNvSpPr>
          <p:nvPr>
            <p:ph type="pic" sz="quarter" idx="19"/>
          </p:nvPr>
        </p:nvSpPr>
        <p:spPr>
          <a:xfrm>
            <a:off x="6141722" y="-1"/>
            <a:ext cx="6050280" cy="3243575"/>
          </a:xfrm>
        </p:spPr>
        <p:txBody>
          <a:bodyPr/>
          <a:lstStyle/>
          <a:p>
            <a:endParaRPr lang="en-US"/>
          </a:p>
        </p:txBody>
      </p:sp>
      <p:sp>
        <p:nvSpPr>
          <p:cNvPr id="9" name="Rectangle 8">
            <a:extLst>
              <a:ext uri="{FF2B5EF4-FFF2-40B4-BE49-F238E27FC236}">
                <a16:creationId xmlns:a16="http://schemas.microsoft.com/office/drawing/2014/main" id="{A794F954-8FD3-E89A-095D-E0BAD7002538}"/>
              </a:ext>
              <a:ext uri="{C183D7F6-B498-43B3-948B-1728B52AA6E4}">
                <adec:decorative xmlns:adec="http://schemas.microsoft.com/office/drawing/2017/decorative" val="1"/>
              </a:ext>
            </a:extLst>
          </p:cNvPr>
          <p:cNvSpPr/>
          <p:nvPr userDrawn="1"/>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Picture Placeholder 3">
            <a:extLst>
              <a:ext uri="{FF2B5EF4-FFF2-40B4-BE49-F238E27FC236}">
                <a16:creationId xmlns:a16="http://schemas.microsoft.com/office/drawing/2014/main" id="{5A90E2B3-7DF6-48B8-024D-90DD7198EB6F}"/>
              </a:ext>
            </a:extLst>
          </p:cNvPr>
          <p:cNvSpPr>
            <a:spLocks noGrp="1"/>
          </p:cNvSpPr>
          <p:nvPr>
            <p:ph type="pic" sz="quarter" idx="16"/>
          </p:nvPr>
        </p:nvSpPr>
        <p:spPr>
          <a:xfrm>
            <a:off x="0" y="3335015"/>
            <a:ext cx="6050280" cy="2799085"/>
          </a:xfrm>
        </p:spPr>
        <p:txBody>
          <a:bodyPr/>
          <a:lstStyle/>
          <a:p>
            <a:endParaRPr lang="en-US"/>
          </a:p>
        </p:txBody>
      </p:sp>
      <p:sp>
        <p:nvSpPr>
          <p:cNvPr id="4" name="Picture Placeholder 3">
            <a:extLst>
              <a:ext uri="{FF2B5EF4-FFF2-40B4-BE49-F238E27FC236}">
                <a16:creationId xmlns:a16="http://schemas.microsoft.com/office/drawing/2014/main" id="{1117B4F1-48C2-F18F-6D10-79C17D58A999}"/>
              </a:ext>
            </a:extLst>
          </p:cNvPr>
          <p:cNvSpPr>
            <a:spLocks noGrp="1"/>
          </p:cNvSpPr>
          <p:nvPr>
            <p:ph type="pic" sz="quarter" idx="18"/>
          </p:nvPr>
        </p:nvSpPr>
        <p:spPr>
          <a:xfrm>
            <a:off x="6141722" y="3335015"/>
            <a:ext cx="6050280" cy="2799085"/>
          </a:xfrm>
        </p:spPr>
        <p:txBody>
          <a:bodyPr/>
          <a:lstStyle/>
          <a:p>
            <a:endParaRPr lang="en-US"/>
          </a:p>
        </p:txBody>
      </p:sp>
      <p:sp>
        <p:nvSpPr>
          <p:cNvPr id="11" name="TextBox 10">
            <a:extLst>
              <a:ext uri="{FF2B5EF4-FFF2-40B4-BE49-F238E27FC236}">
                <a16:creationId xmlns:a16="http://schemas.microsoft.com/office/drawing/2014/main" id="{4C1E7C4D-5152-08A0-4FC8-FD1516DB9B63}"/>
              </a:ext>
              <a:ext uri="{C183D7F6-B498-43B3-948B-1728B52AA6E4}">
                <adec:decorative xmlns:adec="http://schemas.microsoft.com/office/drawing/2017/decorative" val="1"/>
              </a:ext>
            </a:extLst>
          </p:cNvPr>
          <p:cNvSpPr txBox="1"/>
          <p:nvPr userDrawn="1"/>
        </p:nvSpPr>
        <p:spPr>
          <a:xfrm>
            <a:off x="723900" y="6365245"/>
            <a:ext cx="6462656" cy="261610"/>
          </a:xfrm>
          <a:prstGeom prst="rect">
            <a:avLst/>
          </a:prstGeom>
          <a:noFill/>
        </p:spPr>
        <p:txBody>
          <a:bodyPr wrap="square" rtlCol="0">
            <a:spAutoFit/>
          </a:bodyPr>
          <a:lstStyle/>
          <a:p>
            <a:r>
              <a:rPr lang="en-US" sz="1100" b="0" i="0" spc="0" baseline="0" dirty="0">
                <a:solidFill>
                  <a:schemeClr val="tx1"/>
                </a:solidFill>
                <a:latin typeface="Arial" panose="020B0604020202020204" pitchFamily="34" charset="0"/>
                <a:ea typeface="Source Serif 4 Medium" panose="02040603050405020204" pitchFamily="18" charset="0"/>
                <a:cs typeface="Arial" panose="020B0604020202020204" pitchFamily="34" charset="0"/>
              </a:rPr>
              <a:t>University, Division or Unit Name Goes Here</a:t>
            </a:r>
          </a:p>
        </p:txBody>
      </p:sp>
      <p:sp>
        <p:nvSpPr>
          <p:cNvPr id="12" name="Slide Number Placeholder 2">
            <a:extLst>
              <a:ext uri="{FF2B5EF4-FFF2-40B4-BE49-F238E27FC236}">
                <a16:creationId xmlns:a16="http://schemas.microsoft.com/office/drawing/2014/main" id="{1C01A2D9-4B30-21C7-FD6B-61DD9EC1FA02}"/>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3216261159"/>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4 Photo Gallery">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10EE3BA1-F4E4-B0E3-EDF3-A8D6798E6CE9}"/>
              </a:ext>
              <a:ext uri="{C183D7F6-B498-43B3-948B-1728B52AA6E4}">
                <adec:decorative xmlns:adec="http://schemas.microsoft.com/office/drawing/2017/decorative" val="1"/>
              </a:ext>
            </a:extLst>
          </p:cNvPr>
          <p:cNvSpPr/>
          <p:nvPr userDrawn="1"/>
        </p:nvSpPr>
        <p:spPr>
          <a:xfrm>
            <a:off x="9944100" y="6134100"/>
            <a:ext cx="2247900" cy="723900"/>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4739EF-0BF5-50F5-831B-3FE192AAED8C}"/>
              </a:ext>
              <a:ext uri="{C183D7F6-B498-43B3-948B-1728B52AA6E4}">
                <adec:decorative xmlns:adec="http://schemas.microsoft.com/office/drawing/2017/decorative" val="1"/>
              </a:ext>
            </a:extLst>
          </p:cNvPr>
          <p:cNvSpPr/>
          <p:nvPr userDrawn="1"/>
        </p:nvSpPr>
        <p:spPr>
          <a:xfrm>
            <a:off x="-2" y="1459"/>
            <a:ext cx="4078388" cy="4758548"/>
          </a:xfrm>
          <a:prstGeom prst="rect">
            <a:avLst/>
          </a:prstGeom>
          <a:solidFill>
            <a:schemeClr val="accent1"/>
          </a:solidFill>
          <a:ln w="190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1C44A0CE-E941-02CF-452C-47379045953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029799" y="342900"/>
            <a:ext cx="819301" cy="640080"/>
          </a:xfrm>
          <a:prstGeom prst="rect">
            <a:avLst/>
          </a:prstGeom>
        </p:spPr>
      </p:pic>
      <p:sp>
        <p:nvSpPr>
          <p:cNvPr id="4" name="Picture Placeholder 3">
            <a:extLst>
              <a:ext uri="{FF2B5EF4-FFF2-40B4-BE49-F238E27FC236}">
                <a16:creationId xmlns:a16="http://schemas.microsoft.com/office/drawing/2014/main" id="{9C761E72-09D4-76DA-092B-B5A330D452C5}"/>
              </a:ext>
            </a:extLst>
          </p:cNvPr>
          <p:cNvSpPr>
            <a:spLocks noGrp="1"/>
          </p:cNvSpPr>
          <p:nvPr>
            <p:ph type="pic" sz="quarter" idx="13"/>
          </p:nvPr>
        </p:nvSpPr>
        <p:spPr>
          <a:xfrm>
            <a:off x="622337" y="337832"/>
            <a:ext cx="2286000" cy="2496808"/>
          </a:xfrm>
        </p:spPr>
        <p:txBody>
          <a:bodyPr/>
          <a:lstStyle/>
          <a:p>
            <a:endParaRPr lang="en-US"/>
          </a:p>
        </p:txBody>
      </p:sp>
      <p:sp>
        <p:nvSpPr>
          <p:cNvPr id="5" name="Picture Placeholder 3">
            <a:extLst>
              <a:ext uri="{FF2B5EF4-FFF2-40B4-BE49-F238E27FC236}">
                <a16:creationId xmlns:a16="http://schemas.microsoft.com/office/drawing/2014/main" id="{14E6BE11-4A52-1EFB-4210-5B2DA549835E}"/>
              </a:ext>
            </a:extLst>
          </p:cNvPr>
          <p:cNvSpPr>
            <a:spLocks noGrp="1"/>
          </p:cNvSpPr>
          <p:nvPr>
            <p:ph type="pic" sz="quarter" idx="14"/>
          </p:nvPr>
        </p:nvSpPr>
        <p:spPr>
          <a:xfrm>
            <a:off x="3479314" y="337832"/>
            <a:ext cx="2387563" cy="2496808"/>
          </a:xfrm>
        </p:spPr>
        <p:txBody>
          <a:bodyPr/>
          <a:lstStyle/>
          <a:p>
            <a:endParaRPr lang="en-US"/>
          </a:p>
        </p:txBody>
      </p:sp>
      <p:sp>
        <p:nvSpPr>
          <p:cNvPr id="2" name="Picture Placeholder 3">
            <a:extLst>
              <a:ext uri="{FF2B5EF4-FFF2-40B4-BE49-F238E27FC236}">
                <a16:creationId xmlns:a16="http://schemas.microsoft.com/office/drawing/2014/main" id="{D82B961C-0078-F25B-ADC4-41230630CC3F}"/>
              </a:ext>
            </a:extLst>
          </p:cNvPr>
          <p:cNvSpPr>
            <a:spLocks noGrp="1"/>
          </p:cNvSpPr>
          <p:nvPr>
            <p:ph type="pic" sz="quarter" idx="12"/>
          </p:nvPr>
        </p:nvSpPr>
        <p:spPr>
          <a:xfrm>
            <a:off x="0" y="3381822"/>
            <a:ext cx="5866878" cy="2752278"/>
          </a:xfrm>
        </p:spPr>
        <p:txBody>
          <a:bodyPr/>
          <a:lstStyle/>
          <a:p>
            <a:endParaRPr lang="en-US"/>
          </a:p>
        </p:txBody>
      </p:sp>
      <p:sp>
        <p:nvSpPr>
          <p:cNvPr id="9" name="Picture Placeholder 3">
            <a:extLst>
              <a:ext uri="{FF2B5EF4-FFF2-40B4-BE49-F238E27FC236}">
                <a16:creationId xmlns:a16="http://schemas.microsoft.com/office/drawing/2014/main" id="{9E5C1591-D945-4BF3-1475-9B308E22B229}"/>
              </a:ext>
            </a:extLst>
          </p:cNvPr>
          <p:cNvSpPr>
            <a:spLocks noGrp="1"/>
          </p:cNvSpPr>
          <p:nvPr>
            <p:ph type="pic" sz="quarter" idx="15"/>
          </p:nvPr>
        </p:nvSpPr>
        <p:spPr>
          <a:xfrm>
            <a:off x="6443324" y="1495586"/>
            <a:ext cx="5765313" cy="4638513"/>
          </a:xfrm>
        </p:spPr>
        <p:txBody>
          <a:bodyPr/>
          <a:lstStyle/>
          <a:p>
            <a:endParaRPr lang="en-US"/>
          </a:p>
        </p:txBody>
      </p:sp>
      <p:sp>
        <p:nvSpPr>
          <p:cNvPr id="8" name="Text Placeholder 8">
            <a:extLst>
              <a:ext uri="{FF2B5EF4-FFF2-40B4-BE49-F238E27FC236}">
                <a16:creationId xmlns:a16="http://schemas.microsoft.com/office/drawing/2014/main" id="{080CEA01-2304-233B-0E20-309CACEA1177}"/>
              </a:ext>
              <a:ext uri="{C183D7F6-B498-43B3-948B-1728B52AA6E4}">
                <adec:decorative xmlns:adec="http://schemas.microsoft.com/office/drawing/2017/decorative" val="1"/>
              </a:ext>
            </a:extLst>
          </p:cNvPr>
          <p:cNvSpPr>
            <a:spLocks noGrp="1"/>
          </p:cNvSpPr>
          <p:nvPr>
            <p:ph type="body" sz="quarter" idx="16" hasCustomPrompt="1"/>
          </p:nvPr>
        </p:nvSpPr>
        <p:spPr>
          <a:xfrm>
            <a:off x="609600" y="6388328"/>
            <a:ext cx="8241505" cy="246221"/>
          </a:xfr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10" name="Slide Number Placeholder 2">
            <a:extLst>
              <a:ext uri="{FF2B5EF4-FFF2-40B4-BE49-F238E27FC236}">
                <a16:creationId xmlns:a16="http://schemas.microsoft.com/office/drawing/2014/main" id="{B2E3435A-7B27-3F95-1D78-E8476E00170E}"/>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lstStyle>
            <a:lvl1pPr>
              <a:defRPr sz="1200" b="0">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2162924508"/>
      </p:ext>
    </p:extLst>
  </p:cSld>
  <p:clrMapOvr>
    <a:masterClrMapping/>
  </p:clrMapOvr>
  <p:extLst>
    <p:ext uri="{DCECCB84-F9BA-43D5-87BE-67443E8EF086}">
      <p15:sldGuideLst xmlns:p15="http://schemas.microsoft.com/office/powerpoint/2012/main">
        <p15:guide id="1" pos="456" userDrawn="1">
          <p15:clr>
            <a:srgbClr val="FBAE40"/>
          </p15:clr>
        </p15:guide>
        <p15:guide id="2" pos="7224" userDrawn="1">
          <p15:clr>
            <a:srgbClr val="FBAE40"/>
          </p15:clr>
        </p15:guide>
        <p15:guide id="3" orient="horz" pos="840" userDrawn="1">
          <p15:clr>
            <a:srgbClr val="FBAE40"/>
          </p15:clr>
        </p15:guide>
        <p15:guide id="4" orient="horz" pos="3864"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First. And For All. Carolina 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DFAEB5-6069-584C-9CEF-AD60221C3130}"/>
              </a:ext>
              <a:ext uri="{C183D7F6-B498-43B3-948B-1728B52AA6E4}">
                <adec:decorative xmlns:adec="http://schemas.microsoft.com/office/drawing/2017/decorative" val="1"/>
              </a:ext>
            </a:extLst>
          </p:cNvPr>
          <p:cNvSpPr/>
          <p:nvPr userDrawn="1"/>
        </p:nvSpPr>
        <p:spPr>
          <a:xfrm>
            <a:off x="0" y="-39414"/>
            <a:ext cx="12192000" cy="6936828"/>
          </a:xfrm>
          <a:prstGeom prst="rect">
            <a:avLst/>
          </a:prstGeom>
          <a:solidFill>
            <a:schemeClr val="accent1"/>
          </a:solidFill>
          <a:ln w="1905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Interlocking NC with the tagline, “First. And For All.”">
            <a:extLst>
              <a:ext uri="{FF2B5EF4-FFF2-40B4-BE49-F238E27FC236}">
                <a16:creationId xmlns:a16="http://schemas.microsoft.com/office/drawing/2014/main" id="{7FD56301-4791-760A-929E-C47BF3FBE71D}"/>
              </a:ext>
            </a:extLst>
          </p:cNvPr>
          <p:cNvPicPr>
            <a:picLocks noChangeAspect="1"/>
          </p:cNvPicPr>
          <p:nvPr userDrawn="1"/>
        </p:nvPicPr>
        <p:blipFill>
          <a:blip r:embed="rId2"/>
          <a:stretch>
            <a:fillRect/>
          </a:stretch>
        </p:blipFill>
        <p:spPr>
          <a:xfrm>
            <a:off x="2358113" y="2790499"/>
            <a:ext cx="7475774" cy="1277001"/>
          </a:xfrm>
          <a:prstGeom prst="rect">
            <a:avLst/>
          </a:prstGeom>
        </p:spPr>
      </p:pic>
    </p:spTree>
    <p:extLst>
      <p:ext uri="{BB962C8B-B14F-4D97-AF65-F5344CB8AC3E}">
        <p14:creationId xmlns:p14="http://schemas.microsoft.com/office/powerpoint/2010/main" val="21557142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First. And For All. White">
    <p:spTree>
      <p:nvGrpSpPr>
        <p:cNvPr id="1" name=""/>
        <p:cNvGrpSpPr/>
        <p:nvPr/>
      </p:nvGrpSpPr>
      <p:grpSpPr>
        <a:xfrm>
          <a:off x="0" y="0"/>
          <a:ext cx="0" cy="0"/>
          <a:chOff x="0" y="0"/>
          <a:chExt cx="0" cy="0"/>
        </a:xfrm>
      </p:grpSpPr>
      <p:pic>
        <p:nvPicPr>
          <p:cNvPr id="3" name="Picture 2" descr="Interlocking NC with the tagline, “First. And For All.”">
            <a:extLst>
              <a:ext uri="{FF2B5EF4-FFF2-40B4-BE49-F238E27FC236}">
                <a16:creationId xmlns:a16="http://schemas.microsoft.com/office/drawing/2014/main" id="{CF24EAEE-EDDA-D794-7CE7-285C23CD663D}"/>
              </a:ext>
            </a:extLst>
          </p:cNvPr>
          <p:cNvPicPr>
            <a:picLocks noChangeAspect="1"/>
          </p:cNvPicPr>
          <p:nvPr userDrawn="1"/>
        </p:nvPicPr>
        <p:blipFill>
          <a:blip r:embed="rId2"/>
          <a:srcRect l="-36" r="-36"/>
          <a:stretch>
            <a:fillRect/>
          </a:stretch>
        </p:blipFill>
        <p:spPr>
          <a:xfrm>
            <a:off x="2358113" y="2790499"/>
            <a:ext cx="7475774" cy="1277001"/>
          </a:xfrm>
          <a:prstGeom prst="rect">
            <a:avLst/>
          </a:prstGeom>
        </p:spPr>
      </p:pic>
    </p:spTree>
    <p:extLst>
      <p:ext uri="{BB962C8B-B14F-4D97-AF65-F5344CB8AC3E}">
        <p14:creationId xmlns:p14="http://schemas.microsoft.com/office/powerpoint/2010/main" val="41588216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irst. And For All. Nav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00BBD57-4BEB-D9AF-A1AA-90ACAD3DD793}"/>
              </a:ext>
              <a:ext uri="{C183D7F6-B498-43B3-948B-1728B52AA6E4}">
                <adec:decorative xmlns:adec="http://schemas.microsoft.com/office/drawing/2017/decorative" val="1"/>
              </a:ext>
            </a:extLst>
          </p:cNvPr>
          <p:cNvSpPr/>
          <p:nvPr userDrawn="1"/>
        </p:nvSpPr>
        <p:spPr>
          <a:xfrm>
            <a:off x="0" y="-39414"/>
            <a:ext cx="12192000" cy="6936828"/>
          </a:xfrm>
          <a:prstGeom prst="rect">
            <a:avLst/>
          </a:prstGeom>
          <a:solidFill>
            <a:schemeClr val="tx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Interlocking NC with the tagline, “First. And For All.”">
            <a:extLst>
              <a:ext uri="{FF2B5EF4-FFF2-40B4-BE49-F238E27FC236}">
                <a16:creationId xmlns:a16="http://schemas.microsoft.com/office/drawing/2014/main" id="{AE1EA31F-B569-0FAB-4C96-503D72343188}"/>
              </a:ext>
            </a:extLst>
          </p:cNvPr>
          <p:cNvPicPr>
            <a:picLocks noChangeAspect="1"/>
          </p:cNvPicPr>
          <p:nvPr userDrawn="1"/>
        </p:nvPicPr>
        <p:blipFill>
          <a:blip r:embed="rId2"/>
          <a:stretch>
            <a:fillRect/>
          </a:stretch>
        </p:blipFill>
        <p:spPr>
          <a:xfrm>
            <a:off x="2358108" y="2790499"/>
            <a:ext cx="7475777" cy="1277001"/>
          </a:xfrm>
          <a:prstGeom prst="rect">
            <a:avLst/>
          </a:prstGeom>
        </p:spPr>
      </p:pic>
    </p:spTree>
    <p:extLst>
      <p:ext uri="{BB962C8B-B14F-4D97-AF65-F5344CB8AC3E}">
        <p14:creationId xmlns:p14="http://schemas.microsoft.com/office/powerpoint/2010/main" val="6211161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nd Slide with Signature CarolinaBlu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DFAEB5-6069-584C-9CEF-AD60221C3130}"/>
              </a:ext>
              <a:ext uri="{C183D7F6-B498-43B3-948B-1728B52AA6E4}">
                <adec:decorative xmlns:adec="http://schemas.microsoft.com/office/drawing/2017/decorative" val="1"/>
              </a:ext>
            </a:extLst>
          </p:cNvPr>
          <p:cNvSpPr/>
          <p:nvPr userDrawn="1"/>
        </p:nvSpPr>
        <p:spPr>
          <a:xfrm>
            <a:off x="0" y="0"/>
            <a:ext cx="12192000" cy="6947338"/>
          </a:xfrm>
          <a:prstGeom prst="rect">
            <a:avLst/>
          </a:prstGeom>
          <a:solidFill>
            <a:schemeClr val="accent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The University of North Carolina at Chapel Hill">
            <a:extLst>
              <a:ext uri="{FF2B5EF4-FFF2-40B4-BE49-F238E27FC236}">
                <a16:creationId xmlns:a16="http://schemas.microsoft.com/office/drawing/2014/main" id="{03D283E4-8C2B-CA2D-F8A9-2C167FF21242}"/>
              </a:ext>
            </a:extLst>
          </p:cNvPr>
          <p:cNvPicPr>
            <a:picLocks noChangeAspect="1"/>
          </p:cNvPicPr>
          <p:nvPr userDrawn="1"/>
        </p:nvPicPr>
        <p:blipFill>
          <a:blip r:embed="rId2"/>
          <a:stretch>
            <a:fillRect/>
          </a:stretch>
        </p:blipFill>
        <p:spPr>
          <a:xfrm>
            <a:off x="3949064" y="2759825"/>
            <a:ext cx="4293867" cy="1338348"/>
          </a:xfrm>
          <a:prstGeom prst="rect">
            <a:avLst/>
          </a:prstGeom>
        </p:spPr>
      </p:pic>
    </p:spTree>
    <p:extLst>
      <p:ext uri="{BB962C8B-B14F-4D97-AF65-F5344CB8AC3E}">
        <p14:creationId xmlns:p14="http://schemas.microsoft.com/office/powerpoint/2010/main" val="414011845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nd Slide with Signature White">
    <p:spTree>
      <p:nvGrpSpPr>
        <p:cNvPr id="1" name=""/>
        <p:cNvGrpSpPr/>
        <p:nvPr/>
      </p:nvGrpSpPr>
      <p:grpSpPr>
        <a:xfrm>
          <a:off x="0" y="0"/>
          <a:ext cx="0" cy="0"/>
          <a:chOff x="0" y="0"/>
          <a:chExt cx="0" cy="0"/>
        </a:xfrm>
      </p:grpSpPr>
      <p:pic>
        <p:nvPicPr>
          <p:cNvPr id="3" name="Picture 2" descr="The University of North Carolina at Chapel Hill">
            <a:extLst>
              <a:ext uri="{FF2B5EF4-FFF2-40B4-BE49-F238E27FC236}">
                <a16:creationId xmlns:a16="http://schemas.microsoft.com/office/drawing/2014/main" id="{E15A44BB-BD05-5259-3194-EA1EDADB81ED}"/>
              </a:ext>
            </a:extLst>
          </p:cNvPr>
          <p:cNvPicPr>
            <a:picLocks noChangeAspect="1"/>
          </p:cNvPicPr>
          <p:nvPr userDrawn="1"/>
        </p:nvPicPr>
        <p:blipFill>
          <a:blip r:embed="rId2"/>
          <a:stretch>
            <a:fillRect/>
          </a:stretch>
        </p:blipFill>
        <p:spPr>
          <a:xfrm>
            <a:off x="3949065" y="2759825"/>
            <a:ext cx="4293870" cy="1338349"/>
          </a:xfrm>
          <a:prstGeom prst="rect">
            <a:avLst/>
          </a:prstGeom>
        </p:spPr>
      </p:pic>
    </p:spTree>
    <p:extLst>
      <p:ext uri="{BB962C8B-B14F-4D97-AF65-F5344CB8AC3E}">
        <p14:creationId xmlns:p14="http://schemas.microsoft.com/office/powerpoint/2010/main" val="24225144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2919" y="650689"/>
            <a:ext cx="11186159" cy="1043639"/>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02920" y="1825625"/>
            <a:ext cx="11186160" cy="378671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C183D7F6-B498-43B3-948B-1728B52AA6E4}">
                <adec:decorative xmlns:adec="http://schemas.microsoft.com/office/drawing/2017/decorative" val="1"/>
              </a:ext>
            </a:extLst>
          </p:cNvPr>
          <p:cNvSpPr>
            <a:spLocks noGrp="1"/>
          </p:cNvSpPr>
          <p:nvPr>
            <p:ph type="sldNum" sz="quarter" idx="4"/>
          </p:nvPr>
        </p:nvSpPr>
        <p:spPr>
          <a:xfrm>
            <a:off x="8981185" y="6174647"/>
            <a:ext cx="2707895" cy="246221"/>
          </a:xfrm>
          <a:prstGeom prst="rect">
            <a:avLst/>
          </a:prstGeom>
        </p:spPr>
        <p:txBody>
          <a:bodyPr vert="horz" lIns="91440" tIns="45720" rIns="91440" bIns="45720" rtlCol="0" anchor="ctr"/>
          <a:lstStyle>
            <a:lvl1pPr algn="r">
              <a:defRPr sz="1200" b="1">
                <a:solidFill>
                  <a:schemeClr val="tx1"/>
                </a:solidFill>
              </a:defRPr>
            </a:lvl1pPr>
          </a:lstStyle>
          <a:p>
            <a:fld id="{6D6E361B-DFCA-824D-BA63-ADCED3B41986}" type="slidenum">
              <a:rPr lang="en-US" smtClean="0"/>
              <a:pPr/>
              <a:t>‹#›</a:t>
            </a:fld>
            <a:endParaRPr lang="en-US" dirty="0"/>
          </a:p>
        </p:txBody>
      </p:sp>
    </p:spTree>
    <p:extLst>
      <p:ext uri="{BB962C8B-B14F-4D97-AF65-F5344CB8AC3E}">
        <p14:creationId xmlns:p14="http://schemas.microsoft.com/office/powerpoint/2010/main" val="1622753219"/>
      </p:ext>
    </p:extLst>
  </p:cSld>
  <p:clrMap bg1="lt1" tx1="dk1" bg2="lt2" tx2="dk2" accent1="accent1" accent2="accent2" accent3="accent3" accent4="accent4" accent5="accent5" accent6="accent6" hlink="hlink" folHlink="folHlink"/>
  <p:sldLayoutIdLst>
    <p:sldLayoutId id="2147483755" r:id="rId1"/>
    <p:sldLayoutId id="2147483739" r:id="rId2"/>
    <p:sldLayoutId id="2147483740" r:id="rId3"/>
    <p:sldLayoutId id="2147483742" r:id="rId4"/>
    <p:sldLayoutId id="2147483754" r:id="rId5"/>
    <p:sldLayoutId id="2147483753" r:id="rId6"/>
    <p:sldLayoutId id="2147483745" r:id="rId7"/>
    <p:sldLayoutId id="2147483714" r:id="rId8"/>
    <p:sldLayoutId id="2147483746" r:id="rId9"/>
    <p:sldLayoutId id="2147483693" r:id="rId10"/>
    <p:sldLayoutId id="2147483728" r:id="rId11"/>
    <p:sldLayoutId id="2147483727" r:id="rId12"/>
    <p:sldLayoutId id="2147483725" r:id="rId13"/>
    <p:sldLayoutId id="2147483729" r:id="rId14"/>
    <p:sldLayoutId id="2147483732" r:id="rId15"/>
    <p:sldLayoutId id="2147483738" r:id="rId16"/>
    <p:sldLayoutId id="2147483731" r:id="rId17"/>
    <p:sldLayoutId id="2147483730" r:id="rId18"/>
    <p:sldLayoutId id="2147483700" r:id="rId19"/>
    <p:sldLayoutId id="2147483735" r:id="rId20"/>
    <p:sldLayoutId id="2147483736" r:id="rId21"/>
    <p:sldLayoutId id="2147483737" r:id="rId22"/>
    <p:sldLayoutId id="2147483733" r:id="rId23"/>
    <p:sldLayoutId id="2147483750" r:id="rId24"/>
    <p:sldLayoutId id="2147483752" r:id="rId25"/>
    <p:sldLayoutId id="2147483751" r:id="rId26"/>
    <p:sldLayoutId id="2147483748" r:id="rId27"/>
    <p:sldLayoutId id="2147483749" r:id="rId28"/>
  </p:sldLayoutIdLst>
  <p:hf hdr="0" ftr="0" dt="0"/>
  <p:txStyles>
    <p:titleStyle>
      <a:lvl1pPr algn="l" defTabSz="914400" rtl="0" eaLnBrk="1" fontAlgn="base" latinLnBrk="0" hangingPunct="1">
        <a:lnSpc>
          <a:spcPct val="100000"/>
        </a:lnSpc>
        <a:spcBef>
          <a:spcPct val="0"/>
        </a:spcBef>
        <a:buNone/>
        <a:defRPr sz="4000" b="1" kern="1200" cap="none" spc="0" baseline="0">
          <a:solidFill>
            <a:schemeClr val="tx1"/>
          </a:solidFill>
          <a:latin typeface="+mj-lt"/>
          <a:ea typeface="+mj-ea"/>
          <a:cs typeface="+mj-cs"/>
        </a:defRPr>
      </a:lvl1pPr>
    </p:titleStyle>
    <p:bodyStyle>
      <a:lvl1pPr marL="233363" indent="-233363" algn="l" defTabSz="914400" rtl="0" eaLnBrk="1" latinLnBrk="0" hangingPunct="1">
        <a:lnSpc>
          <a:spcPct val="90000"/>
        </a:lnSpc>
        <a:spcBef>
          <a:spcPts val="1000"/>
        </a:spcBef>
        <a:buClr>
          <a:schemeClr val="accent1"/>
        </a:buClr>
        <a:buFont typeface="Arial" panose="020B0604020202020204" pitchFamily="34" charset="0"/>
        <a:buChar char="•"/>
        <a:tabLst/>
        <a:defRPr sz="2800" kern="1200">
          <a:solidFill>
            <a:schemeClr val="tx1"/>
          </a:solidFill>
          <a:latin typeface="+mn-lt"/>
          <a:ea typeface="+mn-ea"/>
          <a:cs typeface="+mn-cs"/>
        </a:defRPr>
      </a:lvl1pPr>
      <a:lvl2pPr marL="687388" indent="-230188" algn="l" defTabSz="914400" rtl="0" eaLnBrk="1" latinLnBrk="0" hangingPunct="1">
        <a:lnSpc>
          <a:spcPct val="90000"/>
        </a:lnSpc>
        <a:spcBef>
          <a:spcPts val="500"/>
        </a:spcBef>
        <a:buClr>
          <a:schemeClr val="accent1"/>
        </a:buClr>
        <a:buFont typeface="Arial" panose="020B0604020202020204" pitchFamily="34" charset="0"/>
        <a:buChar char="•"/>
        <a:tabLst/>
        <a:defRPr sz="2400" kern="1200">
          <a:solidFill>
            <a:schemeClr val="tx1"/>
          </a:solidFill>
          <a:latin typeface="+mn-lt"/>
          <a:ea typeface="+mn-ea"/>
          <a:cs typeface="+mn-cs"/>
        </a:defRPr>
      </a:lvl2pPr>
      <a:lvl3pPr marL="1149350" indent="-234950" algn="l" defTabSz="914400" rtl="0" eaLnBrk="1" latinLnBrk="0" hangingPunct="1">
        <a:lnSpc>
          <a:spcPct val="90000"/>
        </a:lnSpc>
        <a:spcBef>
          <a:spcPts val="500"/>
        </a:spcBef>
        <a:buClr>
          <a:schemeClr val="accent1"/>
        </a:buClr>
        <a:buFont typeface="Arial" panose="020B0604020202020204" pitchFamily="34" charset="0"/>
        <a:buChar char="•"/>
        <a:tabLst/>
        <a:defRPr sz="2000" kern="1200">
          <a:solidFill>
            <a:schemeClr val="tx1"/>
          </a:solidFill>
          <a:latin typeface="+mn-lt"/>
          <a:ea typeface="+mn-ea"/>
          <a:cs typeface="+mn-cs"/>
        </a:defRPr>
      </a:lvl3pPr>
      <a:lvl4pPr marL="1603375" indent="-231775"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10.xml"/><Relationship Id="rId5" Type="http://schemas.openxmlformats.org/officeDocument/2006/relationships/image" Target="../media/image17.jpe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0.xml"/><Relationship Id="rId4"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7.xml"/><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8.xml"/><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xml"/><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notesSlide" Target="../notesSlides/notesSlide20.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35.emf"/><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37.png"/></Relationships>
</file>

<file path=ppt/slides/_rels/slide31.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30.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37041-E1C7-FFAD-64F1-9B37002A709D}"/>
              </a:ext>
            </a:extLst>
          </p:cNvPr>
          <p:cNvSpPr>
            <a:spLocks noGrp="1"/>
          </p:cNvSpPr>
          <p:nvPr>
            <p:ph type="title"/>
          </p:nvPr>
        </p:nvSpPr>
        <p:spPr>
          <a:xfrm>
            <a:off x="609599" y="1480134"/>
            <a:ext cx="11364097" cy="2533874"/>
          </a:xfrm>
        </p:spPr>
        <p:txBody>
          <a:bodyPr>
            <a:noAutofit/>
          </a:bodyPr>
          <a:lstStyle/>
          <a:p>
            <a:r>
              <a:rPr lang="en-US" sz="4800" i="1" dirty="0"/>
              <a:t>Benchmarking Temporal Grounding in Long-Form Video via Timestamp-Anchored Multiple-Choice QA Pairs</a:t>
            </a:r>
            <a:endParaRPr lang="en-US" sz="4800" dirty="0"/>
          </a:p>
        </p:txBody>
      </p:sp>
      <p:sp>
        <p:nvSpPr>
          <p:cNvPr id="3" name="Text Placeholder 2">
            <a:extLst>
              <a:ext uri="{FF2B5EF4-FFF2-40B4-BE49-F238E27FC236}">
                <a16:creationId xmlns:a16="http://schemas.microsoft.com/office/drawing/2014/main" id="{E88E1AC6-BFA9-1C26-445D-260871E7FAF1}"/>
              </a:ext>
            </a:extLst>
          </p:cNvPr>
          <p:cNvSpPr>
            <a:spLocks noGrp="1"/>
          </p:cNvSpPr>
          <p:nvPr>
            <p:ph type="body" idx="1"/>
          </p:nvPr>
        </p:nvSpPr>
        <p:spPr>
          <a:xfrm>
            <a:off x="609600" y="4181104"/>
            <a:ext cx="10972800" cy="724527"/>
          </a:xfrm>
        </p:spPr>
        <p:txBody>
          <a:bodyPr>
            <a:normAutofit fontScale="85000" lnSpcReduction="20000"/>
          </a:bodyPr>
          <a:lstStyle/>
          <a:p>
            <a:r>
              <a:rPr lang="en-US" dirty="0"/>
              <a:t>Oluwatumininu Oguntola</a:t>
            </a:r>
            <a:br>
              <a:rPr lang="en-US" dirty="0"/>
            </a:br>
            <a:r>
              <a:rPr lang="en-US" i="1" dirty="0"/>
              <a:t>Advised by Professor Gedas Bertasius</a:t>
            </a:r>
            <a:br>
              <a:rPr lang="en-US" i="1" dirty="0"/>
            </a:br>
            <a:r>
              <a:rPr lang="en-US" b="0" dirty="0"/>
              <a:t>Honors Thesis Defense</a:t>
            </a:r>
          </a:p>
        </p:txBody>
      </p:sp>
      <p:sp>
        <p:nvSpPr>
          <p:cNvPr id="4" name="Text Placeholder 3">
            <a:extLst>
              <a:ext uri="{FF2B5EF4-FFF2-40B4-BE49-F238E27FC236}">
                <a16:creationId xmlns:a16="http://schemas.microsoft.com/office/drawing/2014/main" id="{1848A022-71F3-E16B-45F9-A6C1433957C7}"/>
              </a:ext>
            </a:extLst>
          </p:cNvPr>
          <p:cNvSpPr>
            <a:spLocks noGrp="1"/>
          </p:cNvSpPr>
          <p:nvPr>
            <p:ph type="body" idx="10"/>
          </p:nvPr>
        </p:nvSpPr>
        <p:spPr/>
        <p:txBody>
          <a:bodyPr/>
          <a:lstStyle/>
          <a:p>
            <a:r>
              <a:rPr lang="en-US" dirty="0"/>
              <a:t>04.07.2026</a:t>
            </a:r>
          </a:p>
        </p:txBody>
      </p:sp>
    </p:spTree>
    <p:extLst>
      <p:ext uri="{BB962C8B-B14F-4D97-AF65-F5344CB8AC3E}">
        <p14:creationId xmlns:p14="http://schemas.microsoft.com/office/powerpoint/2010/main" val="5843337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A43D0-E993-0F54-3153-D70DD031B8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C8601-E01A-F072-1140-1C47064EB4A7}"/>
              </a:ext>
            </a:extLst>
          </p:cNvPr>
          <p:cNvSpPr>
            <a:spLocks noGrp="1"/>
          </p:cNvSpPr>
          <p:nvPr>
            <p:ph type="title"/>
          </p:nvPr>
        </p:nvSpPr>
        <p:spPr>
          <a:xfrm>
            <a:off x="600290" y="685800"/>
            <a:ext cx="8661354" cy="1185041"/>
          </a:xfrm>
        </p:spPr>
        <p:txBody>
          <a:bodyPr anchor="b">
            <a:normAutofit fontScale="90000"/>
          </a:bodyPr>
          <a:lstStyle/>
          <a:p>
            <a:r>
              <a:rPr lang="en-US" dirty="0"/>
              <a:t>The Agenda</a:t>
            </a:r>
          </a:p>
        </p:txBody>
      </p:sp>
      <p:sp>
        <p:nvSpPr>
          <p:cNvPr id="3" name="Text Placeholder 2">
            <a:extLst>
              <a:ext uri="{FF2B5EF4-FFF2-40B4-BE49-F238E27FC236}">
                <a16:creationId xmlns:a16="http://schemas.microsoft.com/office/drawing/2014/main" id="{99A9433B-2F82-3DD9-2D10-4DC03133FA45}"/>
              </a:ext>
            </a:extLst>
          </p:cNvPr>
          <p:cNvSpPr>
            <a:spLocks noGrp="1"/>
          </p:cNvSpPr>
          <p:nvPr>
            <p:ph type="body" idx="1"/>
          </p:nvPr>
        </p:nvSpPr>
        <p:spPr>
          <a:xfrm>
            <a:off x="600289" y="2060028"/>
            <a:ext cx="8661355" cy="3842927"/>
          </a:xfrm>
        </p:spPr>
        <p:txBody>
          <a:bodyPr>
            <a:normAutofit/>
          </a:bodyPr>
          <a:lstStyle/>
          <a:p>
            <a:pPr marL="342900" indent="-342900">
              <a:buFont typeface="Arial" panose="020B0604020202020204" pitchFamily="34" charset="0"/>
              <a:buChar char="•"/>
            </a:pPr>
            <a:r>
              <a:rPr lang="en-US" sz="2800" dirty="0"/>
              <a:t>Motivation</a:t>
            </a:r>
          </a:p>
          <a:p>
            <a:pPr marL="342900" indent="-342900">
              <a:buFont typeface="Arial" panose="020B0604020202020204" pitchFamily="34" charset="0"/>
              <a:buChar char="•"/>
            </a:pPr>
            <a:r>
              <a:rPr lang="en-US" sz="2800" dirty="0"/>
              <a:t>Existing Works</a:t>
            </a:r>
          </a:p>
          <a:p>
            <a:pPr marL="342900" indent="-342900">
              <a:buFont typeface="Arial" panose="020B0604020202020204" pitchFamily="34" charset="0"/>
              <a:buChar char="•"/>
            </a:pPr>
            <a:r>
              <a:rPr lang="en-US" sz="2800" dirty="0"/>
              <a:t>Methods</a:t>
            </a:r>
          </a:p>
          <a:p>
            <a:pPr marL="342900" indent="-342900">
              <a:buFont typeface="Arial" panose="020B0604020202020204" pitchFamily="34" charset="0"/>
              <a:buChar char="•"/>
            </a:pPr>
            <a:r>
              <a:rPr lang="en-US" sz="2800" dirty="0"/>
              <a:t>Evaluation</a:t>
            </a:r>
          </a:p>
          <a:p>
            <a:pPr marL="342900" indent="-342900">
              <a:buFont typeface="Arial" panose="020B0604020202020204" pitchFamily="34" charset="0"/>
              <a:buChar char="•"/>
            </a:pPr>
            <a:r>
              <a:rPr lang="en-US" sz="2800" dirty="0"/>
              <a:t>Results</a:t>
            </a:r>
          </a:p>
          <a:p>
            <a:pPr marL="342900" indent="-342900">
              <a:buFont typeface="Arial" panose="020B0604020202020204" pitchFamily="34" charset="0"/>
              <a:buChar char="•"/>
            </a:pPr>
            <a:r>
              <a:rPr lang="en-US" sz="2800" dirty="0"/>
              <a:t>Conclusions</a:t>
            </a:r>
          </a:p>
        </p:txBody>
      </p:sp>
    </p:spTree>
    <p:extLst>
      <p:ext uri="{BB962C8B-B14F-4D97-AF65-F5344CB8AC3E}">
        <p14:creationId xmlns:p14="http://schemas.microsoft.com/office/powerpoint/2010/main" val="18664397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193BD-9302-3F71-7044-ECA06413FC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A4FB35A-4AF9-1D46-0DBA-F9BBC130947E}"/>
              </a:ext>
            </a:extLst>
          </p:cNvPr>
          <p:cNvSpPr>
            <a:spLocks noGrp="1"/>
          </p:cNvSpPr>
          <p:nvPr>
            <p:ph type="title"/>
          </p:nvPr>
        </p:nvSpPr>
        <p:spPr/>
        <p:txBody>
          <a:bodyPr/>
          <a:lstStyle/>
          <a:p>
            <a:r>
              <a:rPr lang="en-US" dirty="0"/>
              <a:t>Motivation</a:t>
            </a:r>
          </a:p>
        </p:txBody>
      </p:sp>
      <p:sp>
        <p:nvSpPr>
          <p:cNvPr id="4" name="Slide Number Placeholder 3">
            <a:extLst>
              <a:ext uri="{FF2B5EF4-FFF2-40B4-BE49-F238E27FC236}">
                <a16:creationId xmlns:a16="http://schemas.microsoft.com/office/drawing/2014/main" id="{126F2C29-C663-B29A-9961-628F5792D64B}"/>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3</a:t>
            </a:fld>
            <a:endParaRPr lang="en-US" dirty="0"/>
          </a:p>
        </p:txBody>
      </p:sp>
      <p:pic>
        <p:nvPicPr>
          <p:cNvPr id="12" name="Picture 11" descr="Photo of Social Media applications&#10;Photo by Bastian Riccardi: https://www.pexels.com/photo/close-up-of-a-smartphone-screen-displaying-social-media-app-folder-15406294/">
            <a:extLst>
              <a:ext uri="{FF2B5EF4-FFF2-40B4-BE49-F238E27FC236}">
                <a16:creationId xmlns:a16="http://schemas.microsoft.com/office/drawing/2014/main" id="{DFA61AAE-F31E-44B0-7FD7-3E76EE9C9DCB}"/>
              </a:ext>
            </a:extLst>
          </p:cNvPr>
          <p:cNvPicPr>
            <a:picLocks noChangeAspect="1"/>
          </p:cNvPicPr>
          <p:nvPr/>
        </p:nvPicPr>
        <p:blipFill>
          <a:blip r:embed="rId3"/>
          <a:stretch>
            <a:fillRect/>
          </a:stretch>
        </p:blipFill>
        <p:spPr>
          <a:xfrm>
            <a:off x="609600" y="1683208"/>
            <a:ext cx="7772400" cy="4367348"/>
          </a:xfrm>
          <a:prstGeom prst="rect">
            <a:avLst/>
          </a:prstGeom>
        </p:spPr>
      </p:pic>
      <p:pic>
        <p:nvPicPr>
          <p:cNvPr id="13" name="Picture 12" descr="Photo of Security Camera&#10;Photo by Pixabay: https://www.pexels.com/photo/silver-security-camera-207574/">
            <a:extLst>
              <a:ext uri="{FF2B5EF4-FFF2-40B4-BE49-F238E27FC236}">
                <a16:creationId xmlns:a16="http://schemas.microsoft.com/office/drawing/2014/main" id="{FEF1C3B6-A0B4-FC35-72DA-DB31A3C8D90E}"/>
              </a:ext>
            </a:extLst>
          </p:cNvPr>
          <p:cNvPicPr>
            <a:picLocks noChangeAspect="1"/>
          </p:cNvPicPr>
          <p:nvPr/>
        </p:nvPicPr>
        <p:blipFill rotWithShape="1">
          <a:blip r:embed="rId4"/>
          <a:srcRect l="13779" t="16173" r="14512" b="5930"/>
          <a:stretch>
            <a:fillRect/>
          </a:stretch>
        </p:blipFill>
        <p:spPr>
          <a:xfrm>
            <a:off x="8741695" y="1683208"/>
            <a:ext cx="3104537" cy="2250319"/>
          </a:xfrm>
          <a:prstGeom prst="rect">
            <a:avLst/>
          </a:prstGeom>
        </p:spPr>
      </p:pic>
      <p:pic>
        <p:nvPicPr>
          <p:cNvPr id="1030" name="Picture 6" descr="Chest of police officer in uniform wearing body camera next to police car.">
            <a:extLst>
              <a:ext uri="{FF2B5EF4-FFF2-40B4-BE49-F238E27FC236}">
                <a16:creationId xmlns:a16="http://schemas.microsoft.com/office/drawing/2014/main" id="{2F848FBC-FEDA-E15A-82F3-983F4C8E729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7427" t="9858"/>
          <a:stretch>
            <a:fillRect/>
          </a:stretch>
        </p:blipFill>
        <p:spPr bwMode="auto">
          <a:xfrm>
            <a:off x="8741696" y="3933527"/>
            <a:ext cx="3104537" cy="2169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0383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6416FC-1908-0B28-EA15-7B09B4B834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5C1CDC-BBEF-650D-1052-81D63294370F}"/>
              </a:ext>
            </a:extLst>
          </p:cNvPr>
          <p:cNvSpPr>
            <a:spLocks noGrp="1"/>
          </p:cNvSpPr>
          <p:nvPr>
            <p:ph type="title"/>
          </p:nvPr>
        </p:nvSpPr>
        <p:spPr/>
        <p:txBody>
          <a:bodyPr/>
          <a:lstStyle/>
          <a:p>
            <a:r>
              <a:rPr lang="en-US" dirty="0"/>
              <a:t>Motivation</a:t>
            </a:r>
          </a:p>
        </p:txBody>
      </p:sp>
      <p:sp>
        <p:nvSpPr>
          <p:cNvPr id="4" name="Slide Number Placeholder 3">
            <a:extLst>
              <a:ext uri="{FF2B5EF4-FFF2-40B4-BE49-F238E27FC236}">
                <a16:creationId xmlns:a16="http://schemas.microsoft.com/office/drawing/2014/main" id="{9C6EA257-B84B-E41F-DEB0-1830382C26A1}"/>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4</a:t>
            </a:fld>
            <a:endParaRPr lang="en-US" dirty="0"/>
          </a:p>
        </p:txBody>
      </p:sp>
      <p:pic>
        <p:nvPicPr>
          <p:cNvPr id="5126" name="Picture 6" descr="VLM Capabilities">
            <a:extLst>
              <a:ext uri="{FF2B5EF4-FFF2-40B4-BE49-F238E27FC236}">
                <a16:creationId xmlns:a16="http://schemas.microsoft.com/office/drawing/2014/main" id="{48ED094D-009B-9F54-B80D-55740FDC8A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83" r="1050"/>
          <a:stretch>
            <a:fillRect/>
          </a:stretch>
        </p:blipFill>
        <p:spPr bwMode="auto">
          <a:xfrm>
            <a:off x="536028" y="1620371"/>
            <a:ext cx="7010400" cy="4130566"/>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Examples of temporal video grounding. The goal of temporal video... |  Download Scientific Diagram">
            <a:extLst>
              <a:ext uri="{FF2B5EF4-FFF2-40B4-BE49-F238E27FC236}">
                <a16:creationId xmlns:a16="http://schemas.microsoft.com/office/drawing/2014/main" id="{6C4427ED-FA34-97CD-7406-967313DD3B9F}"/>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130" name="Picture 10" descr="Examples of temporal video grounding. The goal of temporal video... |  Download Scientific Diagram">
            <a:extLst>
              <a:ext uri="{FF2B5EF4-FFF2-40B4-BE49-F238E27FC236}">
                <a16:creationId xmlns:a16="http://schemas.microsoft.com/office/drawing/2014/main" id="{E2645153-E27D-5569-B61E-CEDFC652001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66" t="1922" r="2950" b="1968"/>
          <a:stretch>
            <a:fillRect/>
          </a:stretch>
        </p:blipFill>
        <p:spPr bwMode="auto">
          <a:xfrm>
            <a:off x="7651531" y="1761371"/>
            <a:ext cx="4453338" cy="3848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58846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99B5D-6FA7-0553-A958-664040DF3D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342C4A-BB57-9371-071E-165D6E963B7F}"/>
              </a:ext>
            </a:extLst>
          </p:cNvPr>
          <p:cNvSpPr>
            <a:spLocks noGrp="1"/>
          </p:cNvSpPr>
          <p:nvPr>
            <p:ph type="title"/>
          </p:nvPr>
        </p:nvSpPr>
        <p:spPr/>
        <p:txBody>
          <a:bodyPr/>
          <a:lstStyle/>
          <a:p>
            <a:r>
              <a:rPr lang="en-US" dirty="0"/>
              <a:t>What about Existing Benchmarks?</a:t>
            </a:r>
          </a:p>
        </p:txBody>
      </p:sp>
      <p:sp>
        <p:nvSpPr>
          <p:cNvPr id="4" name="Slide Number Placeholder 3">
            <a:extLst>
              <a:ext uri="{FF2B5EF4-FFF2-40B4-BE49-F238E27FC236}">
                <a16:creationId xmlns:a16="http://schemas.microsoft.com/office/drawing/2014/main" id="{D0EFC590-794F-AA3D-84D8-E07D7D048D80}"/>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5</a:t>
            </a:fld>
            <a:endParaRPr lang="en-US" dirty="0"/>
          </a:p>
        </p:txBody>
      </p:sp>
      <p:pic>
        <p:nvPicPr>
          <p:cNvPr id="6148" name="Picture 4">
            <a:extLst>
              <a:ext uri="{FF2B5EF4-FFF2-40B4-BE49-F238E27FC236}">
                <a16:creationId xmlns:a16="http://schemas.microsoft.com/office/drawing/2014/main" id="{BEA1EEE5-784E-CE88-AE6F-CD19D61D232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19451"/>
          <a:stretch>
            <a:fillRect/>
          </a:stretch>
        </p:blipFill>
        <p:spPr bwMode="auto">
          <a:xfrm>
            <a:off x="2214568" y="4645341"/>
            <a:ext cx="7481452" cy="1602288"/>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Lost in Time: A New Temporal Benchmark for Video LLMs">
            <a:extLst>
              <a:ext uri="{FF2B5EF4-FFF2-40B4-BE49-F238E27FC236}">
                <a16:creationId xmlns:a16="http://schemas.microsoft.com/office/drawing/2014/main" id="{549FBE8B-8338-3CB3-99E8-8DF4E58D9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5457" y="1576128"/>
            <a:ext cx="8759675" cy="27636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2866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EDA378-2AF5-87F4-6C4E-FE4DD38D53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11D094-A3E9-109F-6578-A858B905C1D0}"/>
              </a:ext>
            </a:extLst>
          </p:cNvPr>
          <p:cNvSpPr>
            <a:spLocks noGrp="1"/>
          </p:cNvSpPr>
          <p:nvPr>
            <p:ph type="title"/>
          </p:nvPr>
        </p:nvSpPr>
        <p:spPr/>
        <p:txBody>
          <a:bodyPr/>
          <a:lstStyle/>
          <a:p>
            <a:r>
              <a:rPr lang="en-US" dirty="0"/>
              <a:t>What about Existing Benchmarks?</a:t>
            </a:r>
          </a:p>
        </p:txBody>
      </p:sp>
      <p:sp>
        <p:nvSpPr>
          <p:cNvPr id="4" name="Slide Number Placeholder 3">
            <a:extLst>
              <a:ext uri="{FF2B5EF4-FFF2-40B4-BE49-F238E27FC236}">
                <a16:creationId xmlns:a16="http://schemas.microsoft.com/office/drawing/2014/main" id="{CCE3312B-C594-3D46-52FA-3E8BE71BF5C7}"/>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6</a:t>
            </a:fld>
            <a:endParaRPr lang="en-US" dirty="0"/>
          </a:p>
        </p:txBody>
      </p:sp>
      <p:pic>
        <p:nvPicPr>
          <p:cNvPr id="7170" name="Picture 2">
            <a:extLst>
              <a:ext uri="{FF2B5EF4-FFF2-40B4-BE49-F238E27FC236}">
                <a16:creationId xmlns:a16="http://schemas.microsoft.com/office/drawing/2014/main" id="{33E860F0-C80C-A7E1-D816-EDE04CD997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50739"/>
          <a:stretch>
            <a:fillRect/>
          </a:stretch>
        </p:blipFill>
        <p:spPr bwMode="auto">
          <a:xfrm>
            <a:off x="688899" y="1566055"/>
            <a:ext cx="9592170" cy="45614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9297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64F02C-BC89-FE90-1A2D-3BB957AB0A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0B789F-7D34-5E7B-834A-C379D6BDD5C7}"/>
              </a:ext>
            </a:extLst>
          </p:cNvPr>
          <p:cNvSpPr>
            <a:spLocks noGrp="1"/>
          </p:cNvSpPr>
          <p:nvPr>
            <p:ph type="title"/>
          </p:nvPr>
        </p:nvSpPr>
        <p:spPr/>
        <p:txBody>
          <a:bodyPr/>
          <a:lstStyle/>
          <a:p>
            <a:r>
              <a:rPr lang="en-US" dirty="0"/>
              <a:t>What about Existing Benchmarks?</a:t>
            </a:r>
          </a:p>
        </p:txBody>
      </p:sp>
      <p:sp>
        <p:nvSpPr>
          <p:cNvPr id="4" name="Slide Number Placeholder 3">
            <a:extLst>
              <a:ext uri="{FF2B5EF4-FFF2-40B4-BE49-F238E27FC236}">
                <a16:creationId xmlns:a16="http://schemas.microsoft.com/office/drawing/2014/main" id="{105F4A01-B1C5-7CA8-255C-0E3A5B1F5D8F}"/>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7</a:t>
            </a:fld>
            <a:endParaRPr lang="en-US" dirty="0"/>
          </a:p>
        </p:txBody>
      </p:sp>
      <p:pic>
        <p:nvPicPr>
          <p:cNvPr id="11" name="Picture 10">
            <a:extLst>
              <a:ext uri="{FF2B5EF4-FFF2-40B4-BE49-F238E27FC236}">
                <a16:creationId xmlns:a16="http://schemas.microsoft.com/office/drawing/2014/main" id="{E9408221-2B7F-B27F-A5B3-D05DDF5E3178}"/>
              </a:ext>
            </a:extLst>
          </p:cNvPr>
          <p:cNvPicPr>
            <a:picLocks noChangeAspect="1"/>
          </p:cNvPicPr>
          <p:nvPr/>
        </p:nvPicPr>
        <p:blipFill>
          <a:blip r:embed="rId3"/>
          <a:stretch>
            <a:fillRect/>
          </a:stretch>
        </p:blipFill>
        <p:spPr>
          <a:xfrm>
            <a:off x="1250731" y="1543059"/>
            <a:ext cx="9690538" cy="4845269"/>
          </a:xfrm>
          <a:prstGeom prst="rect">
            <a:avLst/>
          </a:prstGeom>
        </p:spPr>
      </p:pic>
    </p:spTree>
    <p:extLst>
      <p:ext uri="{BB962C8B-B14F-4D97-AF65-F5344CB8AC3E}">
        <p14:creationId xmlns:p14="http://schemas.microsoft.com/office/powerpoint/2010/main" val="26214006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DEEC41-1EE4-652C-5C15-17769B5D0BD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0F4B479-F6E8-C33F-ED7A-67B0E888D985}"/>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8</a:t>
            </a:fld>
            <a:endParaRPr lang="en-US" dirty="0"/>
          </a:p>
        </p:txBody>
      </p:sp>
      <p:sp>
        <p:nvSpPr>
          <p:cNvPr id="5" name="Title 1">
            <a:extLst>
              <a:ext uri="{FF2B5EF4-FFF2-40B4-BE49-F238E27FC236}">
                <a16:creationId xmlns:a16="http://schemas.microsoft.com/office/drawing/2014/main" id="{392C6E95-BB5B-0824-5BD1-FA2AC3D6CC2B}"/>
              </a:ext>
            </a:extLst>
          </p:cNvPr>
          <p:cNvSpPr txBox="1">
            <a:spLocks/>
          </p:cNvSpPr>
          <p:nvPr/>
        </p:nvSpPr>
        <p:spPr>
          <a:xfrm>
            <a:off x="2423434" y="552506"/>
            <a:ext cx="9136481" cy="1836590"/>
          </a:xfrm>
          <a:prstGeom prst="rect">
            <a:avLst/>
          </a:prstGeom>
        </p:spPr>
        <p:txBody>
          <a:bodyPr vert="horz" lIns="91440" tIns="45720" rIns="91440" bIns="45720" rtlCol="0" anchor="ctr">
            <a:normAutofit/>
          </a:bodyPr>
          <a:lstStyle>
            <a:lvl1pPr algn="l" defTabSz="914400" rtl="0" eaLnBrk="1" fontAlgn="base" latinLnBrk="0" hangingPunct="1">
              <a:lnSpc>
                <a:spcPct val="100000"/>
              </a:lnSpc>
              <a:spcBef>
                <a:spcPct val="0"/>
              </a:spcBef>
              <a:buNone/>
              <a:defRPr sz="6000" b="1" kern="1200" cap="none" spc="0" baseline="0">
                <a:solidFill>
                  <a:schemeClr val="tx1"/>
                </a:solidFill>
                <a:latin typeface="+mj-lt"/>
                <a:ea typeface="+mj-ea"/>
                <a:cs typeface="+mj-cs"/>
              </a:defRPr>
            </a:lvl1pPr>
          </a:lstStyle>
          <a:p>
            <a:r>
              <a:rPr lang="en-US" sz="9600" dirty="0" err="1"/>
              <a:t>ChronoQA</a:t>
            </a:r>
            <a:endParaRPr lang="en-US" dirty="0"/>
          </a:p>
        </p:txBody>
      </p:sp>
      <p:sp>
        <p:nvSpPr>
          <p:cNvPr id="6" name="Text Placeholder 3">
            <a:extLst>
              <a:ext uri="{FF2B5EF4-FFF2-40B4-BE49-F238E27FC236}">
                <a16:creationId xmlns:a16="http://schemas.microsoft.com/office/drawing/2014/main" id="{9A69248F-8CF5-A64F-3726-D596B305183B}"/>
              </a:ext>
            </a:extLst>
          </p:cNvPr>
          <p:cNvSpPr txBox="1">
            <a:spLocks/>
          </p:cNvSpPr>
          <p:nvPr/>
        </p:nvSpPr>
        <p:spPr>
          <a:xfrm>
            <a:off x="2468990" y="2206216"/>
            <a:ext cx="9111758" cy="365760"/>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Clr>
                <a:schemeClr val="accent1"/>
              </a:buClr>
              <a:buFont typeface="Arial" panose="020B0604020202020204" pitchFamily="34" charset="0"/>
              <a:buNone/>
              <a:tabLst/>
              <a:defRPr sz="1800" b="1" kern="1200" cap="all" spc="170" baseline="0">
                <a:solidFill>
                  <a:schemeClr val="accent1"/>
                </a:solidFill>
                <a:latin typeface="+mn-lt"/>
                <a:ea typeface="+mn-ea"/>
                <a:cs typeface="+mn-cs"/>
              </a:defRPr>
            </a:lvl1pPr>
            <a:lvl2pPr marL="687388" indent="-230188" algn="l" defTabSz="914400" rtl="0" eaLnBrk="1" latinLnBrk="0" hangingPunct="1">
              <a:lnSpc>
                <a:spcPct val="90000"/>
              </a:lnSpc>
              <a:spcBef>
                <a:spcPts val="500"/>
              </a:spcBef>
              <a:buClr>
                <a:schemeClr val="accent1"/>
              </a:buClr>
              <a:buFont typeface="Arial" panose="020B0604020202020204" pitchFamily="34" charset="0"/>
              <a:buChar char="•"/>
              <a:tabLst/>
              <a:defRPr sz="2400" kern="1200">
                <a:solidFill>
                  <a:schemeClr val="tx1"/>
                </a:solidFill>
                <a:latin typeface="+mn-lt"/>
                <a:ea typeface="+mn-ea"/>
                <a:cs typeface="+mn-cs"/>
              </a:defRPr>
            </a:lvl2pPr>
            <a:lvl3pPr marL="1149350" indent="-234950" algn="l" defTabSz="914400" rtl="0" eaLnBrk="1" latinLnBrk="0" hangingPunct="1">
              <a:lnSpc>
                <a:spcPct val="90000"/>
              </a:lnSpc>
              <a:spcBef>
                <a:spcPts val="500"/>
              </a:spcBef>
              <a:buClr>
                <a:schemeClr val="accent1"/>
              </a:buClr>
              <a:buFont typeface="Arial" panose="020B0604020202020204" pitchFamily="34" charset="0"/>
              <a:buChar char="•"/>
              <a:tabLst/>
              <a:defRPr sz="2000" kern="1200">
                <a:solidFill>
                  <a:schemeClr val="tx1"/>
                </a:solidFill>
                <a:latin typeface="+mn-lt"/>
                <a:ea typeface="+mn-ea"/>
                <a:cs typeface="+mn-cs"/>
              </a:defRPr>
            </a:lvl3pPr>
            <a:lvl4pPr marL="1603375" indent="-231775"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tabLst/>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dirty="0"/>
              <a:t>A BENCHMARK TO ASSESS VLM TEMPORAL GROUNDING</a:t>
            </a:r>
          </a:p>
        </p:txBody>
      </p:sp>
      <p:sp>
        <p:nvSpPr>
          <p:cNvPr id="7" name="TextBox 6">
            <a:extLst>
              <a:ext uri="{FF2B5EF4-FFF2-40B4-BE49-F238E27FC236}">
                <a16:creationId xmlns:a16="http://schemas.microsoft.com/office/drawing/2014/main" id="{A034B111-6EAC-768E-FF74-B353C8382554}"/>
              </a:ext>
            </a:extLst>
          </p:cNvPr>
          <p:cNvSpPr txBox="1"/>
          <p:nvPr/>
        </p:nvSpPr>
        <p:spPr>
          <a:xfrm>
            <a:off x="2448156" y="2654809"/>
            <a:ext cx="3479678" cy="3785652"/>
          </a:xfrm>
          <a:prstGeom prst="rect">
            <a:avLst/>
          </a:prstGeom>
          <a:noFill/>
        </p:spPr>
        <p:txBody>
          <a:bodyPr wrap="square" rtlCol="0">
            <a:spAutoFit/>
          </a:bodyPr>
          <a:lstStyle/>
          <a:p>
            <a:pPr marL="285750" indent="-285750">
              <a:buFont typeface="Arial" panose="020B0604020202020204" pitchFamily="34" charset="0"/>
              <a:buChar char="•"/>
            </a:pPr>
            <a:r>
              <a:rPr lang="en-US" sz="2000" dirty="0"/>
              <a:t>423 long-form YouTube videos (10–90 minute)</a:t>
            </a:r>
          </a:p>
          <a:p>
            <a:pPr marL="742950" lvl="1" indent="-285750">
              <a:buFont typeface="Arial" panose="020B0604020202020204" pitchFamily="34" charset="0"/>
              <a:buChar char="•"/>
            </a:pPr>
            <a:r>
              <a:rPr lang="en-US" sz="2000" dirty="0"/>
              <a:t>Median: 25 min</a:t>
            </a:r>
          </a:p>
          <a:p>
            <a:pPr marL="742950" lvl="1" indent="-285750">
              <a:buFont typeface="Arial" panose="020B0604020202020204" pitchFamily="34" charset="0"/>
              <a:buChar char="•"/>
            </a:pPr>
            <a:r>
              <a:rPr lang="en-US" sz="2000" dirty="0"/>
              <a:t>Mean: 35 min</a:t>
            </a:r>
          </a:p>
          <a:p>
            <a:pPr marL="285750" indent="-285750">
              <a:buFont typeface="Arial" panose="020B0604020202020204" pitchFamily="34" charset="0"/>
              <a:buChar char="•"/>
            </a:pPr>
            <a:r>
              <a:rPr lang="en-US" sz="2000" dirty="0"/>
              <a:t>897 timestamp-anchored, five-option MCQ pairs</a:t>
            </a:r>
          </a:p>
          <a:p>
            <a:pPr marL="285750" indent="-285750">
              <a:buFont typeface="Arial" panose="020B0604020202020204" pitchFamily="34" charset="0"/>
              <a:buChar char="•"/>
            </a:pPr>
            <a:r>
              <a:rPr lang="en-US" sz="2000" dirty="0"/>
              <a:t>Text-only solvability constrained to 17.8%, near the 20% random baseline</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endParaRPr lang="en-US" sz="2000" dirty="0"/>
          </a:p>
        </p:txBody>
      </p:sp>
      <p:pic>
        <p:nvPicPr>
          <p:cNvPr id="4" name="Picture 3">
            <a:extLst>
              <a:ext uri="{FF2B5EF4-FFF2-40B4-BE49-F238E27FC236}">
                <a16:creationId xmlns:a16="http://schemas.microsoft.com/office/drawing/2014/main" id="{F6B6A442-2E02-D503-819F-60B0514B957C}"/>
              </a:ext>
            </a:extLst>
          </p:cNvPr>
          <p:cNvPicPr>
            <a:picLocks noChangeAspect="1"/>
          </p:cNvPicPr>
          <p:nvPr/>
        </p:nvPicPr>
        <p:blipFill>
          <a:blip r:embed="rId2"/>
          <a:stretch>
            <a:fillRect/>
          </a:stretch>
        </p:blipFill>
        <p:spPr>
          <a:xfrm>
            <a:off x="5892800" y="2571976"/>
            <a:ext cx="6299200" cy="3543300"/>
          </a:xfrm>
          <a:prstGeom prst="rect">
            <a:avLst/>
          </a:prstGeom>
        </p:spPr>
      </p:pic>
    </p:spTree>
    <p:extLst>
      <p:ext uri="{BB962C8B-B14F-4D97-AF65-F5344CB8AC3E}">
        <p14:creationId xmlns:p14="http://schemas.microsoft.com/office/powerpoint/2010/main" val="2371719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04891-0F3C-1E11-41F0-267B522860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E4EA08-BA74-ABB6-2CD7-0C92945FBB5E}"/>
              </a:ext>
            </a:extLst>
          </p:cNvPr>
          <p:cNvSpPr>
            <a:spLocks noGrp="1"/>
          </p:cNvSpPr>
          <p:nvPr>
            <p:ph type="title"/>
          </p:nvPr>
        </p:nvSpPr>
        <p:spPr>
          <a:xfrm>
            <a:off x="603503" y="1858613"/>
            <a:ext cx="4935449" cy="3633216"/>
          </a:xfrm>
        </p:spPr>
        <p:txBody>
          <a:bodyPr>
            <a:normAutofit/>
          </a:bodyPr>
          <a:lstStyle/>
          <a:p>
            <a:r>
              <a:rPr lang="en-US" sz="6000" dirty="0"/>
              <a:t>Constructing</a:t>
            </a:r>
            <a:br>
              <a:rPr lang="en-US" sz="6000" dirty="0"/>
            </a:br>
            <a:r>
              <a:rPr lang="en-US" sz="6000" dirty="0" err="1"/>
              <a:t>ChronoQA</a:t>
            </a:r>
            <a:endParaRPr lang="en-US" sz="6000" dirty="0"/>
          </a:p>
        </p:txBody>
      </p:sp>
      <p:sp>
        <p:nvSpPr>
          <p:cNvPr id="3" name="Slide Number Placeholder 2">
            <a:extLst>
              <a:ext uri="{FF2B5EF4-FFF2-40B4-BE49-F238E27FC236}">
                <a16:creationId xmlns:a16="http://schemas.microsoft.com/office/drawing/2014/main" id="{BE4EAC17-C1CB-6D5A-3C65-708510E3B464}"/>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9</a:t>
            </a:fld>
            <a:endParaRPr lang="en-US" dirty="0"/>
          </a:p>
        </p:txBody>
      </p:sp>
      <p:pic>
        <p:nvPicPr>
          <p:cNvPr id="6" name="Picture 5">
            <a:extLst>
              <a:ext uri="{FF2B5EF4-FFF2-40B4-BE49-F238E27FC236}">
                <a16:creationId xmlns:a16="http://schemas.microsoft.com/office/drawing/2014/main" id="{886A90B6-9FBC-1332-30E4-A370965E3923}"/>
              </a:ext>
            </a:extLst>
          </p:cNvPr>
          <p:cNvPicPr>
            <a:picLocks noChangeAspect="1"/>
          </p:cNvPicPr>
          <p:nvPr/>
        </p:nvPicPr>
        <p:blipFill>
          <a:blip r:embed="rId3"/>
          <a:stretch>
            <a:fillRect/>
          </a:stretch>
        </p:blipFill>
        <p:spPr>
          <a:xfrm>
            <a:off x="5538952" y="821216"/>
            <a:ext cx="6485376" cy="5007541"/>
          </a:xfrm>
          <a:prstGeom prst="rect">
            <a:avLst/>
          </a:prstGeom>
        </p:spPr>
      </p:pic>
    </p:spTree>
    <p:extLst>
      <p:ext uri="{BB962C8B-B14F-4D97-AF65-F5344CB8AC3E}">
        <p14:creationId xmlns:p14="http://schemas.microsoft.com/office/powerpoint/2010/main" val="2391196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EDA92-C0C0-1968-299D-EEBE28153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7605D5-5BD1-31D3-35B2-E7187CA309B4}"/>
              </a:ext>
            </a:extLst>
          </p:cNvPr>
          <p:cNvSpPr>
            <a:spLocks noGrp="1"/>
          </p:cNvSpPr>
          <p:nvPr>
            <p:ph type="title"/>
          </p:nvPr>
        </p:nvSpPr>
        <p:spPr/>
        <p:txBody>
          <a:bodyPr/>
          <a:lstStyle/>
          <a:p>
            <a:r>
              <a:rPr lang="en-US" dirty="0"/>
              <a:t>Video Sourcing</a:t>
            </a:r>
          </a:p>
        </p:txBody>
      </p:sp>
      <p:sp>
        <p:nvSpPr>
          <p:cNvPr id="3" name="Content Placeholder 2">
            <a:extLst>
              <a:ext uri="{FF2B5EF4-FFF2-40B4-BE49-F238E27FC236}">
                <a16:creationId xmlns:a16="http://schemas.microsoft.com/office/drawing/2014/main" id="{E15D7984-DEDA-B3B8-306C-391499D08B14}"/>
              </a:ext>
            </a:extLst>
          </p:cNvPr>
          <p:cNvSpPr>
            <a:spLocks noGrp="1"/>
          </p:cNvSpPr>
          <p:nvPr>
            <p:ph sz="quarter" idx="11"/>
          </p:nvPr>
        </p:nvSpPr>
        <p:spPr>
          <a:xfrm>
            <a:off x="619201" y="1810318"/>
            <a:ext cx="8361984" cy="4231893"/>
          </a:xfrm>
        </p:spPr>
        <p:txBody>
          <a:bodyPr>
            <a:normAutofit/>
          </a:bodyPr>
          <a:lstStyle/>
          <a:p>
            <a:pPr>
              <a:buFontTx/>
              <a:buChar char="-"/>
            </a:pPr>
            <a:r>
              <a:rPr lang="en-US" dirty="0"/>
              <a:t>Initial YouTube video scraping using varied search-terms for content category diversity</a:t>
            </a:r>
          </a:p>
          <a:p>
            <a:pPr lvl="1">
              <a:buFontTx/>
              <a:buChar char="-"/>
            </a:pPr>
            <a:r>
              <a:rPr lang="en-US" dirty="0"/>
              <a:t>Results in 90,000+ candidate videos</a:t>
            </a:r>
          </a:p>
          <a:p>
            <a:pPr lvl="1">
              <a:buFontTx/>
              <a:buChar char="-"/>
            </a:pPr>
            <a:r>
              <a:rPr lang="en-US" dirty="0"/>
              <a:t>Filter by duration (10-90 minutes), content type (varied), and licensing </a:t>
            </a:r>
          </a:p>
          <a:p>
            <a:pPr>
              <a:buFontTx/>
              <a:buChar char="-"/>
            </a:pPr>
            <a:r>
              <a:rPr lang="en-US" dirty="0"/>
              <a:t>Separated into two tiers</a:t>
            </a:r>
          </a:p>
          <a:p>
            <a:pPr lvl="1">
              <a:buFontTx/>
              <a:buChar char="-"/>
            </a:pPr>
            <a:r>
              <a:rPr lang="en-US" dirty="0"/>
              <a:t>Top 30,000 (Longest Videos by Duration)</a:t>
            </a:r>
          </a:p>
          <a:p>
            <a:pPr lvl="1">
              <a:buFontTx/>
              <a:buChar char="-"/>
            </a:pPr>
            <a:r>
              <a:rPr lang="en-US" dirty="0"/>
              <a:t>Remaining 60,000</a:t>
            </a:r>
            <a:endParaRPr lang="en-US" dirty="0">
              <a:solidFill>
                <a:srgbClr val="FF0000"/>
              </a:solidFill>
            </a:endParaRPr>
          </a:p>
          <a:p>
            <a:pPr lvl="2">
              <a:buFontTx/>
              <a:buChar char="-"/>
            </a:pPr>
            <a:endParaRPr lang="en-US" dirty="0"/>
          </a:p>
        </p:txBody>
      </p:sp>
      <p:sp>
        <p:nvSpPr>
          <p:cNvPr id="4" name="Slide Number Placeholder 3">
            <a:extLst>
              <a:ext uri="{FF2B5EF4-FFF2-40B4-BE49-F238E27FC236}">
                <a16:creationId xmlns:a16="http://schemas.microsoft.com/office/drawing/2014/main" id="{6F2DC90D-7F00-357A-6968-7C1473629484}"/>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10</a:t>
            </a:fld>
            <a:endParaRPr lang="en-US" dirty="0"/>
          </a:p>
        </p:txBody>
      </p:sp>
    </p:spTree>
    <p:extLst>
      <p:ext uri="{BB962C8B-B14F-4D97-AF65-F5344CB8AC3E}">
        <p14:creationId xmlns:p14="http://schemas.microsoft.com/office/powerpoint/2010/main" val="158929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42E13E-CB48-4B2F-4E59-669F3C8C521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008122-9E6B-2C72-AC7A-CC746CBEBEEA}"/>
              </a:ext>
            </a:extLst>
          </p:cNvPr>
          <p:cNvSpPr>
            <a:spLocks noGrp="1"/>
          </p:cNvSpPr>
          <p:nvPr>
            <p:ph sz="quarter" idx="11"/>
          </p:nvPr>
        </p:nvSpPr>
        <p:spPr>
          <a:xfrm>
            <a:off x="619201" y="1810318"/>
            <a:ext cx="8361984" cy="4231893"/>
          </a:xfrm>
        </p:spPr>
        <p:txBody>
          <a:bodyPr>
            <a:normAutofit/>
          </a:bodyPr>
          <a:lstStyle/>
          <a:p>
            <a:pPr>
              <a:buFontTx/>
              <a:buChar char="-"/>
            </a:pPr>
            <a:r>
              <a:rPr lang="en-US" dirty="0"/>
              <a:t>Need sufficient temporal dynamics for meaningful reasoning</a:t>
            </a:r>
          </a:p>
          <a:p>
            <a:pPr>
              <a:buFontTx/>
              <a:buChar char="-"/>
            </a:pPr>
            <a:r>
              <a:rPr lang="en-US" dirty="0"/>
              <a:t>Apply visual diversity filter with a delta score derived from CLIP embeddings (quantifies visual variance)</a:t>
            </a:r>
          </a:p>
          <a:p>
            <a:pPr>
              <a:buFontTx/>
              <a:buChar char="-"/>
            </a:pPr>
            <a:r>
              <a:rPr lang="en-US" dirty="0"/>
              <a:t>Use score to exclude visually static/stagnant videos from each collection</a:t>
            </a:r>
          </a:p>
          <a:p>
            <a:pPr fontAlgn="base"/>
            <a:r>
              <a:rPr lang="en-US" dirty="0"/>
              <a:t>Left with 26,959 videos in the first collection and 13,544 videos in the second</a:t>
            </a:r>
          </a:p>
          <a:p>
            <a:pPr>
              <a:buFontTx/>
              <a:buChar char="-"/>
            </a:pPr>
            <a:endParaRPr lang="en-US" dirty="0"/>
          </a:p>
          <a:p>
            <a:pPr>
              <a:buFontTx/>
              <a:buChar char="-"/>
            </a:pPr>
            <a:endParaRPr lang="en-US" dirty="0"/>
          </a:p>
          <a:p>
            <a:pPr>
              <a:buFontTx/>
              <a:buChar char="-"/>
            </a:pPr>
            <a:endParaRPr lang="en-US" dirty="0"/>
          </a:p>
        </p:txBody>
      </p:sp>
      <p:sp>
        <p:nvSpPr>
          <p:cNvPr id="4" name="Slide Number Placeholder 3">
            <a:extLst>
              <a:ext uri="{FF2B5EF4-FFF2-40B4-BE49-F238E27FC236}">
                <a16:creationId xmlns:a16="http://schemas.microsoft.com/office/drawing/2014/main" id="{906D79E4-432A-A7EF-B1CB-4B21FF7F11EC}"/>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11</a:t>
            </a:fld>
            <a:endParaRPr lang="en-US" dirty="0"/>
          </a:p>
        </p:txBody>
      </p:sp>
      <p:sp>
        <p:nvSpPr>
          <p:cNvPr id="12" name="Title 1">
            <a:extLst>
              <a:ext uri="{FF2B5EF4-FFF2-40B4-BE49-F238E27FC236}">
                <a16:creationId xmlns:a16="http://schemas.microsoft.com/office/drawing/2014/main" id="{55216B00-AA4B-87B2-2502-879379D7A6BC}"/>
              </a:ext>
            </a:extLst>
          </p:cNvPr>
          <p:cNvSpPr>
            <a:spLocks noGrp="1"/>
          </p:cNvSpPr>
          <p:nvPr>
            <p:ph type="title"/>
          </p:nvPr>
        </p:nvSpPr>
        <p:spPr>
          <a:xfrm>
            <a:off x="619200" y="342900"/>
            <a:ext cx="8361984" cy="640080"/>
          </a:xfrm>
        </p:spPr>
        <p:txBody>
          <a:bodyPr/>
          <a:lstStyle/>
          <a:p>
            <a:r>
              <a:rPr lang="en-US" dirty="0"/>
              <a:t>Video Sourcing</a:t>
            </a:r>
          </a:p>
        </p:txBody>
      </p:sp>
    </p:spTree>
    <p:extLst>
      <p:ext uri="{BB962C8B-B14F-4D97-AF65-F5344CB8AC3E}">
        <p14:creationId xmlns:p14="http://schemas.microsoft.com/office/powerpoint/2010/main" val="23564723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C16CD3-1B79-15B8-6C85-FC80D8911E3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E9A219-050C-C28E-5787-F1CDFF586790}"/>
              </a:ext>
            </a:extLst>
          </p:cNvPr>
          <p:cNvSpPr>
            <a:spLocks noGrp="1"/>
          </p:cNvSpPr>
          <p:nvPr>
            <p:ph sz="quarter" idx="11"/>
          </p:nvPr>
        </p:nvSpPr>
        <p:spPr>
          <a:xfrm>
            <a:off x="619201" y="1810318"/>
            <a:ext cx="9152328" cy="4231893"/>
          </a:xfrm>
        </p:spPr>
        <p:txBody>
          <a:bodyPr>
            <a:normAutofit/>
          </a:bodyPr>
          <a:lstStyle/>
          <a:p>
            <a:pPr>
              <a:buFontTx/>
              <a:buChar char="-"/>
            </a:pPr>
            <a:r>
              <a:rPr lang="en-US" dirty="0"/>
              <a:t>Random sample of 250 videos from each collection</a:t>
            </a:r>
          </a:p>
        </p:txBody>
      </p:sp>
      <p:sp>
        <p:nvSpPr>
          <p:cNvPr id="4" name="Slide Number Placeholder 3">
            <a:extLst>
              <a:ext uri="{FF2B5EF4-FFF2-40B4-BE49-F238E27FC236}">
                <a16:creationId xmlns:a16="http://schemas.microsoft.com/office/drawing/2014/main" id="{12D9EE75-CB8E-7878-28A1-8082A93330E4}"/>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12</a:t>
            </a:fld>
            <a:endParaRPr lang="en-US" dirty="0"/>
          </a:p>
        </p:txBody>
      </p:sp>
      <p:pic>
        <p:nvPicPr>
          <p:cNvPr id="7" name="Picture 6">
            <a:extLst>
              <a:ext uri="{FF2B5EF4-FFF2-40B4-BE49-F238E27FC236}">
                <a16:creationId xmlns:a16="http://schemas.microsoft.com/office/drawing/2014/main" id="{FE28C358-F214-77AA-C5E8-76CAF3E0971F}"/>
              </a:ext>
            </a:extLst>
          </p:cNvPr>
          <p:cNvPicPr>
            <a:picLocks noChangeAspect="1"/>
          </p:cNvPicPr>
          <p:nvPr/>
        </p:nvPicPr>
        <p:blipFill>
          <a:blip r:embed="rId3"/>
          <a:stretch>
            <a:fillRect/>
          </a:stretch>
        </p:blipFill>
        <p:spPr>
          <a:xfrm>
            <a:off x="609600" y="2445950"/>
            <a:ext cx="9161929" cy="3942378"/>
          </a:xfrm>
          <a:prstGeom prst="rect">
            <a:avLst/>
          </a:prstGeom>
        </p:spPr>
      </p:pic>
      <p:sp>
        <p:nvSpPr>
          <p:cNvPr id="10" name="Title 1">
            <a:extLst>
              <a:ext uri="{FF2B5EF4-FFF2-40B4-BE49-F238E27FC236}">
                <a16:creationId xmlns:a16="http://schemas.microsoft.com/office/drawing/2014/main" id="{4BEBFCC4-F56A-6836-BA89-8ED5438FCC40}"/>
              </a:ext>
            </a:extLst>
          </p:cNvPr>
          <p:cNvSpPr>
            <a:spLocks noGrp="1"/>
          </p:cNvSpPr>
          <p:nvPr>
            <p:ph type="title"/>
          </p:nvPr>
        </p:nvSpPr>
        <p:spPr/>
        <p:txBody>
          <a:bodyPr/>
          <a:lstStyle/>
          <a:p>
            <a:r>
              <a:rPr lang="en-US" dirty="0"/>
              <a:t>Video Sourcing</a:t>
            </a:r>
          </a:p>
        </p:txBody>
      </p:sp>
    </p:spTree>
    <p:extLst>
      <p:ext uri="{BB962C8B-B14F-4D97-AF65-F5344CB8AC3E}">
        <p14:creationId xmlns:p14="http://schemas.microsoft.com/office/powerpoint/2010/main" val="12844983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5F92B-B3C1-9A8D-9677-CDE67E8ABD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8147E7-C5C0-C5AD-B5CC-EBC13A9FFAB1}"/>
              </a:ext>
            </a:extLst>
          </p:cNvPr>
          <p:cNvSpPr>
            <a:spLocks noGrp="1"/>
          </p:cNvSpPr>
          <p:nvPr>
            <p:ph sz="quarter" idx="11"/>
          </p:nvPr>
        </p:nvSpPr>
        <p:spPr>
          <a:xfrm>
            <a:off x="619201" y="1810318"/>
            <a:ext cx="9152328" cy="4231893"/>
          </a:xfrm>
        </p:spPr>
        <p:txBody>
          <a:bodyPr>
            <a:normAutofit/>
          </a:bodyPr>
          <a:lstStyle/>
          <a:p>
            <a:pPr>
              <a:buFontTx/>
              <a:buChar char="-"/>
            </a:pPr>
            <a:r>
              <a:rPr lang="en-US" dirty="0"/>
              <a:t>Existing VLMs excel on captioning &amp; descriptive tasks</a:t>
            </a:r>
          </a:p>
          <a:p>
            <a:pPr>
              <a:buFontTx/>
              <a:buChar char="-"/>
            </a:pPr>
            <a:r>
              <a:rPr lang="en-US" dirty="0"/>
              <a:t>Segment each video into fixed-length clips of 10s</a:t>
            </a:r>
          </a:p>
          <a:p>
            <a:pPr lvl="1">
              <a:buFontTx/>
              <a:buChar char="-"/>
            </a:pPr>
            <a:r>
              <a:rPr lang="en-US" dirty="0"/>
              <a:t>10s clips capture fine-grained event details without over-generalizing across broader scene transitions</a:t>
            </a:r>
          </a:p>
          <a:p>
            <a:pPr>
              <a:buFontTx/>
              <a:buChar char="-"/>
            </a:pPr>
            <a:r>
              <a:rPr lang="en-US" dirty="0"/>
              <a:t>Process each segment at 1 frame per second (FPS) with captioning instructions using Qwen3-VL-30B, record generated caption with timestamp and source video</a:t>
            </a:r>
          </a:p>
        </p:txBody>
      </p:sp>
      <p:sp>
        <p:nvSpPr>
          <p:cNvPr id="4" name="Slide Number Placeholder 3">
            <a:extLst>
              <a:ext uri="{FF2B5EF4-FFF2-40B4-BE49-F238E27FC236}">
                <a16:creationId xmlns:a16="http://schemas.microsoft.com/office/drawing/2014/main" id="{B7B81E5B-8C02-3F87-5BB8-90B5F6427997}"/>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13</a:t>
            </a:fld>
            <a:endParaRPr lang="en-US" dirty="0"/>
          </a:p>
        </p:txBody>
      </p:sp>
      <p:sp>
        <p:nvSpPr>
          <p:cNvPr id="10" name="Title 1">
            <a:extLst>
              <a:ext uri="{FF2B5EF4-FFF2-40B4-BE49-F238E27FC236}">
                <a16:creationId xmlns:a16="http://schemas.microsoft.com/office/drawing/2014/main" id="{DEAC95FD-E6F6-66A2-2CFB-8CC761B80A5D}"/>
              </a:ext>
            </a:extLst>
          </p:cNvPr>
          <p:cNvSpPr>
            <a:spLocks noGrp="1"/>
          </p:cNvSpPr>
          <p:nvPr>
            <p:ph type="title"/>
          </p:nvPr>
        </p:nvSpPr>
        <p:spPr/>
        <p:txBody>
          <a:bodyPr/>
          <a:lstStyle/>
          <a:p>
            <a:r>
              <a:rPr lang="en-US" dirty="0"/>
              <a:t>Caption Generation</a:t>
            </a:r>
          </a:p>
        </p:txBody>
      </p:sp>
    </p:spTree>
    <p:extLst>
      <p:ext uri="{BB962C8B-B14F-4D97-AF65-F5344CB8AC3E}">
        <p14:creationId xmlns:p14="http://schemas.microsoft.com/office/powerpoint/2010/main" val="1115267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8F50A-B156-1073-533C-E6068735B1AE}"/>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9E3F618F-AD0D-8C21-23DB-3E7364E77D90}"/>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14</a:t>
            </a:fld>
            <a:endParaRPr lang="en-US" dirty="0"/>
          </a:p>
        </p:txBody>
      </p:sp>
      <p:sp>
        <p:nvSpPr>
          <p:cNvPr id="10" name="Title 1">
            <a:extLst>
              <a:ext uri="{FF2B5EF4-FFF2-40B4-BE49-F238E27FC236}">
                <a16:creationId xmlns:a16="http://schemas.microsoft.com/office/drawing/2014/main" id="{34B872A0-F11A-3D94-7470-9AB875C60972}"/>
              </a:ext>
            </a:extLst>
          </p:cNvPr>
          <p:cNvSpPr>
            <a:spLocks noGrp="1"/>
          </p:cNvSpPr>
          <p:nvPr>
            <p:ph type="title"/>
          </p:nvPr>
        </p:nvSpPr>
        <p:spPr/>
        <p:txBody>
          <a:bodyPr/>
          <a:lstStyle/>
          <a:p>
            <a:r>
              <a:rPr lang="en-US" dirty="0"/>
              <a:t>Caption Generation</a:t>
            </a:r>
          </a:p>
        </p:txBody>
      </p:sp>
      <p:pic>
        <p:nvPicPr>
          <p:cNvPr id="8" name="Content Placeholder 7">
            <a:extLst>
              <a:ext uri="{FF2B5EF4-FFF2-40B4-BE49-F238E27FC236}">
                <a16:creationId xmlns:a16="http://schemas.microsoft.com/office/drawing/2014/main" id="{6B955DFF-DFE6-3C63-0D5A-298877243DE4}"/>
              </a:ext>
            </a:extLst>
          </p:cNvPr>
          <p:cNvPicPr>
            <a:picLocks noGrp="1" noChangeAspect="1"/>
          </p:cNvPicPr>
          <p:nvPr>
            <p:ph sz="quarter" idx="11"/>
          </p:nvPr>
        </p:nvPicPr>
        <p:blipFill>
          <a:blip r:embed="rId3"/>
          <a:stretch>
            <a:fillRect/>
          </a:stretch>
        </p:blipFill>
        <p:spPr>
          <a:xfrm>
            <a:off x="619125" y="1833300"/>
            <a:ext cx="9161265" cy="4168107"/>
          </a:xfrm>
          <a:prstGeom prst="rect">
            <a:avLst/>
          </a:prstGeom>
        </p:spPr>
      </p:pic>
    </p:spTree>
    <p:extLst>
      <p:ext uri="{BB962C8B-B14F-4D97-AF65-F5344CB8AC3E}">
        <p14:creationId xmlns:p14="http://schemas.microsoft.com/office/powerpoint/2010/main" val="878241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2C5D7-5F9B-FA49-C5AA-A5E1C0E40B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00E0FD0-D36B-F8C1-91D3-FAE24EC275FD}"/>
              </a:ext>
            </a:extLst>
          </p:cNvPr>
          <p:cNvSpPr>
            <a:spLocks noGrp="1"/>
          </p:cNvSpPr>
          <p:nvPr>
            <p:ph sz="quarter" idx="11"/>
          </p:nvPr>
        </p:nvSpPr>
        <p:spPr>
          <a:xfrm>
            <a:off x="619201" y="1810318"/>
            <a:ext cx="9152328" cy="4231893"/>
          </a:xfrm>
        </p:spPr>
        <p:txBody>
          <a:bodyPr>
            <a:normAutofit/>
          </a:bodyPr>
          <a:lstStyle/>
          <a:p>
            <a:pPr>
              <a:buFontTx/>
              <a:buChar char="-"/>
            </a:pPr>
            <a:r>
              <a:rPr lang="en-US" dirty="0"/>
              <a:t>We feed the following into Qwen3-Next-80B-Thinking:</a:t>
            </a:r>
          </a:p>
          <a:p>
            <a:pPr lvl="1">
              <a:buFontTx/>
              <a:buChar char="-"/>
            </a:pPr>
            <a:r>
              <a:rPr lang="en-US" dirty="0"/>
              <a:t>Clip captions for each clip</a:t>
            </a:r>
          </a:p>
          <a:p>
            <a:pPr lvl="1">
              <a:buFontTx/>
              <a:buChar char="-"/>
            </a:pPr>
            <a:r>
              <a:rPr lang="en-US" dirty="0"/>
              <a:t>The timestamp associated with each caption</a:t>
            </a:r>
          </a:p>
          <a:p>
            <a:pPr lvl="1">
              <a:buFontTx/>
              <a:buChar char="-"/>
            </a:pPr>
            <a:r>
              <a:rPr lang="en-US" dirty="0"/>
              <a:t>1 of 5 Specialized Prompt templates for each of our tasks:</a:t>
            </a:r>
          </a:p>
          <a:p>
            <a:pPr lvl="2">
              <a:buFontTx/>
              <a:buChar char="-"/>
            </a:pPr>
            <a:r>
              <a:rPr lang="en-US" dirty="0"/>
              <a:t>Action Understanding</a:t>
            </a:r>
          </a:p>
          <a:p>
            <a:pPr lvl="2">
              <a:buFontTx/>
              <a:buChar char="-"/>
            </a:pPr>
            <a:r>
              <a:rPr lang="en-US" dirty="0"/>
              <a:t>Needle-in-the-Haystack</a:t>
            </a:r>
          </a:p>
          <a:p>
            <a:pPr lvl="2">
              <a:buFontTx/>
              <a:buChar char="-"/>
            </a:pPr>
            <a:r>
              <a:rPr lang="en-US" dirty="0"/>
              <a:t>Narrative Understanding</a:t>
            </a:r>
          </a:p>
          <a:p>
            <a:pPr lvl="2">
              <a:buFontTx/>
              <a:buChar char="-"/>
            </a:pPr>
            <a:r>
              <a:rPr lang="en-US" dirty="0"/>
              <a:t>Causal Understanding</a:t>
            </a:r>
          </a:p>
          <a:p>
            <a:pPr lvl="2">
              <a:buFontTx/>
              <a:buChar char="-"/>
            </a:pPr>
            <a:r>
              <a:rPr lang="en-US" dirty="0"/>
              <a:t>Ordering</a:t>
            </a:r>
          </a:p>
          <a:p>
            <a:pPr lvl="1">
              <a:buFontTx/>
              <a:buChar char="-"/>
            </a:pPr>
            <a:r>
              <a:rPr lang="en-US" dirty="0"/>
              <a:t>Each template generates 3 question answer pairs, grounded in the video content using the caption timestamps</a:t>
            </a:r>
          </a:p>
        </p:txBody>
      </p:sp>
      <p:sp>
        <p:nvSpPr>
          <p:cNvPr id="4" name="Slide Number Placeholder 3">
            <a:extLst>
              <a:ext uri="{FF2B5EF4-FFF2-40B4-BE49-F238E27FC236}">
                <a16:creationId xmlns:a16="http://schemas.microsoft.com/office/drawing/2014/main" id="{D2E50DD7-3CB8-D2EA-DE63-9564ACE647C9}"/>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15</a:t>
            </a:fld>
            <a:endParaRPr lang="en-US" dirty="0"/>
          </a:p>
        </p:txBody>
      </p:sp>
      <p:sp>
        <p:nvSpPr>
          <p:cNvPr id="10" name="Title 1">
            <a:extLst>
              <a:ext uri="{FF2B5EF4-FFF2-40B4-BE49-F238E27FC236}">
                <a16:creationId xmlns:a16="http://schemas.microsoft.com/office/drawing/2014/main" id="{172FCD72-9A34-D8FF-3C75-67A655E1A6E8}"/>
              </a:ext>
            </a:extLst>
          </p:cNvPr>
          <p:cNvSpPr>
            <a:spLocks noGrp="1"/>
          </p:cNvSpPr>
          <p:nvPr>
            <p:ph type="title"/>
          </p:nvPr>
        </p:nvSpPr>
        <p:spPr/>
        <p:txBody>
          <a:bodyPr/>
          <a:lstStyle/>
          <a:p>
            <a:r>
              <a:rPr lang="en-US" dirty="0"/>
              <a:t>QA Generation</a:t>
            </a:r>
          </a:p>
        </p:txBody>
      </p:sp>
    </p:spTree>
    <p:extLst>
      <p:ext uri="{BB962C8B-B14F-4D97-AF65-F5344CB8AC3E}">
        <p14:creationId xmlns:p14="http://schemas.microsoft.com/office/powerpoint/2010/main" val="883921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0E7FC-7D8B-1A3B-A3A2-B80DF68DD89F}"/>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F1BCBB7-1AFD-F68C-4306-C23F593EDE2D}"/>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16</a:t>
            </a:fld>
            <a:endParaRPr lang="en-US" dirty="0"/>
          </a:p>
        </p:txBody>
      </p:sp>
      <p:sp>
        <p:nvSpPr>
          <p:cNvPr id="10" name="Title 1">
            <a:extLst>
              <a:ext uri="{FF2B5EF4-FFF2-40B4-BE49-F238E27FC236}">
                <a16:creationId xmlns:a16="http://schemas.microsoft.com/office/drawing/2014/main" id="{9A92686E-184C-9CFE-BAA8-575633E26CCB}"/>
              </a:ext>
            </a:extLst>
          </p:cNvPr>
          <p:cNvSpPr>
            <a:spLocks noGrp="1"/>
          </p:cNvSpPr>
          <p:nvPr>
            <p:ph type="title"/>
          </p:nvPr>
        </p:nvSpPr>
        <p:spPr/>
        <p:txBody>
          <a:bodyPr/>
          <a:lstStyle/>
          <a:p>
            <a:r>
              <a:rPr lang="en-US" dirty="0"/>
              <a:t>QA Generation</a:t>
            </a:r>
          </a:p>
        </p:txBody>
      </p:sp>
      <p:pic>
        <p:nvPicPr>
          <p:cNvPr id="15" name="Content Placeholder 13">
            <a:extLst>
              <a:ext uri="{FF2B5EF4-FFF2-40B4-BE49-F238E27FC236}">
                <a16:creationId xmlns:a16="http://schemas.microsoft.com/office/drawing/2014/main" id="{4FF17554-1EC6-F5D5-DA8D-C710BFD21E27}"/>
              </a:ext>
            </a:extLst>
          </p:cNvPr>
          <p:cNvPicPr>
            <a:picLocks noGrp="1" noChangeAspect="1"/>
          </p:cNvPicPr>
          <p:nvPr>
            <p:ph sz="quarter" idx="11"/>
          </p:nvPr>
        </p:nvPicPr>
        <p:blipFill>
          <a:blip r:embed="rId3"/>
          <a:stretch>
            <a:fillRect/>
          </a:stretch>
        </p:blipFill>
        <p:spPr>
          <a:xfrm>
            <a:off x="734813" y="1549267"/>
            <a:ext cx="8577353" cy="4567163"/>
          </a:xfrm>
          <a:prstGeom prst="rect">
            <a:avLst/>
          </a:prstGeom>
        </p:spPr>
      </p:pic>
    </p:spTree>
    <p:extLst>
      <p:ext uri="{BB962C8B-B14F-4D97-AF65-F5344CB8AC3E}">
        <p14:creationId xmlns:p14="http://schemas.microsoft.com/office/powerpoint/2010/main" val="32123377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82683-62B1-9A07-61A4-527BB84DED8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DB5FCC-0943-2B97-B417-84EF7E8AA0BB}"/>
              </a:ext>
            </a:extLst>
          </p:cNvPr>
          <p:cNvSpPr>
            <a:spLocks noGrp="1"/>
          </p:cNvSpPr>
          <p:nvPr>
            <p:ph sz="quarter" idx="11"/>
          </p:nvPr>
        </p:nvSpPr>
        <p:spPr>
          <a:xfrm>
            <a:off x="619201" y="1810318"/>
            <a:ext cx="9152328" cy="4231893"/>
          </a:xfrm>
        </p:spPr>
        <p:txBody>
          <a:bodyPr>
            <a:normAutofit/>
          </a:bodyPr>
          <a:lstStyle/>
          <a:p>
            <a:pPr>
              <a:buFontTx/>
              <a:buChar char="-"/>
            </a:pPr>
            <a:r>
              <a:rPr lang="en-US" dirty="0"/>
              <a:t>A pattern-matching filter is applied to remove temporally self-referential questions</a:t>
            </a:r>
          </a:p>
          <a:p>
            <a:pPr lvl="1">
              <a:buFontTx/>
              <a:buChar char="-"/>
            </a:pPr>
            <a:r>
              <a:rPr lang="en-US" dirty="0"/>
              <a:t>"When was X shown?”</a:t>
            </a:r>
          </a:p>
          <a:p>
            <a:pPr lvl="1">
              <a:buFontTx/>
              <a:buChar char="-"/>
            </a:pPr>
            <a:r>
              <a:rPr lang="en-US" dirty="0"/>
              <a:t>"In which segment did Y occur?”</a:t>
            </a:r>
          </a:p>
          <a:p>
            <a:pPr lvl="1">
              <a:buFontTx/>
              <a:buChar char="-"/>
            </a:pPr>
            <a:r>
              <a:rPr lang="en-US" dirty="0"/>
              <a:t>These questions are structurally incompatible with our evaluation design</a:t>
            </a:r>
          </a:p>
          <a:p>
            <a:pPr lvl="1">
              <a:buFontTx/>
              <a:buChar char="-"/>
            </a:pPr>
            <a:r>
              <a:rPr lang="en-US" dirty="0"/>
              <a:t>Although the generation prompt is explicitly conditioned against producing such questions</a:t>
            </a:r>
          </a:p>
          <a:p>
            <a:pPr lvl="2">
              <a:buFontTx/>
              <a:buChar char="-"/>
            </a:pPr>
            <a:r>
              <a:rPr lang="en-US" dirty="0"/>
              <a:t>This filter serves as a deterministic safeguard to ensure none reach the final dataset</a:t>
            </a:r>
          </a:p>
          <a:p>
            <a:pPr>
              <a:buFontTx/>
              <a:buChar char="-"/>
            </a:pPr>
            <a:r>
              <a:rPr lang="en-US" dirty="0"/>
              <a:t>Adjacent Timestamp Merging</a:t>
            </a:r>
          </a:p>
          <a:p>
            <a:pPr lvl="1">
              <a:buFontTx/>
              <a:buChar char="-"/>
            </a:pPr>
            <a:endParaRPr lang="en-US" dirty="0"/>
          </a:p>
        </p:txBody>
      </p:sp>
      <p:sp>
        <p:nvSpPr>
          <p:cNvPr id="4" name="Slide Number Placeholder 3">
            <a:extLst>
              <a:ext uri="{FF2B5EF4-FFF2-40B4-BE49-F238E27FC236}">
                <a16:creationId xmlns:a16="http://schemas.microsoft.com/office/drawing/2014/main" id="{11DB5698-71EB-7029-A6EA-5566CE69B2ED}"/>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17</a:t>
            </a:fld>
            <a:endParaRPr lang="en-US" dirty="0"/>
          </a:p>
        </p:txBody>
      </p:sp>
      <p:sp>
        <p:nvSpPr>
          <p:cNvPr id="10" name="Title 1">
            <a:extLst>
              <a:ext uri="{FF2B5EF4-FFF2-40B4-BE49-F238E27FC236}">
                <a16:creationId xmlns:a16="http://schemas.microsoft.com/office/drawing/2014/main" id="{9BD98043-5188-ECD7-CFDC-250D76CCB1AA}"/>
              </a:ext>
            </a:extLst>
          </p:cNvPr>
          <p:cNvSpPr>
            <a:spLocks noGrp="1"/>
          </p:cNvSpPr>
          <p:nvPr>
            <p:ph type="title"/>
          </p:nvPr>
        </p:nvSpPr>
        <p:spPr/>
        <p:txBody>
          <a:bodyPr/>
          <a:lstStyle/>
          <a:p>
            <a:r>
              <a:rPr lang="en-US" dirty="0"/>
              <a:t>Validation &amp; Cleaning</a:t>
            </a:r>
          </a:p>
        </p:txBody>
      </p:sp>
    </p:spTree>
    <p:extLst>
      <p:ext uri="{BB962C8B-B14F-4D97-AF65-F5344CB8AC3E}">
        <p14:creationId xmlns:p14="http://schemas.microsoft.com/office/powerpoint/2010/main" val="190230465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83F29-1902-42A8-176C-A18781284E94}"/>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965B06F-F0C0-25A4-6396-29ADDC6043D5}"/>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18</a:t>
            </a:fld>
            <a:endParaRPr lang="en-US" dirty="0"/>
          </a:p>
        </p:txBody>
      </p:sp>
      <p:sp>
        <p:nvSpPr>
          <p:cNvPr id="10" name="Title 1">
            <a:extLst>
              <a:ext uri="{FF2B5EF4-FFF2-40B4-BE49-F238E27FC236}">
                <a16:creationId xmlns:a16="http://schemas.microsoft.com/office/drawing/2014/main" id="{E78238D3-2791-4140-BC26-A3B1AE3352F8}"/>
              </a:ext>
            </a:extLst>
          </p:cNvPr>
          <p:cNvSpPr>
            <a:spLocks noGrp="1"/>
          </p:cNvSpPr>
          <p:nvPr>
            <p:ph type="title"/>
          </p:nvPr>
        </p:nvSpPr>
        <p:spPr/>
        <p:txBody>
          <a:bodyPr/>
          <a:lstStyle/>
          <a:p>
            <a:r>
              <a:rPr lang="en-US" dirty="0"/>
              <a:t>Validation &amp; Cleaning</a:t>
            </a:r>
          </a:p>
        </p:txBody>
      </p:sp>
      <p:pic>
        <p:nvPicPr>
          <p:cNvPr id="2" name="Content Placeholder 1">
            <a:extLst>
              <a:ext uri="{FF2B5EF4-FFF2-40B4-BE49-F238E27FC236}">
                <a16:creationId xmlns:a16="http://schemas.microsoft.com/office/drawing/2014/main" id="{C7A0150E-F252-0B55-9893-130C6546046C}"/>
              </a:ext>
            </a:extLst>
          </p:cNvPr>
          <p:cNvPicPr>
            <a:picLocks noGrp="1" noChangeAspect="1"/>
          </p:cNvPicPr>
          <p:nvPr>
            <p:ph sz="quarter" idx="11"/>
          </p:nvPr>
        </p:nvPicPr>
        <p:blipFill>
          <a:blip r:embed="rId3"/>
          <a:stretch>
            <a:fillRect/>
          </a:stretch>
        </p:blipFill>
        <p:spPr>
          <a:xfrm>
            <a:off x="619200" y="1495943"/>
            <a:ext cx="8071945" cy="4681163"/>
          </a:xfrm>
          <a:prstGeom prst="rect">
            <a:avLst/>
          </a:prstGeom>
        </p:spPr>
      </p:pic>
    </p:spTree>
    <p:extLst>
      <p:ext uri="{BB962C8B-B14F-4D97-AF65-F5344CB8AC3E}">
        <p14:creationId xmlns:p14="http://schemas.microsoft.com/office/powerpoint/2010/main" val="38125545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39CB2-B457-9A53-E315-B9CF28CA9D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A1165C-20F8-E1E5-3241-79A57170D21D}"/>
              </a:ext>
            </a:extLst>
          </p:cNvPr>
          <p:cNvSpPr>
            <a:spLocks noGrp="1"/>
          </p:cNvSpPr>
          <p:nvPr>
            <p:ph sz="quarter" idx="11"/>
          </p:nvPr>
        </p:nvSpPr>
        <p:spPr>
          <a:xfrm>
            <a:off x="619201" y="1810318"/>
            <a:ext cx="9152328" cy="1618681"/>
          </a:xfrm>
        </p:spPr>
        <p:txBody>
          <a:bodyPr>
            <a:normAutofit fontScale="92500" lnSpcReduction="10000"/>
          </a:bodyPr>
          <a:lstStyle/>
          <a:p>
            <a:pPr>
              <a:buFontTx/>
              <a:buChar char="-"/>
            </a:pPr>
            <a:r>
              <a:rPr lang="en-US" dirty="0"/>
              <a:t>Since clips are 10s, ground truth timestamps are constrained to 10-second boundaries</a:t>
            </a:r>
          </a:p>
          <a:p>
            <a:pPr>
              <a:buFontTx/>
              <a:buChar char="-"/>
            </a:pPr>
            <a:r>
              <a:rPr lang="en-US" dirty="0"/>
              <a:t>Shift recorded starting and ending timestamp</a:t>
            </a:r>
          </a:p>
          <a:p>
            <a:pPr>
              <a:buFontTx/>
              <a:buChar char="-"/>
            </a:pPr>
            <a:r>
              <a:rPr lang="en-US" dirty="0"/>
              <a:t>Also provides tolerance for imprecise annotations</a:t>
            </a:r>
          </a:p>
        </p:txBody>
      </p:sp>
      <p:sp>
        <p:nvSpPr>
          <p:cNvPr id="4" name="Slide Number Placeholder 3">
            <a:extLst>
              <a:ext uri="{FF2B5EF4-FFF2-40B4-BE49-F238E27FC236}">
                <a16:creationId xmlns:a16="http://schemas.microsoft.com/office/drawing/2014/main" id="{1F7CBD8D-5767-D382-F8C7-2D88834B3F10}"/>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19</a:t>
            </a:fld>
            <a:endParaRPr lang="en-US" dirty="0"/>
          </a:p>
        </p:txBody>
      </p:sp>
      <p:sp>
        <p:nvSpPr>
          <p:cNvPr id="10" name="Title 1">
            <a:extLst>
              <a:ext uri="{FF2B5EF4-FFF2-40B4-BE49-F238E27FC236}">
                <a16:creationId xmlns:a16="http://schemas.microsoft.com/office/drawing/2014/main" id="{3721536E-6D41-264F-B835-7450BC26D8AC}"/>
              </a:ext>
            </a:extLst>
          </p:cNvPr>
          <p:cNvSpPr>
            <a:spLocks noGrp="1"/>
          </p:cNvSpPr>
          <p:nvPr>
            <p:ph type="title"/>
          </p:nvPr>
        </p:nvSpPr>
        <p:spPr/>
        <p:txBody>
          <a:bodyPr/>
          <a:lstStyle/>
          <a:p>
            <a:r>
              <a:rPr lang="en-US" dirty="0"/>
              <a:t>Timestamp Jitter</a:t>
            </a:r>
          </a:p>
        </p:txBody>
      </p:sp>
      <p:pic>
        <p:nvPicPr>
          <p:cNvPr id="6" name="Picture 5">
            <a:extLst>
              <a:ext uri="{FF2B5EF4-FFF2-40B4-BE49-F238E27FC236}">
                <a16:creationId xmlns:a16="http://schemas.microsoft.com/office/drawing/2014/main" id="{0551DECD-3A72-1991-F2F1-B82326E4D045}"/>
              </a:ext>
            </a:extLst>
          </p:cNvPr>
          <p:cNvPicPr>
            <a:picLocks noChangeAspect="1"/>
          </p:cNvPicPr>
          <p:nvPr/>
        </p:nvPicPr>
        <p:blipFill>
          <a:blip r:embed="rId3"/>
          <a:srcRect t="10769"/>
          <a:stretch>
            <a:fillRect/>
          </a:stretch>
        </p:blipFill>
        <p:spPr>
          <a:xfrm>
            <a:off x="537388" y="3619367"/>
            <a:ext cx="9234141" cy="2701705"/>
          </a:xfrm>
          <a:prstGeom prst="rect">
            <a:avLst/>
          </a:prstGeom>
        </p:spPr>
      </p:pic>
    </p:spTree>
    <p:extLst>
      <p:ext uri="{BB962C8B-B14F-4D97-AF65-F5344CB8AC3E}">
        <p14:creationId xmlns:p14="http://schemas.microsoft.com/office/powerpoint/2010/main" val="20811070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1185F2-9CEC-A1DB-E1C0-C97045A9E8D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7417AB-467A-BBCA-774C-01E771B09EF7}"/>
              </a:ext>
            </a:extLst>
          </p:cNvPr>
          <p:cNvSpPr>
            <a:spLocks noGrp="1"/>
          </p:cNvSpPr>
          <p:nvPr>
            <p:ph sz="quarter" idx="11"/>
          </p:nvPr>
        </p:nvSpPr>
        <p:spPr>
          <a:xfrm>
            <a:off x="619201" y="1810318"/>
            <a:ext cx="5308633" cy="3707613"/>
          </a:xfrm>
        </p:spPr>
        <p:txBody>
          <a:bodyPr>
            <a:normAutofit fontScale="77500" lnSpcReduction="20000"/>
          </a:bodyPr>
          <a:lstStyle/>
          <a:p>
            <a:pPr>
              <a:buFontTx/>
              <a:buChar char="-"/>
            </a:pPr>
            <a:r>
              <a:rPr lang="en-US" dirty="0"/>
              <a:t>Using Qwen3-Next-80B-Thinking, we generate four plausible distractors using:</a:t>
            </a:r>
          </a:p>
          <a:p>
            <a:pPr lvl="1">
              <a:buFontTx/>
              <a:buChar char="-"/>
            </a:pPr>
            <a:r>
              <a:rPr lang="en-US" dirty="0"/>
              <a:t>The existing question</a:t>
            </a:r>
          </a:p>
          <a:p>
            <a:pPr lvl="1">
              <a:buFontTx/>
              <a:buChar char="-"/>
            </a:pPr>
            <a:r>
              <a:rPr lang="en-US" dirty="0"/>
              <a:t>The correct answer</a:t>
            </a:r>
          </a:p>
          <a:p>
            <a:pPr lvl="1">
              <a:buFontTx/>
              <a:buChar char="-"/>
            </a:pPr>
            <a:r>
              <a:rPr lang="en-US" dirty="0"/>
              <a:t>Captions in a 30s margin near the ground truth timestamp</a:t>
            </a:r>
          </a:p>
          <a:p>
            <a:pPr>
              <a:buFontTx/>
              <a:buChar char="-"/>
            </a:pPr>
            <a:r>
              <a:rPr lang="en-US" dirty="0"/>
              <a:t>Options must be:</a:t>
            </a:r>
          </a:p>
          <a:p>
            <a:pPr lvl="1">
              <a:buFontTx/>
              <a:buChar char="-"/>
            </a:pPr>
            <a:r>
              <a:rPr lang="en-US" dirty="0"/>
              <a:t>Plausible within question context</a:t>
            </a:r>
          </a:p>
          <a:p>
            <a:pPr lvl="1">
              <a:buFontTx/>
              <a:buChar char="-"/>
            </a:pPr>
            <a:r>
              <a:rPr lang="en-US" dirty="0"/>
              <a:t>Belong to the correct answer’s semantic category</a:t>
            </a:r>
          </a:p>
          <a:p>
            <a:pPr lvl="1">
              <a:buFontTx/>
              <a:buChar char="-"/>
            </a:pPr>
            <a:r>
              <a:rPr lang="en-US" dirty="0"/>
              <a:t>Match the correct answer’s length and casing</a:t>
            </a:r>
          </a:p>
          <a:p>
            <a:pPr lvl="1">
              <a:buFontTx/>
              <a:buChar char="-"/>
            </a:pPr>
            <a:r>
              <a:rPr lang="en-US" dirty="0"/>
              <a:t>Unambiguously incorrect</a:t>
            </a:r>
          </a:p>
        </p:txBody>
      </p:sp>
      <p:sp>
        <p:nvSpPr>
          <p:cNvPr id="4" name="Slide Number Placeholder 3">
            <a:extLst>
              <a:ext uri="{FF2B5EF4-FFF2-40B4-BE49-F238E27FC236}">
                <a16:creationId xmlns:a16="http://schemas.microsoft.com/office/drawing/2014/main" id="{5D91625D-67BB-45CA-9803-4A6476FB6B2B}"/>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20</a:t>
            </a:fld>
            <a:endParaRPr lang="en-US" dirty="0"/>
          </a:p>
        </p:txBody>
      </p:sp>
      <p:sp>
        <p:nvSpPr>
          <p:cNvPr id="10" name="Title 1">
            <a:extLst>
              <a:ext uri="{FF2B5EF4-FFF2-40B4-BE49-F238E27FC236}">
                <a16:creationId xmlns:a16="http://schemas.microsoft.com/office/drawing/2014/main" id="{5F529DE5-5FAC-4004-047E-6DEF08FB270D}"/>
              </a:ext>
            </a:extLst>
          </p:cNvPr>
          <p:cNvSpPr>
            <a:spLocks noGrp="1"/>
          </p:cNvSpPr>
          <p:nvPr>
            <p:ph type="title"/>
          </p:nvPr>
        </p:nvSpPr>
        <p:spPr/>
        <p:txBody>
          <a:bodyPr/>
          <a:lstStyle/>
          <a:p>
            <a:r>
              <a:rPr lang="en-US" dirty="0"/>
              <a:t>Distractor Synthesis</a:t>
            </a:r>
          </a:p>
        </p:txBody>
      </p:sp>
      <p:pic>
        <p:nvPicPr>
          <p:cNvPr id="11266" name="Picture 2" descr="Qwen3-Next: Can It Replace GPUs in AI? | by Andrii | Medium">
            <a:extLst>
              <a:ext uri="{FF2B5EF4-FFF2-40B4-BE49-F238E27FC236}">
                <a16:creationId xmlns:a16="http://schemas.microsoft.com/office/drawing/2014/main" id="{0A6862C3-E3E0-C449-24B2-6CB2036231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94" t="13027" r="48709" b="8644"/>
          <a:stretch>
            <a:fillRect/>
          </a:stretch>
        </p:blipFill>
        <p:spPr bwMode="auto">
          <a:xfrm>
            <a:off x="6096000" y="1822555"/>
            <a:ext cx="3439031" cy="34799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0641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5EEF7-630A-651F-BB36-462A8F231C38}"/>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B87C82A-8397-9C37-B750-79061D6742A2}"/>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21</a:t>
            </a:fld>
            <a:endParaRPr lang="en-US" dirty="0"/>
          </a:p>
        </p:txBody>
      </p:sp>
      <p:sp>
        <p:nvSpPr>
          <p:cNvPr id="10" name="Title 1">
            <a:extLst>
              <a:ext uri="{FF2B5EF4-FFF2-40B4-BE49-F238E27FC236}">
                <a16:creationId xmlns:a16="http://schemas.microsoft.com/office/drawing/2014/main" id="{2798D0E7-8689-E23F-C78A-3860289C6FB6}"/>
              </a:ext>
            </a:extLst>
          </p:cNvPr>
          <p:cNvSpPr>
            <a:spLocks noGrp="1"/>
          </p:cNvSpPr>
          <p:nvPr>
            <p:ph type="title"/>
          </p:nvPr>
        </p:nvSpPr>
        <p:spPr/>
        <p:txBody>
          <a:bodyPr/>
          <a:lstStyle/>
          <a:p>
            <a:r>
              <a:rPr lang="en-US" dirty="0"/>
              <a:t>Distractor Synthesis</a:t>
            </a:r>
          </a:p>
        </p:txBody>
      </p:sp>
      <p:pic>
        <p:nvPicPr>
          <p:cNvPr id="15" name="Picture 14">
            <a:extLst>
              <a:ext uri="{FF2B5EF4-FFF2-40B4-BE49-F238E27FC236}">
                <a16:creationId xmlns:a16="http://schemas.microsoft.com/office/drawing/2014/main" id="{7047EABF-7DD3-5C36-A7A1-7BA85EB2A61E}"/>
              </a:ext>
            </a:extLst>
          </p:cNvPr>
          <p:cNvPicPr>
            <a:picLocks noChangeAspect="1"/>
          </p:cNvPicPr>
          <p:nvPr/>
        </p:nvPicPr>
        <p:blipFill>
          <a:blip r:embed="rId3"/>
          <a:stretch>
            <a:fillRect/>
          </a:stretch>
        </p:blipFill>
        <p:spPr>
          <a:xfrm>
            <a:off x="748643" y="1595178"/>
            <a:ext cx="8668626" cy="4663052"/>
          </a:xfrm>
          <a:prstGeom prst="rect">
            <a:avLst/>
          </a:prstGeom>
        </p:spPr>
      </p:pic>
    </p:spTree>
    <p:extLst>
      <p:ext uri="{BB962C8B-B14F-4D97-AF65-F5344CB8AC3E}">
        <p14:creationId xmlns:p14="http://schemas.microsoft.com/office/powerpoint/2010/main" val="4015439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3B069-D834-770C-AD43-D119CA83C271}"/>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4CB156C-9842-52AF-C57C-20054739D30D}"/>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22</a:t>
            </a:fld>
            <a:endParaRPr lang="en-US" dirty="0"/>
          </a:p>
        </p:txBody>
      </p:sp>
      <p:sp>
        <p:nvSpPr>
          <p:cNvPr id="10" name="Title 1">
            <a:extLst>
              <a:ext uri="{FF2B5EF4-FFF2-40B4-BE49-F238E27FC236}">
                <a16:creationId xmlns:a16="http://schemas.microsoft.com/office/drawing/2014/main" id="{87E632C1-EB0F-B1FC-CDC1-B6F546E9EE35}"/>
              </a:ext>
            </a:extLst>
          </p:cNvPr>
          <p:cNvSpPr>
            <a:spLocks noGrp="1"/>
          </p:cNvSpPr>
          <p:nvPr>
            <p:ph type="title"/>
          </p:nvPr>
        </p:nvSpPr>
        <p:spPr/>
        <p:txBody>
          <a:bodyPr/>
          <a:lstStyle/>
          <a:p>
            <a:r>
              <a:rPr lang="en-US" dirty="0"/>
              <a:t>Blind Filtering</a:t>
            </a:r>
          </a:p>
        </p:txBody>
      </p:sp>
      <p:pic>
        <p:nvPicPr>
          <p:cNvPr id="13" name="Picture 12">
            <a:extLst>
              <a:ext uri="{FF2B5EF4-FFF2-40B4-BE49-F238E27FC236}">
                <a16:creationId xmlns:a16="http://schemas.microsoft.com/office/drawing/2014/main" id="{19A3D0A5-7A6D-182E-4DA9-8E76148BAB2A}"/>
              </a:ext>
            </a:extLst>
          </p:cNvPr>
          <p:cNvPicPr>
            <a:picLocks noChangeAspect="1"/>
          </p:cNvPicPr>
          <p:nvPr/>
        </p:nvPicPr>
        <p:blipFill>
          <a:blip r:embed="rId3"/>
          <a:stretch>
            <a:fillRect/>
          </a:stretch>
        </p:blipFill>
        <p:spPr>
          <a:xfrm>
            <a:off x="769717" y="1540860"/>
            <a:ext cx="8146428" cy="4724357"/>
          </a:xfrm>
          <a:prstGeom prst="rect">
            <a:avLst/>
          </a:prstGeom>
        </p:spPr>
      </p:pic>
    </p:spTree>
    <p:extLst>
      <p:ext uri="{BB962C8B-B14F-4D97-AF65-F5344CB8AC3E}">
        <p14:creationId xmlns:p14="http://schemas.microsoft.com/office/powerpoint/2010/main" val="2620125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F35C68-A716-1FC0-0867-D4C4395BBDB8}"/>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AB978793-F36E-1F07-57A3-F49B694F0692}"/>
              </a:ext>
            </a:extLst>
          </p:cNvPr>
          <p:cNvSpPr>
            <a:spLocks noGrp="1"/>
          </p:cNvSpPr>
          <p:nvPr>
            <p:ph type="title"/>
          </p:nvPr>
        </p:nvSpPr>
        <p:spPr>
          <a:xfrm>
            <a:off x="619200" y="342900"/>
            <a:ext cx="8361984" cy="640080"/>
          </a:xfrm>
        </p:spPr>
        <p:txBody>
          <a:bodyPr anchor="ctr">
            <a:normAutofit/>
          </a:bodyPr>
          <a:lstStyle/>
          <a:p>
            <a:r>
              <a:rPr lang="en-US" dirty="0"/>
              <a:t>Task Taxonomy</a:t>
            </a:r>
          </a:p>
        </p:txBody>
      </p:sp>
      <p:pic>
        <p:nvPicPr>
          <p:cNvPr id="8" name="Picture 7">
            <a:extLst>
              <a:ext uri="{FF2B5EF4-FFF2-40B4-BE49-F238E27FC236}">
                <a16:creationId xmlns:a16="http://schemas.microsoft.com/office/drawing/2014/main" id="{A184D29C-D80A-1569-590E-E5069FCC3008}"/>
              </a:ext>
            </a:extLst>
          </p:cNvPr>
          <p:cNvPicPr>
            <a:picLocks noChangeAspect="1"/>
          </p:cNvPicPr>
          <p:nvPr/>
        </p:nvPicPr>
        <p:blipFill>
          <a:blip r:embed="rId3"/>
          <a:srcRect l="2960" t="10033" r="2081" b="2255"/>
          <a:stretch>
            <a:fillRect/>
          </a:stretch>
        </p:blipFill>
        <p:spPr>
          <a:xfrm>
            <a:off x="619201" y="1892515"/>
            <a:ext cx="8361984" cy="3593885"/>
          </a:xfrm>
          <a:prstGeom prst="rect">
            <a:avLst/>
          </a:prstGeom>
          <a:noFill/>
        </p:spPr>
      </p:pic>
      <p:sp>
        <p:nvSpPr>
          <p:cNvPr id="4" name="Slide Number Placeholder 3">
            <a:extLst>
              <a:ext uri="{FF2B5EF4-FFF2-40B4-BE49-F238E27FC236}">
                <a16:creationId xmlns:a16="http://schemas.microsoft.com/office/drawing/2014/main" id="{8E9DA2B5-B71F-6EF4-6A9E-EB21564AA794}"/>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23</a:t>
            </a:fld>
            <a:endParaRPr lang="en-US" sz="1100"/>
          </a:p>
        </p:txBody>
      </p:sp>
    </p:spTree>
    <p:extLst>
      <p:ext uri="{BB962C8B-B14F-4D97-AF65-F5344CB8AC3E}">
        <p14:creationId xmlns:p14="http://schemas.microsoft.com/office/powerpoint/2010/main" val="3120293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601D7-229E-4E4C-7700-43EE1AC6B841}"/>
            </a:ext>
          </a:extLst>
        </p:cNvPr>
        <p:cNvGrpSpPr/>
        <p:nvPr/>
      </p:nvGrpSpPr>
      <p:grpSpPr>
        <a:xfrm>
          <a:off x="0" y="0"/>
          <a:ext cx="0" cy="0"/>
          <a:chOff x="0" y="0"/>
          <a:chExt cx="0" cy="0"/>
        </a:xfrm>
      </p:grpSpPr>
      <p:sp>
        <p:nvSpPr>
          <p:cNvPr id="10" name="Title 1">
            <a:extLst>
              <a:ext uri="{FF2B5EF4-FFF2-40B4-BE49-F238E27FC236}">
                <a16:creationId xmlns:a16="http://schemas.microsoft.com/office/drawing/2014/main" id="{38FBFA6B-01CE-A1E6-D9C5-31773D08400F}"/>
              </a:ext>
            </a:extLst>
          </p:cNvPr>
          <p:cNvSpPr>
            <a:spLocks noGrp="1"/>
          </p:cNvSpPr>
          <p:nvPr>
            <p:ph type="title"/>
          </p:nvPr>
        </p:nvSpPr>
        <p:spPr>
          <a:xfrm>
            <a:off x="619200" y="342900"/>
            <a:ext cx="8361984" cy="640080"/>
          </a:xfrm>
        </p:spPr>
        <p:txBody>
          <a:bodyPr anchor="ctr">
            <a:normAutofit/>
          </a:bodyPr>
          <a:lstStyle/>
          <a:p>
            <a:r>
              <a:rPr lang="en-US" dirty="0" err="1"/>
              <a:t>ChronoQA</a:t>
            </a:r>
            <a:endParaRPr lang="en-US" dirty="0"/>
          </a:p>
        </p:txBody>
      </p:sp>
      <p:sp>
        <p:nvSpPr>
          <p:cNvPr id="4" name="Slide Number Placeholder 3">
            <a:extLst>
              <a:ext uri="{FF2B5EF4-FFF2-40B4-BE49-F238E27FC236}">
                <a16:creationId xmlns:a16="http://schemas.microsoft.com/office/drawing/2014/main" id="{038D5747-563C-EC9E-CA17-83C902912843}"/>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24</a:t>
            </a:fld>
            <a:endParaRPr lang="en-US" sz="1100"/>
          </a:p>
        </p:txBody>
      </p:sp>
      <p:pic>
        <p:nvPicPr>
          <p:cNvPr id="3" name="Picture 2">
            <a:extLst>
              <a:ext uri="{FF2B5EF4-FFF2-40B4-BE49-F238E27FC236}">
                <a16:creationId xmlns:a16="http://schemas.microsoft.com/office/drawing/2014/main" id="{32C98203-51F8-86FC-4FDF-5BB9F8AE8FB6}"/>
              </a:ext>
            </a:extLst>
          </p:cNvPr>
          <p:cNvPicPr>
            <a:picLocks noChangeAspect="1"/>
          </p:cNvPicPr>
          <p:nvPr/>
        </p:nvPicPr>
        <p:blipFill>
          <a:blip r:embed="rId3"/>
          <a:stretch>
            <a:fillRect/>
          </a:stretch>
        </p:blipFill>
        <p:spPr>
          <a:xfrm>
            <a:off x="1851792" y="1098653"/>
            <a:ext cx="6850774" cy="5289675"/>
          </a:xfrm>
          <a:prstGeom prst="rect">
            <a:avLst/>
          </a:prstGeom>
        </p:spPr>
      </p:pic>
    </p:spTree>
    <p:extLst>
      <p:ext uri="{BB962C8B-B14F-4D97-AF65-F5344CB8AC3E}">
        <p14:creationId xmlns:p14="http://schemas.microsoft.com/office/powerpoint/2010/main" val="24318941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95DEA-EEDA-D209-0687-E2F5072DD89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FC79B2-59C6-F3BA-5592-B00AB6B8B501}"/>
              </a:ext>
            </a:extLst>
          </p:cNvPr>
          <p:cNvSpPr>
            <a:spLocks noGrp="1"/>
          </p:cNvSpPr>
          <p:nvPr>
            <p:ph type="title"/>
          </p:nvPr>
        </p:nvSpPr>
        <p:spPr/>
        <p:txBody>
          <a:bodyPr/>
          <a:lstStyle/>
          <a:p>
            <a:r>
              <a:rPr lang="en-US" dirty="0"/>
              <a:t>Model Evaluation</a:t>
            </a:r>
          </a:p>
        </p:txBody>
      </p:sp>
      <p:sp>
        <p:nvSpPr>
          <p:cNvPr id="2" name="Slide Number Placeholder 1">
            <a:extLst>
              <a:ext uri="{FF2B5EF4-FFF2-40B4-BE49-F238E27FC236}">
                <a16:creationId xmlns:a16="http://schemas.microsoft.com/office/drawing/2014/main" id="{FB69EBED-A1E1-4C65-45BF-053B1007274D}"/>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25</a:t>
            </a:fld>
            <a:endParaRPr lang="en-US" dirty="0"/>
          </a:p>
        </p:txBody>
      </p:sp>
    </p:spTree>
    <p:extLst>
      <p:ext uri="{BB962C8B-B14F-4D97-AF65-F5344CB8AC3E}">
        <p14:creationId xmlns:p14="http://schemas.microsoft.com/office/powerpoint/2010/main" val="9148352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3F9D71-7B47-8B64-A32D-13F5E83CEB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CB76CC-2C16-F666-5176-A7877CCA5087}"/>
              </a:ext>
            </a:extLst>
          </p:cNvPr>
          <p:cNvSpPr>
            <a:spLocks noGrp="1"/>
          </p:cNvSpPr>
          <p:nvPr>
            <p:ph type="title"/>
          </p:nvPr>
        </p:nvSpPr>
        <p:spPr/>
        <p:txBody>
          <a:bodyPr/>
          <a:lstStyle/>
          <a:p>
            <a:r>
              <a:rPr lang="en-US" dirty="0"/>
              <a:t>Evaluation Protocol: Dual-Metric Design</a:t>
            </a:r>
          </a:p>
        </p:txBody>
      </p:sp>
      <p:sp>
        <p:nvSpPr>
          <p:cNvPr id="3" name="Content Placeholder 2">
            <a:extLst>
              <a:ext uri="{FF2B5EF4-FFF2-40B4-BE49-F238E27FC236}">
                <a16:creationId xmlns:a16="http://schemas.microsoft.com/office/drawing/2014/main" id="{F600CEA0-BF67-812A-21AD-B23CB12795B6}"/>
              </a:ext>
            </a:extLst>
          </p:cNvPr>
          <p:cNvSpPr>
            <a:spLocks noGrp="1"/>
          </p:cNvSpPr>
          <p:nvPr>
            <p:ph sz="quarter" idx="11"/>
          </p:nvPr>
        </p:nvSpPr>
        <p:spPr>
          <a:xfrm>
            <a:off x="619201" y="1810319"/>
            <a:ext cx="8976744" cy="3850676"/>
          </a:xfrm>
        </p:spPr>
        <p:txBody>
          <a:bodyPr>
            <a:normAutofit fontScale="92500" lnSpcReduction="20000"/>
          </a:bodyPr>
          <a:lstStyle/>
          <a:p>
            <a:r>
              <a:rPr lang="en-US" b="1" dirty="0"/>
              <a:t>QA Accuracy:</a:t>
            </a:r>
            <a:r>
              <a:rPr lang="en-US" dirty="0"/>
              <a:t> Percentage of correctly selected answer options</a:t>
            </a:r>
          </a:p>
          <a:p>
            <a:r>
              <a:rPr lang="en-US" b="1" dirty="0"/>
              <a:t>Mean Temporal </a:t>
            </a:r>
            <a:r>
              <a:rPr lang="en-US" b="1" dirty="0" err="1"/>
              <a:t>IoU</a:t>
            </a:r>
            <a:r>
              <a:rPr lang="en-US" b="1" dirty="0"/>
              <a:t> (</a:t>
            </a:r>
            <a:r>
              <a:rPr lang="en-US" b="1" dirty="0" err="1"/>
              <a:t>mIoU</a:t>
            </a:r>
            <a:r>
              <a:rPr lang="en-US" b="1" dirty="0"/>
              <a:t>): </a:t>
            </a:r>
            <a:r>
              <a:rPr lang="en-US" dirty="0"/>
              <a:t>Average intersection-over-union between predicted and ground-truth timestamp intervals</a:t>
            </a:r>
          </a:p>
          <a:p>
            <a:r>
              <a:rPr lang="en-US" b="1" dirty="0"/>
              <a:t>Grounded Accuracy (G-Acc):</a:t>
            </a:r>
            <a:r>
              <a:rPr lang="en-US" dirty="0"/>
              <a:t> Joint metric. Correct answer selection </a:t>
            </a:r>
            <a:r>
              <a:rPr lang="en-US" i="1" dirty="0"/>
              <a:t>and</a:t>
            </a:r>
            <a:r>
              <a:rPr lang="en-US" dirty="0"/>
              <a:t> Temporal Intersection over Union (</a:t>
            </a:r>
            <a:r>
              <a:rPr lang="en-US" dirty="0" err="1"/>
              <a:t>tIoU</a:t>
            </a:r>
            <a:r>
              <a:rPr lang="en-US" dirty="0"/>
              <a:t>) ≥ 0.5 </a:t>
            </a:r>
          </a:p>
          <a:p>
            <a:r>
              <a:rPr lang="en-US" b="1" dirty="0" err="1"/>
              <a:t>Recall@IoU</a:t>
            </a:r>
            <a:r>
              <a:rPr lang="en-US" b="1" dirty="0"/>
              <a:t>:</a:t>
            </a:r>
            <a:r>
              <a:rPr lang="en-US" dirty="0"/>
              <a:t> Averaged over thresholds {0.1, 0.2, 0.3, 0.4, 0.5};</a:t>
            </a:r>
          </a:p>
          <a:p>
            <a:pPr lvl="1"/>
            <a:r>
              <a:rPr lang="en-US" dirty="0"/>
              <a:t>Captures distribution of grounding quality across the full </a:t>
            </a:r>
            <a:r>
              <a:rPr lang="en-US" dirty="0" err="1"/>
              <a:t>IoU</a:t>
            </a:r>
            <a:r>
              <a:rPr lang="en-US" dirty="0"/>
              <a:t> spectrum</a:t>
            </a:r>
          </a:p>
        </p:txBody>
      </p:sp>
      <p:sp>
        <p:nvSpPr>
          <p:cNvPr id="4" name="Slide Number Placeholder 3">
            <a:extLst>
              <a:ext uri="{FF2B5EF4-FFF2-40B4-BE49-F238E27FC236}">
                <a16:creationId xmlns:a16="http://schemas.microsoft.com/office/drawing/2014/main" id="{BC41F196-5BD7-DF26-5EF9-8F35CA32D7E5}"/>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26</a:t>
            </a:fld>
            <a:endParaRPr lang="en-US" dirty="0"/>
          </a:p>
        </p:txBody>
      </p:sp>
    </p:spTree>
    <p:extLst>
      <p:ext uri="{BB962C8B-B14F-4D97-AF65-F5344CB8AC3E}">
        <p14:creationId xmlns:p14="http://schemas.microsoft.com/office/powerpoint/2010/main" val="31775629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82060-C674-2E65-10D9-068657593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6AD557-468D-DE59-876C-DC78A98917DE}"/>
              </a:ext>
            </a:extLst>
          </p:cNvPr>
          <p:cNvSpPr>
            <a:spLocks noGrp="1"/>
          </p:cNvSpPr>
          <p:nvPr>
            <p:ph type="title"/>
          </p:nvPr>
        </p:nvSpPr>
        <p:spPr/>
        <p:txBody>
          <a:bodyPr/>
          <a:lstStyle/>
          <a:p>
            <a:r>
              <a:rPr lang="en-US" dirty="0"/>
              <a:t>Evaluation Protocol: Dual-Metric Design</a:t>
            </a:r>
          </a:p>
        </p:txBody>
      </p:sp>
      <p:sp>
        <p:nvSpPr>
          <p:cNvPr id="4" name="Slide Number Placeholder 3">
            <a:extLst>
              <a:ext uri="{FF2B5EF4-FFF2-40B4-BE49-F238E27FC236}">
                <a16:creationId xmlns:a16="http://schemas.microsoft.com/office/drawing/2014/main" id="{49D81FC9-5108-9908-CD1E-79429AF50A72}"/>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27</a:t>
            </a:fld>
            <a:endParaRPr lang="en-US" dirty="0"/>
          </a:p>
        </p:txBody>
      </p:sp>
      <p:pic>
        <p:nvPicPr>
          <p:cNvPr id="9" name="Content Placeholder 8">
            <a:extLst>
              <a:ext uri="{FF2B5EF4-FFF2-40B4-BE49-F238E27FC236}">
                <a16:creationId xmlns:a16="http://schemas.microsoft.com/office/drawing/2014/main" id="{78BC8E5D-0FC3-EFB4-3408-E0AFE901DD10}"/>
              </a:ext>
            </a:extLst>
          </p:cNvPr>
          <p:cNvPicPr>
            <a:picLocks noGrp="1" noChangeAspect="1"/>
          </p:cNvPicPr>
          <p:nvPr>
            <p:ph sz="quarter" idx="11"/>
          </p:nvPr>
        </p:nvPicPr>
        <p:blipFill>
          <a:blip r:embed="rId3"/>
          <a:stretch>
            <a:fillRect/>
          </a:stretch>
        </p:blipFill>
        <p:spPr>
          <a:xfrm>
            <a:off x="619200" y="1686443"/>
            <a:ext cx="7847076" cy="4451598"/>
          </a:xfrm>
          <a:prstGeom prst="rect">
            <a:avLst/>
          </a:prstGeom>
        </p:spPr>
      </p:pic>
    </p:spTree>
    <p:extLst>
      <p:ext uri="{BB962C8B-B14F-4D97-AF65-F5344CB8AC3E}">
        <p14:creationId xmlns:p14="http://schemas.microsoft.com/office/powerpoint/2010/main" val="37176599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ECBE53-370F-C80E-B72F-7091E1A65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EFAE37-7932-733E-1CAD-A880302D8FE8}"/>
              </a:ext>
            </a:extLst>
          </p:cNvPr>
          <p:cNvSpPr>
            <a:spLocks noGrp="1"/>
          </p:cNvSpPr>
          <p:nvPr>
            <p:ph type="title"/>
          </p:nvPr>
        </p:nvSpPr>
        <p:spPr/>
        <p:txBody>
          <a:bodyPr/>
          <a:lstStyle/>
          <a:p>
            <a:r>
              <a:rPr lang="en-US" dirty="0"/>
              <a:t>Evaluated Models</a:t>
            </a:r>
          </a:p>
        </p:txBody>
      </p:sp>
      <p:sp>
        <p:nvSpPr>
          <p:cNvPr id="4" name="Slide Number Placeholder 3">
            <a:extLst>
              <a:ext uri="{FF2B5EF4-FFF2-40B4-BE49-F238E27FC236}">
                <a16:creationId xmlns:a16="http://schemas.microsoft.com/office/drawing/2014/main" id="{3D9F0B67-FDBA-212C-A622-5809E5A69E76}"/>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28</a:t>
            </a:fld>
            <a:endParaRPr lang="en-US" dirty="0"/>
          </a:p>
        </p:txBody>
      </p:sp>
      <p:graphicFrame>
        <p:nvGraphicFramePr>
          <p:cNvPr id="8" name="Content Placeholder 7">
            <a:extLst>
              <a:ext uri="{FF2B5EF4-FFF2-40B4-BE49-F238E27FC236}">
                <a16:creationId xmlns:a16="http://schemas.microsoft.com/office/drawing/2014/main" id="{7120B9A5-408A-B6B7-50F0-EFF7A5D91733}"/>
              </a:ext>
            </a:extLst>
          </p:cNvPr>
          <p:cNvGraphicFramePr>
            <a:graphicFrameLocks noGrp="1"/>
          </p:cNvGraphicFramePr>
          <p:nvPr>
            <p:ph sz="quarter" idx="11"/>
            <p:extLst>
              <p:ext uri="{D42A27DB-BD31-4B8C-83A1-F6EECF244321}">
                <p14:modId xmlns:p14="http://schemas.microsoft.com/office/powerpoint/2010/main" val="2637026398"/>
              </p:ext>
            </p:extLst>
          </p:nvPr>
        </p:nvGraphicFramePr>
        <p:xfrm>
          <a:off x="619125" y="1809749"/>
          <a:ext cx="8976820" cy="4181147"/>
        </p:xfrm>
        <a:graphic>
          <a:graphicData uri="http://schemas.openxmlformats.org/drawingml/2006/table">
            <a:tbl>
              <a:tblPr firstRow="1" bandRow="1">
                <a:tableStyleId>{5C22544A-7EE6-4342-B048-85BDC9FD1C3A}</a:tableStyleId>
              </a:tblPr>
              <a:tblGrid>
                <a:gridCol w="1795364">
                  <a:extLst>
                    <a:ext uri="{9D8B030D-6E8A-4147-A177-3AD203B41FA5}">
                      <a16:colId xmlns:a16="http://schemas.microsoft.com/office/drawing/2014/main" val="2014896374"/>
                    </a:ext>
                  </a:extLst>
                </a:gridCol>
                <a:gridCol w="1795364">
                  <a:extLst>
                    <a:ext uri="{9D8B030D-6E8A-4147-A177-3AD203B41FA5}">
                      <a16:colId xmlns:a16="http://schemas.microsoft.com/office/drawing/2014/main" val="4195601418"/>
                    </a:ext>
                  </a:extLst>
                </a:gridCol>
                <a:gridCol w="1795364">
                  <a:extLst>
                    <a:ext uri="{9D8B030D-6E8A-4147-A177-3AD203B41FA5}">
                      <a16:colId xmlns:a16="http://schemas.microsoft.com/office/drawing/2014/main" val="628953223"/>
                    </a:ext>
                  </a:extLst>
                </a:gridCol>
                <a:gridCol w="1795364">
                  <a:extLst>
                    <a:ext uri="{9D8B030D-6E8A-4147-A177-3AD203B41FA5}">
                      <a16:colId xmlns:a16="http://schemas.microsoft.com/office/drawing/2014/main" val="1226387995"/>
                    </a:ext>
                  </a:extLst>
                </a:gridCol>
                <a:gridCol w="1795364">
                  <a:extLst>
                    <a:ext uri="{9D8B030D-6E8A-4147-A177-3AD203B41FA5}">
                      <a16:colId xmlns:a16="http://schemas.microsoft.com/office/drawing/2014/main" val="3092980605"/>
                    </a:ext>
                  </a:extLst>
                </a:gridCol>
              </a:tblGrid>
              <a:tr h="788183">
                <a:tc>
                  <a:txBody>
                    <a:bodyPr/>
                    <a:lstStyle/>
                    <a:p>
                      <a:r>
                        <a:rPr lang="en-US" dirty="0"/>
                        <a:t>Model</a:t>
                      </a:r>
                    </a:p>
                  </a:txBody>
                  <a:tcPr/>
                </a:tc>
                <a:tc>
                  <a:txBody>
                    <a:bodyPr/>
                    <a:lstStyle/>
                    <a:p>
                      <a:r>
                        <a:rPr lang="en-US" dirty="0"/>
                        <a:t>Provider</a:t>
                      </a:r>
                    </a:p>
                  </a:txBody>
                  <a:tcPr/>
                </a:tc>
                <a:tc>
                  <a:txBody>
                    <a:bodyPr/>
                    <a:lstStyle/>
                    <a:p>
                      <a:r>
                        <a:rPr lang="en-US" dirty="0"/>
                        <a:t>Access</a:t>
                      </a:r>
                    </a:p>
                  </a:txBody>
                  <a:tcPr/>
                </a:tc>
                <a:tc>
                  <a:txBody>
                    <a:bodyPr/>
                    <a:lstStyle/>
                    <a:p>
                      <a:r>
                        <a:rPr lang="en-US" dirty="0"/>
                        <a:t>Context Length</a:t>
                      </a:r>
                    </a:p>
                  </a:txBody>
                  <a:tcPr/>
                </a:tc>
                <a:tc>
                  <a:txBody>
                    <a:bodyPr/>
                    <a:lstStyle/>
                    <a:p>
                      <a:r>
                        <a:rPr lang="en-US" dirty="0"/>
                        <a:t>Video Input</a:t>
                      </a:r>
                    </a:p>
                  </a:txBody>
                  <a:tcPr/>
                </a:tc>
                <a:extLst>
                  <a:ext uri="{0D108BD9-81ED-4DB2-BD59-A6C34878D82A}">
                    <a16:rowId xmlns:a16="http://schemas.microsoft.com/office/drawing/2014/main" val="3015753205"/>
                  </a:ext>
                </a:extLst>
              </a:tr>
              <a:tr h="788183">
                <a:tc>
                  <a:txBody>
                    <a:bodyPr/>
                    <a:lstStyle/>
                    <a:p>
                      <a:r>
                        <a:rPr lang="en-US" dirty="0"/>
                        <a:t>GPT-5.4</a:t>
                      </a:r>
                    </a:p>
                  </a:txBody>
                  <a:tcPr/>
                </a:tc>
                <a:tc>
                  <a:txBody>
                    <a:bodyPr/>
                    <a:lstStyle/>
                    <a:p>
                      <a:r>
                        <a:rPr lang="en-US" dirty="0"/>
                        <a:t>OpenAI</a:t>
                      </a:r>
                    </a:p>
                  </a:txBody>
                  <a:tcPr/>
                </a:tc>
                <a:tc>
                  <a:txBody>
                    <a:bodyPr/>
                    <a:lstStyle/>
                    <a:p>
                      <a:r>
                        <a:rPr lang="en-US" dirty="0"/>
                        <a:t>API</a:t>
                      </a:r>
                    </a:p>
                  </a:txBody>
                  <a:tcPr/>
                </a:tc>
                <a:tc>
                  <a:txBody>
                    <a:bodyPr/>
                    <a:lstStyle/>
                    <a:p>
                      <a:r>
                        <a:rPr lang="en-US" dirty="0"/>
                        <a:t>400K Tokens</a:t>
                      </a:r>
                    </a:p>
                  </a:txBody>
                  <a:tcPr/>
                </a:tc>
                <a:tc>
                  <a:txBody>
                    <a:bodyPr/>
                    <a:lstStyle/>
                    <a:p>
                      <a:r>
                        <a:rPr lang="en-US" dirty="0"/>
                        <a:t>Frame Sampling</a:t>
                      </a:r>
                    </a:p>
                  </a:txBody>
                  <a:tcPr/>
                </a:tc>
                <a:extLst>
                  <a:ext uri="{0D108BD9-81ED-4DB2-BD59-A6C34878D82A}">
                    <a16:rowId xmlns:a16="http://schemas.microsoft.com/office/drawing/2014/main" val="2105472780"/>
                  </a:ext>
                </a:extLst>
              </a:tr>
              <a:tr h="788183">
                <a:tc>
                  <a:txBody>
                    <a:bodyPr/>
                    <a:lstStyle/>
                    <a:p>
                      <a:r>
                        <a:rPr lang="en-US" dirty="0"/>
                        <a:t>Gemini 3.1 Flash</a:t>
                      </a:r>
                    </a:p>
                  </a:txBody>
                  <a:tcPr/>
                </a:tc>
                <a:tc>
                  <a:txBody>
                    <a:bodyPr/>
                    <a:lstStyle/>
                    <a:p>
                      <a:r>
                        <a:rPr lang="en-US" dirty="0"/>
                        <a:t>Google</a:t>
                      </a:r>
                    </a:p>
                  </a:txBody>
                  <a:tcPr/>
                </a:tc>
                <a:tc>
                  <a:txBody>
                    <a:bodyPr/>
                    <a:lstStyle/>
                    <a:p>
                      <a:r>
                        <a:rPr lang="en-US" dirty="0"/>
                        <a:t>API</a:t>
                      </a:r>
                    </a:p>
                  </a:txBody>
                  <a:tcPr/>
                </a:tc>
                <a:tc>
                  <a:txBody>
                    <a:bodyPr/>
                    <a:lstStyle/>
                    <a:p>
                      <a:r>
                        <a:rPr lang="en-US" dirty="0"/>
                        <a:t>Up to 1M Tokens</a:t>
                      </a:r>
                    </a:p>
                  </a:txBody>
                  <a:tcPr/>
                </a:tc>
                <a:tc>
                  <a:txBody>
                    <a:bodyPr/>
                    <a:lstStyle/>
                    <a:p>
                      <a:r>
                        <a:rPr lang="en-US" dirty="0"/>
                        <a:t>Native Video Input</a:t>
                      </a:r>
                    </a:p>
                  </a:txBody>
                  <a:tcPr/>
                </a:tc>
                <a:extLst>
                  <a:ext uri="{0D108BD9-81ED-4DB2-BD59-A6C34878D82A}">
                    <a16:rowId xmlns:a16="http://schemas.microsoft.com/office/drawing/2014/main" val="3657679283"/>
                  </a:ext>
                </a:extLst>
              </a:tr>
              <a:tr h="1028415">
                <a:tc>
                  <a:txBody>
                    <a:bodyPr/>
                    <a:lstStyle/>
                    <a:p>
                      <a:r>
                        <a:rPr lang="en-US" dirty="0"/>
                        <a:t>Qwen3-VL-8B</a:t>
                      </a:r>
                    </a:p>
                  </a:txBody>
                  <a:tcPr/>
                </a:tc>
                <a:tc>
                  <a:txBody>
                    <a:bodyPr/>
                    <a:lstStyle/>
                    <a:p>
                      <a:r>
                        <a:rPr lang="en-US" dirty="0"/>
                        <a:t>Alibaba</a:t>
                      </a:r>
                    </a:p>
                  </a:txBody>
                  <a:tcPr/>
                </a:tc>
                <a:tc>
                  <a:txBody>
                    <a:bodyPr/>
                    <a:lstStyle/>
                    <a:p>
                      <a:r>
                        <a:rPr lang="en-US" dirty="0"/>
                        <a:t>Open-source</a:t>
                      </a:r>
                    </a:p>
                  </a:txBody>
                  <a:tcPr/>
                </a:tc>
                <a:tc>
                  <a:txBody>
                    <a:bodyPr/>
                    <a:lstStyle/>
                    <a:p>
                      <a:r>
                        <a:rPr lang="en-US" dirty="0"/>
                        <a:t>256K Tokens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Existing Frame Sampling </a:t>
                      </a:r>
                      <a:r>
                        <a:rPr lang="en-US" dirty="0" err="1"/>
                        <a:t>Impl</a:t>
                      </a:r>
                      <a:r>
                        <a:rPr lang="en-US" dirty="0"/>
                        <a:t>.</a:t>
                      </a:r>
                    </a:p>
                  </a:txBody>
                  <a:tcPr/>
                </a:tc>
                <a:extLst>
                  <a:ext uri="{0D108BD9-81ED-4DB2-BD59-A6C34878D82A}">
                    <a16:rowId xmlns:a16="http://schemas.microsoft.com/office/drawing/2014/main" val="2721894788"/>
                  </a:ext>
                </a:extLst>
              </a:tr>
              <a:tr h="788183">
                <a:tc>
                  <a:txBody>
                    <a:bodyPr/>
                    <a:lstStyle/>
                    <a:p>
                      <a:r>
                        <a:rPr lang="en-US" dirty="0"/>
                        <a:t>Molmo2-8B</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Allen Institute for AI</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Open-source</a:t>
                      </a:r>
                      <a:endParaRPr lang="en-US" dirty="0"/>
                    </a:p>
                  </a:txBody>
                  <a:tcPr/>
                </a:tc>
                <a:tc>
                  <a:txBody>
                    <a:bodyPr/>
                    <a:lstStyle/>
                    <a:p>
                      <a:r>
                        <a:rPr lang="en-US" dirty="0"/>
                        <a:t>36K Tokens</a:t>
                      </a:r>
                    </a:p>
                  </a:txBody>
                  <a:tcPr/>
                </a:tc>
                <a:tc>
                  <a:txBody>
                    <a:bodyPr/>
                    <a:lstStyle/>
                    <a:p>
                      <a:r>
                        <a:rPr lang="en-US" dirty="0"/>
                        <a:t>Existing Frame Sampling </a:t>
                      </a:r>
                      <a:r>
                        <a:rPr lang="en-US" dirty="0" err="1"/>
                        <a:t>Impl</a:t>
                      </a:r>
                      <a:r>
                        <a:rPr lang="en-US" dirty="0"/>
                        <a:t>.</a:t>
                      </a:r>
                    </a:p>
                  </a:txBody>
                  <a:tcPr/>
                </a:tc>
                <a:extLst>
                  <a:ext uri="{0D108BD9-81ED-4DB2-BD59-A6C34878D82A}">
                    <a16:rowId xmlns:a16="http://schemas.microsoft.com/office/drawing/2014/main" val="167823969"/>
                  </a:ext>
                </a:extLst>
              </a:tr>
            </a:tbl>
          </a:graphicData>
        </a:graphic>
      </p:graphicFrame>
    </p:spTree>
    <p:extLst>
      <p:ext uri="{BB962C8B-B14F-4D97-AF65-F5344CB8AC3E}">
        <p14:creationId xmlns:p14="http://schemas.microsoft.com/office/powerpoint/2010/main" val="1353699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C1667-1099-31BB-FDEA-D177601122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C3888AD-C90C-6D03-C639-17957A0D39C5}"/>
              </a:ext>
            </a:extLst>
          </p:cNvPr>
          <p:cNvSpPr>
            <a:spLocks noGrp="1"/>
          </p:cNvSpPr>
          <p:nvPr>
            <p:ph type="title"/>
          </p:nvPr>
        </p:nvSpPr>
        <p:spPr/>
        <p:txBody>
          <a:bodyPr/>
          <a:lstStyle/>
          <a:p>
            <a:r>
              <a:rPr lang="en-US" dirty="0"/>
              <a:t>Results</a:t>
            </a:r>
          </a:p>
        </p:txBody>
      </p:sp>
      <p:sp>
        <p:nvSpPr>
          <p:cNvPr id="2" name="Slide Number Placeholder 1">
            <a:extLst>
              <a:ext uri="{FF2B5EF4-FFF2-40B4-BE49-F238E27FC236}">
                <a16:creationId xmlns:a16="http://schemas.microsoft.com/office/drawing/2014/main" id="{F83DB0B6-FB16-F0DC-6E38-745356A95062}"/>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29</a:t>
            </a:fld>
            <a:endParaRPr lang="en-US" dirty="0"/>
          </a:p>
        </p:txBody>
      </p:sp>
    </p:spTree>
    <p:extLst>
      <p:ext uri="{BB962C8B-B14F-4D97-AF65-F5344CB8AC3E}">
        <p14:creationId xmlns:p14="http://schemas.microsoft.com/office/powerpoint/2010/main" val="22929690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060AE-356F-3F7A-C641-C0CB8DF68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8A4D29-2B27-9454-AEC5-9AD7E764C51E}"/>
              </a:ext>
            </a:extLst>
          </p:cNvPr>
          <p:cNvSpPr>
            <a:spLocks noGrp="1"/>
          </p:cNvSpPr>
          <p:nvPr>
            <p:ph type="title"/>
          </p:nvPr>
        </p:nvSpPr>
        <p:spPr>
          <a:xfrm>
            <a:off x="612000" y="342900"/>
            <a:ext cx="10059464" cy="640080"/>
          </a:xfrm>
        </p:spPr>
        <p:txBody>
          <a:bodyPr anchor="ctr">
            <a:normAutofit/>
          </a:bodyPr>
          <a:lstStyle/>
          <a:p>
            <a:r>
              <a:rPr lang="en-US" dirty="0"/>
              <a:t>Main Findings</a:t>
            </a:r>
          </a:p>
        </p:txBody>
      </p:sp>
      <p:pic>
        <p:nvPicPr>
          <p:cNvPr id="10" name="Picture 9">
            <a:extLst>
              <a:ext uri="{FF2B5EF4-FFF2-40B4-BE49-F238E27FC236}">
                <a16:creationId xmlns:a16="http://schemas.microsoft.com/office/drawing/2014/main" id="{92F49507-CB8D-FE1D-59BE-90C6361AE5AF}"/>
              </a:ext>
            </a:extLst>
          </p:cNvPr>
          <p:cNvPicPr>
            <a:picLocks noChangeAspect="1"/>
          </p:cNvPicPr>
          <p:nvPr/>
        </p:nvPicPr>
        <p:blipFill>
          <a:blip r:embed="rId3"/>
          <a:srcRect l="1603" r="1607" b="4"/>
          <a:stretch>
            <a:fillRect/>
          </a:stretch>
        </p:blipFill>
        <p:spPr>
          <a:xfrm>
            <a:off x="325821" y="1805619"/>
            <a:ext cx="3887591" cy="3855373"/>
          </a:xfrm>
          <a:prstGeom prst="rect">
            <a:avLst/>
          </a:prstGeom>
          <a:noFill/>
        </p:spPr>
      </p:pic>
      <p:pic>
        <p:nvPicPr>
          <p:cNvPr id="8" name="Picture 7">
            <a:extLst>
              <a:ext uri="{FF2B5EF4-FFF2-40B4-BE49-F238E27FC236}">
                <a16:creationId xmlns:a16="http://schemas.microsoft.com/office/drawing/2014/main" id="{33A866D2-1B93-80EB-17FE-652B2CEA827B}"/>
              </a:ext>
            </a:extLst>
          </p:cNvPr>
          <p:cNvPicPr>
            <a:picLocks noChangeAspect="1"/>
          </p:cNvPicPr>
          <p:nvPr/>
        </p:nvPicPr>
        <p:blipFill>
          <a:blip r:embed="rId4"/>
          <a:srcRect l="-81" r="-1"/>
          <a:stretch>
            <a:fillRect/>
          </a:stretch>
        </p:blipFill>
        <p:spPr>
          <a:xfrm>
            <a:off x="4180489" y="2550725"/>
            <a:ext cx="7956578" cy="2365161"/>
          </a:xfrm>
          <a:prstGeom prst="rect">
            <a:avLst/>
          </a:prstGeom>
          <a:noFill/>
        </p:spPr>
      </p:pic>
      <p:sp>
        <p:nvSpPr>
          <p:cNvPr id="5" name="Slide Number Placeholder 4">
            <a:extLst>
              <a:ext uri="{FF2B5EF4-FFF2-40B4-BE49-F238E27FC236}">
                <a16:creationId xmlns:a16="http://schemas.microsoft.com/office/drawing/2014/main" id="{7D1C4F26-D9B6-B071-F14A-3343AA4A1CA7}"/>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30</a:t>
            </a:fld>
            <a:endParaRPr lang="en-US" sz="1100"/>
          </a:p>
        </p:txBody>
      </p:sp>
    </p:spTree>
    <p:extLst>
      <p:ext uri="{BB962C8B-B14F-4D97-AF65-F5344CB8AC3E}">
        <p14:creationId xmlns:p14="http://schemas.microsoft.com/office/powerpoint/2010/main" val="25032702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3160F5-9E74-7A93-D362-CFC25D0B21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0EE598-7E49-6678-6117-6B5FD735B701}"/>
              </a:ext>
            </a:extLst>
          </p:cNvPr>
          <p:cNvSpPr>
            <a:spLocks noGrp="1"/>
          </p:cNvSpPr>
          <p:nvPr>
            <p:ph type="title"/>
          </p:nvPr>
        </p:nvSpPr>
        <p:spPr>
          <a:xfrm>
            <a:off x="609600" y="342900"/>
            <a:ext cx="10061864" cy="640080"/>
          </a:xfrm>
        </p:spPr>
        <p:txBody>
          <a:bodyPr vert="horz" lIns="91440" tIns="45720" rIns="91440" bIns="45720" rtlCol="0" anchor="ctr">
            <a:normAutofit/>
          </a:bodyPr>
          <a:lstStyle/>
          <a:p>
            <a:r>
              <a:rPr lang="en-US" b="1" kern="1200" cap="none" spc="0" baseline="0">
                <a:latin typeface="+mj-lt"/>
                <a:ea typeface="+mj-ea"/>
                <a:cs typeface="+mj-cs"/>
              </a:rPr>
              <a:t>The Grounding Gap</a:t>
            </a:r>
          </a:p>
        </p:txBody>
      </p:sp>
      <p:sp>
        <p:nvSpPr>
          <p:cNvPr id="3" name="TextBox 2">
            <a:extLst>
              <a:ext uri="{FF2B5EF4-FFF2-40B4-BE49-F238E27FC236}">
                <a16:creationId xmlns:a16="http://schemas.microsoft.com/office/drawing/2014/main" id="{24829F67-34A3-D255-B34A-991F470F9FDA}"/>
              </a:ext>
            </a:extLst>
          </p:cNvPr>
          <p:cNvSpPr txBox="1"/>
          <p:nvPr/>
        </p:nvSpPr>
        <p:spPr>
          <a:xfrm>
            <a:off x="609600" y="1810319"/>
            <a:ext cx="5281061" cy="4001902"/>
          </a:xfrm>
          <a:prstGeom prst="rect">
            <a:avLst/>
          </a:prstGeom>
        </p:spPr>
        <p:txBody>
          <a:bodyPr vert="horz" lIns="91440" tIns="45720" rIns="91440" bIns="45720" rtlCol="0">
            <a:normAutofit/>
          </a:bodyPr>
          <a:lstStyle/>
          <a:p>
            <a:pPr marL="233363" indent="-233363">
              <a:lnSpc>
                <a:spcPct val="90000"/>
              </a:lnSpc>
              <a:spcBef>
                <a:spcPts val="1000"/>
              </a:spcBef>
              <a:buClr>
                <a:schemeClr val="accent1"/>
              </a:buClr>
              <a:buFont typeface="Arial" panose="020B0604020202020204" pitchFamily="34" charset="0"/>
              <a:buChar char="•"/>
            </a:pPr>
            <a:r>
              <a:rPr lang="en-US" sz="1500" b="1" dirty="0"/>
              <a:t>Greatest Gap is with GPT-5.4</a:t>
            </a:r>
            <a:r>
              <a:rPr lang="en-US" sz="1500" dirty="0"/>
              <a:t>: </a:t>
            </a:r>
            <a:r>
              <a:rPr lang="en-US" sz="1500" u="sng" dirty="0"/>
              <a:t>49.6% QA Acc vs. 3.3% </a:t>
            </a:r>
            <a:r>
              <a:rPr lang="en-US" sz="1500" u="sng" dirty="0" err="1"/>
              <a:t>mIoU</a:t>
            </a:r>
            <a:endParaRPr lang="en-US" sz="1500" u="sng" dirty="0"/>
          </a:p>
          <a:p>
            <a:pPr marL="233363" indent="-233363">
              <a:lnSpc>
                <a:spcPct val="90000"/>
              </a:lnSpc>
              <a:spcBef>
                <a:spcPts val="1000"/>
              </a:spcBef>
              <a:buClr>
                <a:schemeClr val="accent1"/>
              </a:buClr>
              <a:buFont typeface="Arial" panose="020B0604020202020204" pitchFamily="34" charset="0"/>
              <a:buChar char="•"/>
            </a:pPr>
            <a:r>
              <a:rPr lang="en-US" sz="1500" dirty="0"/>
              <a:t>Molmo2 and GPT-5.4 </a:t>
            </a:r>
            <a:r>
              <a:rPr lang="en-US" sz="1500" b="1" dirty="0"/>
              <a:t>exceed 80% QA Acc on Narrative Understanding </a:t>
            </a:r>
            <a:r>
              <a:rPr lang="en-US" sz="1500" dirty="0"/>
              <a:t>questions, but both remain </a:t>
            </a:r>
            <a:r>
              <a:rPr lang="en-US" sz="1500" b="1" dirty="0"/>
              <a:t>below 11% </a:t>
            </a:r>
            <a:r>
              <a:rPr lang="en-US" sz="1500" b="1" dirty="0" err="1"/>
              <a:t>mIoU</a:t>
            </a:r>
            <a:endParaRPr lang="en-US" sz="1500" b="1" dirty="0"/>
          </a:p>
          <a:p>
            <a:pPr marL="233363" indent="-233363">
              <a:lnSpc>
                <a:spcPct val="90000"/>
              </a:lnSpc>
              <a:spcBef>
                <a:spcPts val="1000"/>
              </a:spcBef>
              <a:buClr>
                <a:schemeClr val="accent1"/>
              </a:buClr>
              <a:buFont typeface="Arial" panose="020B0604020202020204" pitchFamily="34" charset="0"/>
              <a:buChar char="•"/>
            </a:pPr>
            <a:r>
              <a:rPr lang="en-US" sz="1500" dirty="0"/>
              <a:t>These scores indicate that models may be </a:t>
            </a:r>
            <a:r>
              <a:rPr lang="en-US" sz="1500" b="1" dirty="0"/>
              <a:t>exploiting linguistic plausibility, common-sense elimination, and narrative coherence</a:t>
            </a:r>
            <a:r>
              <a:rPr lang="en-US" sz="1500" dirty="0"/>
              <a:t> rather than temporal evidence to answer questions</a:t>
            </a:r>
          </a:p>
          <a:p>
            <a:pPr marL="233363" lvl="1" indent="-233363">
              <a:lnSpc>
                <a:spcPct val="90000"/>
              </a:lnSpc>
              <a:spcBef>
                <a:spcPts val="1000"/>
              </a:spcBef>
              <a:buClr>
                <a:schemeClr val="accent1"/>
              </a:buClr>
              <a:buFont typeface="Arial" panose="020B0604020202020204" pitchFamily="34" charset="0"/>
              <a:buChar char="•"/>
            </a:pPr>
            <a:r>
              <a:rPr lang="en-US" sz="1500" dirty="0"/>
              <a:t>Gap in performance is </a:t>
            </a:r>
            <a:r>
              <a:rPr lang="en-US" sz="1500" b="1" dirty="0"/>
              <a:t>difficult to attribute to dataset artifacts </a:t>
            </a:r>
            <a:r>
              <a:rPr lang="en-US" sz="1500" dirty="0"/>
              <a:t>due to </a:t>
            </a:r>
            <a:r>
              <a:rPr lang="en-US" sz="1500" dirty="0" err="1"/>
              <a:t>ChronoQA’s</a:t>
            </a:r>
            <a:r>
              <a:rPr lang="en-US" sz="1500" dirty="0"/>
              <a:t> blind filtering controls</a:t>
            </a:r>
          </a:p>
          <a:p>
            <a:pPr marL="233363" indent="-233363">
              <a:lnSpc>
                <a:spcPct val="90000"/>
              </a:lnSpc>
              <a:spcBef>
                <a:spcPts val="1000"/>
              </a:spcBef>
              <a:buClr>
                <a:schemeClr val="accent1"/>
              </a:buClr>
              <a:buFont typeface="Arial" panose="020B0604020202020204" pitchFamily="34" charset="0"/>
              <a:buChar char="•"/>
            </a:pPr>
            <a:r>
              <a:rPr lang="en-US" sz="1500" b="1" dirty="0"/>
              <a:t>Temporal Ordering</a:t>
            </a:r>
            <a:r>
              <a:rPr lang="en-US" sz="1500" dirty="0"/>
              <a:t>: All models fall below </a:t>
            </a:r>
            <a:r>
              <a:rPr lang="en-US" sz="1500" u="sng" dirty="0"/>
              <a:t>34% QA Acc and 2.4% </a:t>
            </a:r>
            <a:r>
              <a:rPr lang="en-US" sz="1500" u="sng" dirty="0" err="1"/>
              <a:t>mIoU</a:t>
            </a:r>
            <a:r>
              <a:rPr lang="en-US" sz="1500" dirty="0"/>
              <a:t>, suggesting that </a:t>
            </a:r>
            <a:r>
              <a:rPr lang="en-US" sz="1500" b="1" dirty="0"/>
              <a:t>understanding the sequential structure</a:t>
            </a:r>
            <a:r>
              <a:rPr lang="en-US" sz="1500" dirty="0"/>
              <a:t> of events within a video </a:t>
            </a:r>
            <a:r>
              <a:rPr lang="en-US" sz="1500" b="1" dirty="0"/>
              <a:t>remains an open problem for all evaluated model architectures</a:t>
            </a:r>
          </a:p>
          <a:p>
            <a:pPr marL="233363" indent="-233363">
              <a:lnSpc>
                <a:spcPct val="90000"/>
              </a:lnSpc>
              <a:spcBef>
                <a:spcPts val="1000"/>
              </a:spcBef>
              <a:buClr>
                <a:schemeClr val="accent1"/>
              </a:buClr>
              <a:buFont typeface="Arial" panose="020B0604020202020204" pitchFamily="34" charset="0"/>
              <a:buChar char="•"/>
            </a:pPr>
            <a:endParaRPr lang="en-US" sz="1500" dirty="0"/>
          </a:p>
        </p:txBody>
      </p:sp>
      <p:pic>
        <p:nvPicPr>
          <p:cNvPr id="7" name="Picture 6">
            <a:extLst>
              <a:ext uri="{FF2B5EF4-FFF2-40B4-BE49-F238E27FC236}">
                <a16:creationId xmlns:a16="http://schemas.microsoft.com/office/drawing/2014/main" id="{B476EDAB-50F5-4E81-26F8-62069D58B880}"/>
              </a:ext>
            </a:extLst>
          </p:cNvPr>
          <p:cNvPicPr>
            <a:picLocks noChangeAspect="1"/>
          </p:cNvPicPr>
          <p:nvPr/>
        </p:nvPicPr>
        <p:blipFill>
          <a:blip r:embed="rId3"/>
          <a:stretch>
            <a:fillRect/>
          </a:stretch>
        </p:blipFill>
        <p:spPr>
          <a:xfrm>
            <a:off x="6301339" y="2325972"/>
            <a:ext cx="5281061" cy="2970596"/>
          </a:xfrm>
          <a:prstGeom prst="rect">
            <a:avLst/>
          </a:prstGeom>
          <a:noFill/>
        </p:spPr>
      </p:pic>
      <p:sp>
        <p:nvSpPr>
          <p:cNvPr id="5" name="Slide Number Placeholder 4">
            <a:extLst>
              <a:ext uri="{FF2B5EF4-FFF2-40B4-BE49-F238E27FC236}">
                <a16:creationId xmlns:a16="http://schemas.microsoft.com/office/drawing/2014/main" id="{94966469-120F-3776-4289-3ADC8D549E22}"/>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vert="horz" lIns="91440" tIns="45720" rIns="91440" bIns="45720" rtlCol="0" anchor="ctr">
            <a:normAutofit/>
          </a:bodyPr>
          <a:lstStyle/>
          <a:p>
            <a:pPr>
              <a:lnSpc>
                <a:spcPct val="90000"/>
              </a:lnSpc>
              <a:spcAft>
                <a:spcPts val="600"/>
              </a:spcAft>
            </a:pPr>
            <a:fld id="{6D6E361B-DFCA-824D-BA63-ADCED3B41986}" type="slidenum">
              <a:rPr lang="en-US" sz="1100" smtClean="0"/>
              <a:pPr>
                <a:lnSpc>
                  <a:spcPct val="90000"/>
                </a:lnSpc>
                <a:spcAft>
                  <a:spcPts val="600"/>
                </a:spcAft>
              </a:pPr>
              <a:t>31</a:t>
            </a:fld>
            <a:endParaRPr lang="en-US" sz="1100"/>
          </a:p>
        </p:txBody>
      </p:sp>
    </p:spTree>
    <p:extLst>
      <p:ext uri="{BB962C8B-B14F-4D97-AF65-F5344CB8AC3E}">
        <p14:creationId xmlns:p14="http://schemas.microsoft.com/office/powerpoint/2010/main" val="3105161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F6E26-26A8-2028-BEC4-AE5624D343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4BA697-66D8-F90B-17C1-54A855C054F0}"/>
              </a:ext>
            </a:extLst>
          </p:cNvPr>
          <p:cNvSpPr>
            <a:spLocks noGrp="1"/>
          </p:cNvSpPr>
          <p:nvPr>
            <p:ph type="title"/>
          </p:nvPr>
        </p:nvSpPr>
        <p:spPr>
          <a:xfrm>
            <a:off x="609600" y="342900"/>
            <a:ext cx="10061864" cy="640080"/>
          </a:xfrm>
        </p:spPr>
        <p:txBody>
          <a:bodyPr anchor="ctr">
            <a:normAutofit/>
          </a:bodyPr>
          <a:lstStyle/>
          <a:p>
            <a:r>
              <a:rPr lang="en-US" dirty="0"/>
              <a:t>Performance by Duration</a:t>
            </a:r>
          </a:p>
        </p:txBody>
      </p:sp>
      <p:sp>
        <p:nvSpPr>
          <p:cNvPr id="5" name="Slide Number Placeholder 4">
            <a:extLst>
              <a:ext uri="{FF2B5EF4-FFF2-40B4-BE49-F238E27FC236}">
                <a16:creationId xmlns:a16="http://schemas.microsoft.com/office/drawing/2014/main" id="{2B587DC4-2FAB-6257-26B7-AB3E07A24F13}"/>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32</a:t>
            </a:fld>
            <a:endParaRPr lang="en-US" sz="1100"/>
          </a:p>
        </p:txBody>
      </p:sp>
      <p:pic>
        <p:nvPicPr>
          <p:cNvPr id="17" name="Picture 16">
            <a:extLst>
              <a:ext uri="{FF2B5EF4-FFF2-40B4-BE49-F238E27FC236}">
                <a16:creationId xmlns:a16="http://schemas.microsoft.com/office/drawing/2014/main" id="{009A9332-D723-D101-B52E-2B377FF000A0}"/>
              </a:ext>
            </a:extLst>
          </p:cNvPr>
          <p:cNvPicPr>
            <a:picLocks noChangeAspect="1"/>
          </p:cNvPicPr>
          <p:nvPr/>
        </p:nvPicPr>
        <p:blipFill>
          <a:blip r:embed="rId3"/>
          <a:stretch>
            <a:fillRect/>
          </a:stretch>
        </p:blipFill>
        <p:spPr>
          <a:xfrm>
            <a:off x="311787" y="1760714"/>
            <a:ext cx="7772400" cy="3849880"/>
          </a:xfrm>
          <a:prstGeom prst="rect">
            <a:avLst/>
          </a:prstGeom>
        </p:spPr>
      </p:pic>
      <p:pic>
        <p:nvPicPr>
          <p:cNvPr id="7" name="Picture 6">
            <a:extLst>
              <a:ext uri="{FF2B5EF4-FFF2-40B4-BE49-F238E27FC236}">
                <a16:creationId xmlns:a16="http://schemas.microsoft.com/office/drawing/2014/main" id="{F8DF5C80-8026-D73C-EE91-2B1327805AD7}"/>
              </a:ext>
            </a:extLst>
          </p:cNvPr>
          <p:cNvPicPr>
            <a:picLocks noChangeAspect="1"/>
          </p:cNvPicPr>
          <p:nvPr/>
        </p:nvPicPr>
        <p:blipFill>
          <a:blip r:embed="rId4"/>
          <a:stretch>
            <a:fillRect/>
          </a:stretch>
        </p:blipFill>
        <p:spPr>
          <a:xfrm>
            <a:off x="6826857" y="3046991"/>
            <a:ext cx="5281061" cy="1465493"/>
          </a:xfrm>
          <a:prstGeom prst="rect">
            <a:avLst/>
          </a:prstGeom>
          <a:noFill/>
        </p:spPr>
      </p:pic>
    </p:spTree>
    <p:extLst>
      <p:ext uri="{BB962C8B-B14F-4D97-AF65-F5344CB8AC3E}">
        <p14:creationId xmlns:p14="http://schemas.microsoft.com/office/powerpoint/2010/main" val="15044323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9152C-EF00-A5B2-D37A-EDBB4EE75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4E556-8208-9294-D27E-A935D80D0A49}"/>
              </a:ext>
            </a:extLst>
          </p:cNvPr>
          <p:cNvSpPr>
            <a:spLocks noGrp="1"/>
          </p:cNvSpPr>
          <p:nvPr>
            <p:ph type="title"/>
          </p:nvPr>
        </p:nvSpPr>
        <p:spPr>
          <a:xfrm>
            <a:off x="609600" y="342900"/>
            <a:ext cx="10061864" cy="640080"/>
          </a:xfrm>
        </p:spPr>
        <p:txBody>
          <a:bodyPr anchor="ctr">
            <a:normAutofit/>
          </a:bodyPr>
          <a:lstStyle/>
          <a:p>
            <a:r>
              <a:rPr lang="en-US" dirty="0"/>
              <a:t>Error Taxonomy</a:t>
            </a:r>
          </a:p>
        </p:txBody>
      </p:sp>
      <p:sp>
        <p:nvSpPr>
          <p:cNvPr id="5" name="Slide Number Placeholder 4">
            <a:extLst>
              <a:ext uri="{FF2B5EF4-FFF2-40B4-BE49-F238E27FC236}">
                <a16:creationId xmlns:a16="http://schemas.microsoft.com/office/drawing/2014/main" id="{A16FB7DA-6AF5-BC6B-66C7-A2BF64CE4910}"/>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33</a:t>
            </a:fld>
            <a:endParaRPr lang="en-US" sz="1100"/>
          </a:p>
        </p:txBody>
      </p:sp>
      <p:sp>
        <p:nvSpPr>
          <p:cNvPr id="3" name="Content Placeholder 2">
            <a:extLst>
              <a:ext uri="{FF2B5EF4-FFF2-40B4-BE49-F238E27FC236}">
                <a16:creationId xmlns:a16="http://schemas.microsoft.com/office/drawing/2014/main" id="{4B01D81C-E6A3-814E-2B60-F7003A453354}"/>
              </a:ext>
            </a:extLst>
          </p:cNvPr>
          <p:cNvSpPr>
            <a:spLocks noGrp="1"/>
          </p:cNvSpPr>
          <p:nvPr>
            <p:ph sz="quarter" idx="11"/>
          </p:nvPr>
        </p:nvSpPr>
        <p:spPr>
          <a:xfrm>
            <a:off x="609601" y="1810319"/>
            <a:ext cx="10868660" cy="4100330"/>
          </a:xfrm>
        </p:spPr>
        <p:txBody>
          <a:bodyPr anchor="t">
            <a:normAutofit fontScale="92500" lnSpcReduction="20000"/>
          </a:bodyPr>
          <a:lstStyle/>
          <a:p>
            <a:r>
              <a:rPr lang="en-US" b="1" dirty="0"/>
              <a:t>Temporal Displacement: </a:t>
            </a:r>
            <a:r>
              <a:rPr lang="en-US" dirty="0"/>
              <a:t>Correct event identified, attributed to incorrect segment </a:t>
            </a:r>
          </a:p>
          <a:p>
            <a:pPr lvl="1"/>
            <a:r>
              <a:rPr lang="en-US" dirty="0"/>
              <a:t>Prevalent in NIAH and Ordering Tasks</a:t>
            </a:r>
          </a:p>
          <a:p>
            <a:pPr lvl="1"/>
            <a:r>
              <a:rPr lang="en-US" dirty="0"/>
              <a:t>Correlated with Sparse Frame Sampling</a:t>
            </a:r>
          </a:p>
          <a:p>
            <a:r>
              <a:rPr lang="en-US" b="1" dirty="0"/>
              <a:t>Plausibility Substitution:</a:t>
            </a:r>
            <a:r>
              <a:rPr lang="en-US" dirty="0"/>
              <a:t> Semantically coherent, contextually reasonable answer selected without video grounding</a:t>
            </a:r>
          </a:p>
          <a:p>
            <a:pPr lvl="1"/>
            <a:r>
              <a:rPr lang="en-US" dirty="0"/>
              <a:t>Dominant in Causal Reasoning tasks</a:t>
            </a:r>
          </a:p>
          <a:p>
            <a:pPr lvl="1"/>
            <a:r>
              <a:rPr lang="en-US" dirty="0"/>
              <a:t>Suggests reliance on world-knowledge priors over temporal observation</a:t>
            </a:r>
          </a:p>
          <a:p>
            <a:r>
              <a:rPr lang="en-US" b="1" dirty="0"/>
              <a:t>Boundary Imprecision:</a:t>
            </a:r>
            <a:r>
              <a:rPr lang="en-US" dirty="0"/>
              <a:t> Correct temporal region identified but interval predictions are too broad</a:t>
            </a:r>
          </a:p>
          <a:p>
            <a:pPr lvl="1"/>
            <a:r>
              <a:rPr lang="en-US" dirty="0"/>
              <a:t>Manifests as a steep Recall drop-off between @0.1 and @0.5 thresholds</a:t>
            </a:r>
          </a:p>
          <a:p>
            <a:pPr lvl="1"/>
            <a:r>
              <a:rPr lang="en-US" dirty="0"/>
              <a:t>Molmo2 least affected, suggesting tighter interval estimation from training</a:t>
            </a:r>
          </a:p>
        </p:txBody>
      </p:sp>
    </p:spTree>
    <p:extLst>
      <p:ext uri="{BB962C8B-B14F-4D97-AF65-F5344CB8AC3E}">
        <p14:creationId xmlns:p14="http://schemas.microsoft.com/office/powerpoint/2010/main" val="8039038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359ED-C6A8-3CC9-F718-183838AF9B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80CC9D-1B6F-72FF-A9FF-D10257311F0B}"/>
              </a:ext>
            </a:extLst>
          </p:cNvPr>
          <p:cNvSpPr>
            <a:spLocks noGrp="1"/>
          </p:cNvSpPr>
          <p:nvPr>
            <p:ph type="title"/>
          </p:nvPr>
        </p:nvSpPr>
        <p:spPr>
          <a:xfrm>
            <a:off x="609600" y="342900"/>
            <a:ext cx="10061864" cy="640080"/>
          </a:xfrm>
        </p:spPr>
        <p:txBody>
          <a:bodyPr anchor="ctr">
            <a:normAutofit/>
          </a:bodyPr>
          <a:lstStyle/>
          <a:p>
            <a:r>
              <a:rPr lang="en-US" dirty="0"/>
              <a:t>Implications &amp; Future Work</a:t>
            </a:r>
          </a:p>
        </p:txBody>
      </p:sp>
      <p:sp>
        <p:nvSpPr>
          <p:cNvPr id="5" name="Slide Number Placeholder 4">
            <a:extLst>
              <a:ext uri="{FF2B5EF4-FFF2-40B4-BE49-F238E27FC236}">
                <a16:creationId xmlns:a16="http://schemas.microsoft.com/office/drawing/2014/main" id="{4D7B4E77-B7C1-54A6-EDCA-099C0FDFDDEA}"/>
              </a:ext>
              <a:ext uri="{C183D7F6-B498-43B3-948B-1728B52AA6E4}">
                <adec:decorative xmlns:adec="http://schemas.microsoft.com/office/drawing/2017/decorative" val="1"/>
              </a:ext>
            </a:extLst>
          </p:cNvPr>
          <p:cNvSpPr>
            <a:spLocks noGrp="1"/>
          </p:cNvSpPr>
          <p:nvPr>
            <p:ph type="sldNum" sz="quarter" idx="10"/>
          </p:nvPr>
        </p:nvSpPr>
        <p:spPr>
          <a:xfrm>
            <a:off x="8981185" y="6388328"/>
            <a:ext cx="2707895" cy="246221"/>
          </a:xfrm>
        </p:spPr>
        <p:txBody>
          <a:bodyPr anchor="ctr">
            <a:normAutofit/>
          </a:bodyPr>
          <a:lstStyle/>
          <a:p>
            <a:pPr>
              <a:lnSpc>
                <a:spcPct val="90000"/>
              </a:lnSpc>
              <a:spcAft>
                <a:spcPts val="600"/>
              </a:spcAft>
            </a:pPr>
            <a:fld id="{6D6E361B-DFCA-824D-BA63-ADCED3B41986}" type="slidenum">
              <a:rPr lang="en-US" sz="1100" smtClean="0"/>
              <a:pPr>
                <a:lnSpc>
                  <a:spcPct val="90000"/>
                </a:lnSpc>
                <a:spcAft>
                  <a:spcPts val="600"/>
                </a:spcAft>
              </a:pPr>
              <a:t>34</a:t>
            </a:fld>
            <a:endParaRPr lang="en-US" sz="1100"/>
          </a:p>
        </p:txBody>
      </p:sp>
      <p:sp>
        <p:nvSpPr>
          <p:cNvPr id="3" name="Content Placeholder 2">
            <a:extLst>
              <a:ext uri="{FF2B5EF4-FFF2-40B4-BE49-F238E27FC236}">
                <a16:creationId xmlns:a16="http://schemas.microsoft.com/office/drawing/2014/main" id="{682A49F4-C3FE-5B61-B915-66B5A2A5DE35}"/>
              </a:ext>
            </a:extLst>
          </p:cNvPr>
          <p:cNvSpPr>
            <a:spLocks noGrp="1"/>
          </p:cNvSpPr>
          <p:nvPr>
            <p:ph sz="quarter" idx="11"/>
          </p:nvPr>
        </p:nvSpPr>
        <p:spPr>
          <a:xfrm>
            <a:off x="609601" y="1810319"/>
            <a:ext cx="10868660" cy="4100330"/>
          </a:xfrm>
        </p:spPr>
        <p:txBody>
          <a:bodyPr anchor="t">
            <a:normAutofit fontScale="92500"/>
          </a:bodyPr>
          <a:lstStyle/>
          <a:p>
            <a:r>
              <a:rPr lang="en-US" b="1" dirty="0"/>
              <a:t>Training Objectives</a:t>
            </a:r>
            <a:r>
              <a:rPr lang="en-US" dirty="0"/>
              <a:t>: Temporal grounding must be treated as a first-class criterion, not a secondary annotation models require explicit reward signals for precise interval prediction</a:t>
            </a:r>
          </a:p>
          <a:p>
            <a:r>
              <a:rPr lang="en-US" b="1" dirty="0"/>
              <a:t>Architectural design</a:t>
            </a:r>
            <a:r>
              <a:rPr lang="en-US" dirty="0"/>
              <a:t>: Frame-sampled models are structurally ill-suited for dense temporal tasks, continuous or high-density video representations warrant investigation</a:t>
            </a:r>
          </a:p>
          <a:p>
            <a:r>
              <a:rPr lang="en-US" b="1" dirty="0"/>
              <a:t>Benchmark extensions</a:t>
            </a:r>
            <a:r>
              <a:rPr lang="en-US" dirty="0"/>
              <a:t>: Multi-annotator human baseline collection &amp; expansion of evaluated models as the VLM landscape evolves</a:t>
            </a:r>
          </a:p>
          <a:p>
            <a:r>
              <a:rPr lang="en-US" b="1" dirty="0"/>
              <a:t>Causal grounding</a:t>
            </a:r>
            <a:r>
              <a:rPr lang="en-US" dirty="0"/>
              <a:t>: Connecting causal inference to verifiable temporal evidence remains an open research problem</a:t>
            </a:r>
          </a:p>
        </p:txBody>
      </p:sp>
    </p:spTree>
    <p:extLst>
      <p:ext uri="{BB962C8B-B14F-4D97-AF65-F5344CB8AC3E}">
        <p14:creationId xmlns:p14="http://schemas.microsoft.com/office/powerpoint/2010/main" val="24244497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FF018-5E61-8839-F1E6-4DBBBE0F4E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666EA0-5289-8BBF-CDED-A8ADD3E99E9E}"/>
              </a:ext>
            </a:extLst>
          </p:cNvPr>
          <p:cNvSpPr>
            <a:spLocks noGrp="1"/>
          </p:cNvSpPr>
          <p:nvPr>
            <p:ph type="title"/>
          </p:nvPr>
        </p:nvSpPr>
        <p:spPr/>
        <p:txBody>
          <a:bodyPr/>
          <a:lstStyle/>
          <a:p>
            <a:r>
              <a:rPr lang="en-US" dirty="0"/>
              <a:t>Concluding Remarks</a:t>
            </a:r>
          </a:p>
        </p:txBody>
      </p:sp>
      <p:sp>
        <p:nvSpPr>
          <p:cNvPr id="3" name="Slide Number Placeholder 2">
            <a:extLst>
              <a:ext uri="{FF2B5EF4-FFF2-40B4-BE49-F238E27FC236}">
                <a16:creationId xmlns:a16="http://schemas.microsoft.com/office/drawing/2014/main" id="{D04A630D-1996-9574-9017-EF456A0AFCF6}"/>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35</a:t>
            </a:fld>
            <a:endParaRPr lang="en-US" dirty="0"/>
          </a:p>
        </p:txBody>
      </p:sp>
    </p:spTree>
    <p:extLst>
      <p:ext uri="{BB962C8B-B14F-4D97-AF65-F5344CB8AC3E}">
        <p14:creationId xmlns:p14="http://schemas.microsoft.com/office/powerpoint/2010/main" val="35922333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E3E4E9-A8C9-1EF6-466B-0D02F9A625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58C08F-9BF4-41F6-8C03-912F45BF9CA6}"/>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B5CB56DD-2137-71D8-863A-4040F7526AE9}"/>
              </a:ext>
            </a:extLst>
          </p:cNvPr>
          <p:cNvSpPr>
            <a:spLocks noGrp="1"/>
          </p:cNvSpPr>
          <p:nvPr>
            <p:ph sz="quarter" idx="11"/>
          </p:nvPr>
        </p:nvSpPr>
        <p:spPr/>
        <p:txBody>
          <a:bodyPr>
            <a:normAutofit fontScale="92500" lnSpcReduction="10000"/>
          </a:bodyPr>
          <a:lstStyle/>
          <a:p>
            <a:r>
              <a:rPr lang="en-US" dirty="0" err="1"/>
              <a:t>ChronoQA</a:t>
            </a:r>
            <a:r>
              <a:rPr lang="en-US" dirty="0"/>
              <a:t> establishes a principled, dual-metric framework for evaluating temporal reasoning and grounding in long-form video</a:t>
            </a:r>
          </a:p>
          <a:p>
            <a:r>
              <a:rPr lang="en-US" dirty="0"/>
              <a:t>The persistent grounding gap across all evaluated architectures, including frontier proprietary models, demonstrates that </a:t>
            </a:r>
            <a:r>
              <a:rPr lang="en-US" b="1" dirty="0"/>
              <a:t>high answer accuracy cannot be taken as evidence of temporal understanding</a:t>
            </a:r>
          </a:p>
          <a:p>
            <a:r>
              <a:rPr lang="en-US" dirty="0"/>
              <a:t>The open-source </a:t>
            </a:r>
            <a:r>
              <a:rPr lang="en-US" b="1" dirty="0"/>
              <a:t>Molmo2 outperforms larger proprietary systems on both metrics</a:t>
            </a:r>
            <a:r>
              <a:rPr lang="en-US" dirty="0"/>
              <a:t>, underscoring the primacy of video-native architectural design over parameter scale</a:t>
            </a:r>
          </a:p>
        </p:txBody>
      </p:sp>
      <p:sp>
        <p:nvSpPr>
          <p:cNvPr id="4" name="Slide Number Placeholder 3">
            <a:extLst>
              <a:ext uri="{FF2B5EF4-FFF2-40B4-BE49-F238E27FC236}">
                <a16:creationId xmlns:a16="http://schemas.microsoft.com/office/drawing/2014/main" id="{1FEF599A-ABA9-CECA-B001-4CF280AD1164}"/>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36</a:t>
            </a:fld>
            <a:endParaRPr lang="en-US" dirty="0"/>
          </a:p>
        </p:txBody>
      </p:sp>
    </p:spTree>
    <p:extLst>
      <p:ext uri="{BB962C8B-B14F-4D97-AF65-F5344CB8AC3E}">
        <p14:creationId xmlns:p14="http://schemas.microsoft.com/office/powerpoint/2010/main" val="35308407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FAEBC-40E8-D7C1-9444-298528E8BA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88E1A2-8DE4-62BC-DFEF-9B5101180447}"/>
              </a:ext>
            </a:extLst>
          </p:cNvPr>
          <p:cNvSpPr>
            <a:spLocks noGrp="1"/>
          </p:cNvSpPr>
          <p:nvPr>
            <p:ph type="title"/>
          </p:nvPr>
        </p:nvSpPr>
        <p:spPr/>
        <p:txBody>
          <a:bodyPr/>
          <a:lstStyle/>
          <a:p>
            <a:r>
              <a:rPr lang="en-US" dirty="0"/>
              <a:t>Acknowledgements</a:t>
            </a:r>
          </a:p>
        </p:txBody>
      </p:sp>
      <p:sp>
        <p:nvSpPr>
          <p:cNvPr id="3" name="Content Placeholder 2">
            <a:extLst>
              <a:ext uri="{FF2B5EF4-FFF2-40B4-BE49-F238E27FC236}">
                <a16:creationId xmlns:a16="http://schemas.microsoft.com/office/drawing/2014/main" id="{9A7A13DA-5740-D1C1-318F-EE0045D69C07}"/>
              </a:ext>
            </a:extLst>
          </p:cNvPr>
          <p:cNvSpPr>
            <a:spLocks noGrp="1"/>
          </p:cNvSpPr>
          <p:nvPr>
            <p:ph sz="quarter" idx="11"/>
          </p:nvPr>
        </p:nvSpPr>
        <p:spPr/>
        <p:txBody>
          <a:bodyPr>
            <a:normAutofit/>
          </a:bodyPr>
          <a:lstStyle/>
          <a:p>
            <a:r>
              <a:rPr lang="en-US" dirty="0"/>
              <a:t>Gratitude to Dr. Gedas Bertasius for Mentorship over the last 3 years</a:t>
            </a:r>
          </a:p>
          <a:p>
            <a:r>
              <a:rPr lang="en-US" dirty="0"/>
              <a:t>Extremely Thankful for Emon Islam, </a:t>
            </a:r>
            <a:r>
              <a:rPr lang="en-US" dirty="0" err="1"/>
              <a:t>Yulu</a:t>
            </a:r>
            <a:r>
              <a:rPr lang="en-US" dirty="0"/>
              <a:t> Pan, Ce Zhang, and the Multimodal Video Perception group here in the Computer Science Department at UNC Chapel Hill</a:t>
            </a:r>
          </a:p>
          <a:p>
            <a:r>
              <a:rPr lang="en-US" dirty="0"/>
              <a:t>Everyone that’s pushed me to keep going, even when things were hard</a:t>
            </a:r>
          </a:p>
        </p:txBody>
      </p:sp>
      <p:sp>
        <p:nvSpPr>
          <p:cNvPr id="4" name="Slide Number Placeholder 3">
            <a:extLst>
              <a:ext uri="{FF2B5EF4-FFF2-40B4-BE49-F238E27FC236}">
                <a16:creationId xmlns:a16="http://schemas.microsoft.com/office/drawing/2014/main" id="{1F0F196E-404F-7200-6CA5-7A9C3B4E0951}"/>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37</a:t>
            </a:fld>
            <a:endParaRPr lang="en-US" dirty="0"/>
          </a:p>
        </p:txBody>
      </p:sp>
    </p:spTree>
    <p:extLst>
      <p:ext uri="{BB962C8B-B14F-4D97-AF65-F5344CB8AC3E}">
        <p14:creationId xmlns:p14="http://schemas.microsoft.com/office/powerpoint/2010/main" val="37110057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FA48B1-2BA0-AC46-4598-B4A93137726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62A7E98-2897-286B-17DD-46552439A3FD}"/>
              </a:ext>
            </a:extLst>
          </p:cNvPr>
          <p:cNvSpPr>
            <a:spLocks noGrp="1"/>
          </p:cNvSpPr>
          <p:nvPr>
            <p:ph type="title"/>
          </p:nvPr>
        </p:nvSpPr>
        <p:spPr/>
        <p:txBody>
          <a:bodyPr/>
          <a:lstStyle/>
          <a:p>
            <a:r>
              <a:rPr lang="en-US" dirty="0"/>
              <a:t>Open to Questions</a:t>
            </a:r>
          </a:p>
        </p:txBody>
      </p:sp>
      <p:sp>
        <p:nvSpPr>
          <p:cNvPr id="2" name="Slide Number Placeholder 1">
            <a:extLst>
              <a:ext uri="{FF2B5EF4-FFF2-40B4-BE49-F238E27FC236}">
                <a16:creationId xmlns:a16="http://schemas.microsoft.com/office/drawing/2014/main" id="{B2B9BFFF-11FB-5E9A-3194-581BF6D016DF}"/>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38</a:t>
            </a:fld>
            <a:endParaRPr lang="en-US" dirty="0"/>
          </a:p>
        </p:txBody>
      </p:sp>
    </p:spTree>
    <p:extLst>
      <p:ext uri="{BB962C8B-B14F-4D97-AF65-F5344CB8AC3E}">
        <p14:creationId xmlns:p14="http://schemas.microsoft.com/office/powerpoint/2010/main" val="415980965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48BC3-BED6-CE4A-FDC8-4BFD643171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812CCD-7232-5F29-5D42-6AE5E88D41C8}"/>
              </a:ext>
            </a:extLst>
          </p:cNvPr>
          <p:cNvSpPr>
            <a:spLocks noGrp="1"/>
          </p:cNvSpPr>
          <p:nvPr>
            <p:ph type="title" idx="4294967295"/>
          </p:nvPr>
        </p:nvSpPr>
        <p:spPr>
          <a:xfrm>
            <a:off x="502919" y="-1043639"/>
            <a:ext cx="11186159" cy="1043639"/>
          </a:xfrm>
        </p:spPr>
        <p:txBody>
          <a:bodyPr/>
          <a:lstStyle/>
          <a:p>
            <a:r>
              <a:rPr lang="en-US" dirty="0"/>
              <a:t>End Slide 2 – Carolina Blue</a:t>
            </a:r>
          </a:p>
        </p:txBody>
      </p:sp>
    </p:spTree>
    <p:extLst>
      <p:ext uri="{BB962C8B-B14F-4D97-AF65-F5344CB8AC3E}">
        <p14:creationId xmlns:p14="http://schemas.microsoft.com/office/powerpoint/2010/main" val="392524862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85526E-9955-AD9F-389A-B34A5E0A21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778971-37FA-26E0-6A7B-C6281FA111D1}"/>
              </a:ext>
            </a:extLst>
          </p:cNvPr>
          <p:cNvSpPr>
            <a:spLocks noGrp="1"/>
          </p:cNvSpPr>
          <p:nvPr>
            <p:ph type="title"/>
          </p:nvPr>
        </p:nvSpPr>
        <p:spPr/>
        <p:txBody>
          <a:bodyPr/>
          <a:lstStyle/>
          <a:p>
            <a:r>
              <a:rPr lang="en-US" dirty="0"/>
              <a:t>MCQ Benchmarks</a:t>
            </a:r>
          </a:p>
        </p:txBody>
      </p:sp>
      <p:sp>
        <p:nvSpPr>
          <p:cNvPr id="3" name="Content Placeholder 2">
            <a:extLst>
              <a:ext uri="{FF2B5EF4-FFF2-40B4-BE49-F238E27FC236}">
                <a16:creationId xmlns:a16="http://schemas.microsoft.com/office/drawing/2014/main" id="{9605A0C3-DAA3-A8D9-833A-8AFFCDF9E868}"/>
              </a:ext>
            </a:extLst>
          </p:cNvPr>
          <p:cNvSpPr>
            <a:spLocks noGrp="1"/>
          </p:cNvSpPr>
          <p:nvPr>
            <p:ph sz="quarter" idx="11"/>
          </p:nvPr>
        </p:nvSpPr>
        <p:spPr/>
        <p:txBody>
          <a:bodyPr>
            <a:normAutofit fontScale="85000" lnSpcReduction="20000"/>
          </a:bodyPr>
          <a:lstStyle/>
          <a:p>
            <a:r>
              <a:rPr lang="en-US" dirty="0"/>
              <a:t>Multiple-choice questions (MCQs) are popular for LLM assessment primarily due to their </a:t>
            </a:r>
            <a:r>
              <a:rPr lang="en-US" b="1" dirty="0"/>
              <a:t>simplicity, efficiency in large-scale evaluation, and ease of automated scoring</a:t>
            </a:r>
            <a:r>
              <a:rPr lang="en-US" dirty="0"/>
              <a:t>. </a:t>
            </a:r>
          </a:p>
          <a:p>
            <a:pPr lvl="1"/>
            <a:r>
              <a:rPr lang="en-US" dirty="0"/>
              <a:t>They allow for quick, objective testing across broad topics, enabling benchmarks to assess knowledge-intensive capabilities at a low cost. </a:t>
            </a:r>
          </a:p>
          <a:p>
            <a:r>
              <a:rPr lang="en-US" b="1" dirty="0"/>
              <a:t>Key Reasons for Using MCQs in LLM Evaluations:</a:t>
            </a:r>
            <a:endParaRPr lang="en-US" dirty="0"/>
          </a:p>
          <a:p>
            <a:pPr lvl="1"/>
            <a:r>
              <a:rPr lang="en-US" b="1" dirty="0"/>
              <a:t>Scalability &amp; Cost:</a:t>
            </a:r>
            <a:r>
              <a:rPr lang="en-US" dirty="0"/>
              <a:t> MCQ evaluation is efficient and often cheaper than generative evaluation, allowing vast, automated testing of models.</a:t>
            </a:r>
          </a:p>
          <a:p>
            <a:pPr lvl="1"/>
            <a:r>
              <a:rPr lang="en-US" b="1" dirty="0"/>
              <a:t>Simple Scoring:</a:t>
            </a:r>
            <a:r>
              <a:rPr lang="en-US" dirty="0"/>
              <a:t> Unlike open-ended responses that require complex evaluation, MCQ results provide clear-cut accuracy metrics based on finding the right answer.</a:t>
            </a:r>
          </a:p>
          <a:p>
            <a:pPr lvl="1"/>
            <a:r>
              <a:rPr lang="en-US" b="1" dirty="0"/>
              <a:t>Benchmark Standardization:</a:t>
            </a:r>
            <a:r>
              <a:rPr lang="en-US" dirty="0"/>
              <a:t> Many prominent, established evaluation datasets are formatted as MCQs. </a:t>
            </a:r>
          </a:p>
        </p:txBody>
      </p:sp>
      <p:sp>
        <p:nvSpPr>
          <p:cNvPr id="5" name="Text Placeholder 8">
            <a:extLst>
              <a:ext uri="{FF2B5EF4-FFF2-40B4-BE49-F238E27FC236}">
                <a16:creationId xmlns:a16="http://schemas.microsoft.com/office/drawing/2014/main" id="{B268D7AF-058D-FF6D-D27D-F22447EF2004}"/>
              </a:ext>
              <a:ext uri="{C183D7F6-B498-43B3-948B-1728B52AA6E4}">
                <adec:decorative xmlns:adec="http://schemas.microsoft.com/office/drawing/2017/decorative" val="1"/>
              </a:ext>
            </a:extLst>
          </p:cNvPr>
          <p:cNvSpPr>
            <a:spLocks noGrp="1"/>
          </p:cNvSpPr>
          <p:nvPr>
            <p:ph type="body" sz="quarter" idx="13"/>
          </p:nvPr>
        </p:nvSpPr>
        <p:spPr>
          <a:xfrm>
            <a:off x="609600" y="6388328"/>
            <a:ext cx="8241505" cy="246221"/>
          </a:xfrm>
        </p:spPr>
        <p:txBody>
          <a:bodyPr>
            <a:normAutofit lnSpcReduction="10000"/>
          </a:bodyPr>
          <a:lstStyle>
            <a:lvl1pPr marL="0" marR="0" indent="0" algn="l" defTabSz="914400" rtl="0" eaLnBrk="1" fontAlgn="auto" latinLnBrk="0" hangingPunct="1">
              <a:lnSpc>
                <a:spcPct val="100000"/>
              </a:lnSpc>
              <a:spcBef>
                <a:spcPts val="0"/>
              </a:spcBef>
              <a:spcAft>
                <a:spcPts val="0"/>
              </a:spcAft>
              <a:buClrTx/>
              <a:buSzTx/>
              <a:buFontTx/>
              <a:buNone/>
              <a:tabLst/>
              <a:defRPr sz="1100"/>
            </a:lvl1pPr>
          </a:lstStyle>
          <a:p>
            <a:pPr algn="l"/>
            <a:r>
              <a:rPr lang="en-US" dirty="0"/>
              <a:t>University, Division or Unit Name Goes Here (or delete)</a:t>
            </a:r>
          </a:p>
        </p:txBody>
      </p:sp>
      <p:sp>
        <p:nvSpPr>
          <p:cNvPr id="4" name="Slide Number Placeholder 3">
            <a:extLst>
              <a:ext uri="{FF2B5EF4-FFF2-40B4-BE49-F238E27FC236}">
                <a16:creationId xmlns:a16="http://schemas.microsoft.com/office/drawing/2014/main" id="{82373DCC-8814-598C-5AEA-9F887AC6B8B0}"/>
              </a:ext>
              <a:ext uri="{C183D7F6-B498-43B3-948B-1728B52AA6E4}">
                <adec:decorative xmlns:adec="http://schemas.microsoft.com/office/drawing/2017/decorative" val="1"/>
              </a:ext>
            </a:extLst>
          </p:cNvPr>
          <p:cNvSpPr>
            <a:spLocks noGrp="1"/>
          </p:cNvSpPr>
          <p:nvPr>
            <p:ph type="sldNum" sz="quarter" idx="10"/>
          </p:nvPr>
        </p:nvSpPr>
        <p:spPr/>
        <p:txBody>
          <a:bodyPr/>
          <a:lstStyle/>
          <a:p>
            <a:fld id="{6D6E361B-DFCA-824D-BA63-ADCED3B41986}" type="slidenum">
              <a:rPr lang="en-US" smtClean="0"/>
              <a:pPr/>
              <a:t>40</a:t>
            </a:fld>
            <a:endParaRPr lang="en-US" dirty="0"/>
          </a:p>
        </p:txBody>
      </p:sp>
    </p:spTree>
    <p:extLst>
      <p:ext uri="{BB962C8B-B14F-4D97-AF65-F5344CB8AC3E}">
        <p14:creationId xmlns:p14="http://schemas.microsoft.com/office/powerpoint/2010/main" val="356908300"/>
      </p:ext>
    </p:extLst>
  </p:cSld>
  <p:clrMapOvr>
    <a:masterClrMapping/>
  </p:clrMapOvr>
</p:sld>
</file>

<file path=ppt/theme/theme1.xml><?xml version="1.0" encoding="utf-8"?>
<a:theme xmlns:a="http://schemas.openxmlformats.org/drawingml/2006/main" name="Custom Design">
  <a:themeElements>
    <a:clrScheme name="UNC 2025">
      <a:dk1>
        <a:srgbClr val="13284B"/>
      </a:dk1>
      <a:lt1>
        <a:srgbClr val="FFFFFF"/>
      </a:lt1>
      <a:dk2>
        <a:srgbClr val="000000"/>
      </a:dk2>
      <a:lt2>
        <a:srgbClr val="DBEBF6"/>
      </a:lt2>
      <a:accent1>
        <a:srgbClr val="4B9CD3"/>
      </a:accent1>
      <a:accent2>
        <a:srgbClr val="13294B"/>
      </a:accent2>
      <a:accent3>
        <a:srgbClr val="B7D7ED"/>
      </a:accent3>
      <a:accent4>
        <a:srgbClr val="93C3E5"/>
      </a:accent4>
      <a:accent5>
        <a:srgbClr val="6FB0DC"/>
      </a:accent5>
      <a:accent6>
        <a:srgbClr val="E5E5E5"/>
      </a:accent6>
      <a:hlink>
        <a:srgbClr val="007FAE"/>
      </a:hlink>
      <a:folHlink>
        <a:srgbClr val="551A8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14150</TotalTime>
  <Words>5738</Words>
  <Application>Microsoft Macintosh PowerPoint</Application>
  <PresentationFormat>Widescreen</PresentationFormat>
  <Paragraphs>413</Paragraphs>
  <Slides>40</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Custom Design</vt:lpstr>
      <vt:lpstr>Benchmarking Temporal Grounding in Long-Form Video via Timestamp-Anchored Multiple-Choice QA Pairs</vt:lpstr>
      <vt:lpstr>The Agenda</vt:lpstr>
      <vt:lpstr>Motivation</vt:lpstr>
      <vt:lpstr>Motivation</vt:lpstr>
      <vt:lpstr>What about Existing Benchmarks?</vt:lpstr>
      <vt:lpstr>What about Existing Benchmarks?</vt:lpstr>
      <vt:lpstr>What about Existing Benchmarks?</vt:lpstr>
      <vt:lpstr>PowerPoint Presentation</vt:lpstr>
      <vt:lpstr>Constructing ChronoQA</vt:lpstr>
      <vt:lpstr>Video Sourcing</vt:lpstr>
      <vt:lpstr>Video Sourcing</vt:lpstr>
      <vt:lpstr>Video Sourcing</vt:lpstr>
      <vt:lpstr>Caption Generation</vt:lpstr>
      <vt:lpstr>Caption Generation</vt:lpstr>
      <vt:lpstr>QA Generation</vt:lpstr>
      <vt:lpstr>QA Generation</vt:lpstr>
      <vt:lpstr>Validation &amp; Cleaning</vt:lpstr>
      <vt:lpstr>Validation &amp; Cleaning</vt:lpstr>
      <vt:lpstr>Timestamp Jitter</vt:lpstr>
      <vt:lpstr>Distractor Synthesis</vt:lpstr>
      <vt:lpstr>Distractor Synthesis</vt:lpstr>
      <vt:lpstr>Blind Filtering</vt:lpstr>
      <vt:lpstr>Task Taxonomy</vt:lpstr>
      <vt:lpstr>ChronoQA</vt:lpstr>
      <vt:lpstr>Model Evaluation</vt:lpstr>
      <vt:lpstr>Evaluation Protocol: Dual-Metric Design</vt:lpstr>
      <vt:lpstr>Evaluation Protocol: Dual-Metric Design</vt:lpstr>
      <vt:lpstr>Evaluated Models</vt:lpstr>
      <vt:lpstr>Results</vt:lpstr>
      <vt:lpstr>Main Findings</vt:lpstr>
      <vt:lpstr>The Grounding Gap</vt:lpstr>
      <vt:lpstr>Performance by Duration</vt:lpstr>
      <vt:lpstr>Error Taxonomy</vt:lpstr>
      <vt:lpstr>Implications &amp; Future Work</vt:lpstr>
      <vt:lpstr>Concluding Remarks</vt:lpstr>
      <vt:lpstr>Conclusion</vt:lpstr>
      <vt:lpstr>Acknowledgements</vt:lpstr>
      <vt:lpstr>Open to Questions</vt:lpstr>
      <vt:lpstr>End Slide 2 – Carolina Blue</vt:lpstr>
      <vt:lpstr>MCQ Benchmarks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Jacobs, Andrew</dc:creator>
  <cp:lastModifiedBy>Oguntola, Oluwatumininu Ayomikun</cp:lastModifiedBy>
  <cp:revision>134</cp:revision>
  <cp:lastPrinted>2026-04-06T21:40:11Z</cp:lastPrinted>
  <dcterms:created xsi:type="dcterms:W3CDTF">2018-12-12T18:27:48Z</dcterms:created>
  <dcterms:modified xsi:type="dcterms:W3CDTF">2026-04-09T20:28:12Z</dcterms:modified>
</cp:coreProperties>
</file>